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318" r:id="rId28"/>
    <p:sldId id="283" r:id="rId29"/>
    <p:sldId id="284" r:id="rId30"/>
    <p:sldId id="317" r:id="rId31"/>
    <p:sldId id="285" r:id="rId32"/>
    <p:sldId id="286" r:id="rId33"/>
    <p:sldId id="287" r:id="rId34"/>
    <p:sldId id="288" r:id="rId35"/>
    <p:sldId id="289" r:id="rId36"/>
    <p:sldId id="290" r:id="rId37"/>
    <p:sldId id="291" r:id="rId38"/>
    <p:sldId id="319" r:id="rId39"/>
    <p:sldId id="292" r:id="rId40"/>
    <p:sldId id="294" r:id="rId41"/>
    <p:sldId id="295" r:id="rId42"/>
    <p:sldId id="296" r:id="rId43"/>
    <p:sldId id="297" r:id="rId44"/>
    <p:sldId id="298" r:id="rId45"/>
    <p:sldId id="316" r:id="rId46"/>
    <p:sldId id="299" r:id="rId47"/>
    <p:sldId id="300" r:id="rId48"/>
    <p:sldId id="301" r:id="rId49"/>
    <p:sldId id="302" r:id="rId50"/>
    <p:sldId id="303" r:id="rId51"/>
    <p:sldId id="304" r:id="rId52"/>
    <p:sldId id="305" r:id="rId53"/>
    <p:sldId id="320" r:id="rId54"/>
    <p:sldId id="321" r:id="rId55"/>
    <p:sldId id="322" r:id="rId56"/>
    <p:sldId id="323" r:id="rId57"/>
    <p:sldId id="324" r:id="rId58"/>
    <p:sldId id="325" r:id="rId59"/>
    <p:sldId id="326" r:id="rId60"/>
    <p:sldId id="327" r:id="rId61"/>
    <p:sldId id="328" r:id="rId62"/>
    <p:sldId id="329" r:id="rId63"/>
    <p:sldId id="330" r:id="rId64"/>
    <p:sldId id="331" r:id="rId65"/>
    <p:sldId id="332" r:id="rId66"/>
    <p:sldId id="311" r:id="rId67"/>
    <p:sldId id="312" r:id="rId68"/>
    <p:sldId id="313" r:id="rId69"/>
    <p:sldId id="315" r:id="rId70"/>
    <p:sldId id="314" r:id="rId7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DAD2"/>
    <a:srgbClr val="E8F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0655" autoAdjust="0"/>
  </p:normalViewPr>
  <p:slideViewPr>
    <p:cSldViewPr snapToGrid="0">
      <p:cViewPr varScale="1">
        <p:scale>
          <a:sx n="89" d="100"/>
          <a:sy n="89" d="100"/>
        </p:scale>
        <p:origin x="48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sz="1600" dirty="0"/>
              <a:t>Spotify </a:t>
            </a:r>
            <a:r>
              <a:rPr sz="1600" dirty="0" err="1"/>
              <a:t>n'est</a:t>
            </a:r>
            <a:r>
              <a:rPr sz="1600" dirty="0"/>
              <a:t> pas </a:t>
            </a:r>
            <a:r>
              <a:rPr sz="1600" dirty="0" err="1"/>
              <a:t>une</a:t>
            </a:r>
            <a:r>
              <a:rPr sz="1600" dirty="0"/>
              <a:t> </a:t>
            </a:r>
            <a:r>
              <a:rPr sz="1600" dirty="0" err="1"/>
              <a:t>entreprise</a:t>
            </a:r>
            <a:r>
              <a:rPr sz="1600" dirty="0"/>
              <a:t> musicale avec des données : </a:t>
            </a:r>
            <a:r>
              <a:rPr sz="1600" dirty="0" err="1"/>
              <a:t>c'est</a:t>
            </a:r>
            <a:r>
              <a:rPr sz="1600" dirty="0"/>
              <a:t> </a:t>
            </a:r>
            <a:r>
              <a:rPr sz="1600" dirty="0" err="1"/>
              <a:t>une</a:t>
            </a:r>
            <a:r>
              <a:rPr sz="1600" dirty="0"/>
              <a:t> </a:t>
            </a:r>
            <a:r>
              <a:rPr sz="1600" dirty="0" err="1"/>
              <a:t>entreprise</a:t>
            </a:r>
            <a:r>
              <a:rPr sz="1600" dirty="0"/>
              <a:t> de données qui </a:t>
            </a:r>
            <a:r>
              <a:rPr sz="1600" dirty="0" err="1"/>
              <a:t>distribue</a:t>
            </a:r>
            <a:r>
              <a:rPr sz="1600" dirty="0"/>
              <a:t> de la musique. 678 millions </a:t>
            </a:r>
            <a:r>
              <a:rPr sz="1600" dirty="0" err="1"/>
              <a:t>d'utilisateurs</a:t>
            </a:r>
            <a:r>
              <a:rPr sz="1600" dirty="0"/>
              <a:t> </a:t>
            </a:r>
            <a:r>
              <a:rPr sz="1600" dirty="0" err="1"/>
              <a:t>confient</a:t>
            </a:r>
            <a:r>
              <a:rPr sz="1600" dirty="0"/>
              <a:t> à Spotify </a:t>
            </a:r>
            <a:r>
              <a:rPr sz="1600" dirty="0" err="1"/>
              <a:t>leurs</a:t>
            </a:r>
            <a:r>
              <a:rPr sz="1600" dirty="0"/>
              <a:t> habitudes </a:t>
            </a:r>
            <a:r>
              <a:rPr sz="1600" dirty="0" err="1"/>
              <a:t>d'écoute</a:t>
            </a:r>
            <a:r>
              <a:rPr sz="1600" dirty="0"/>
              <a:t> et </a:t>
            </a:r>
            <a:r>
              <a:rPr sz="1600" dirty="0" err="1"/>
              <a:t>leurs</a:t>
            </a:r>
            <a:r>
              <a:rPr sz="1600" dirty="0"/>
              <a:t> données de </a:t>
            </a:r>
            <a:r>
              <a:rPr sz="1600" dirty="0" err="1"/>
              <a:t>paiement</a:t>
            </a:r>
            <a:r>
              <a:rPr sz="1600" dirty="0"/>
              <a:t> ; 40 000 </a:t>
            </a:r>
            <a:r>
              <a:rPr sz="1600" dirty="0" err="1"/>
              <a:t>événements</a:t>
            </a:r>
            <a:r>
              <a:rPr sz="1600" dirty="0"/>
              <a:t> </a:t>
            </a:r>
            <a:r>
              <a:rPr sz="1600" dirty="0" err="1"/>
              <a:t>sont</a:t>
            </a:r>
            <a:r>
              <a:rPr sz="1600" dirty="0"/>
              <a:t> </a:t>
            </a:r>
            <a:r>
              <a:rPr sz="1600" dirty="0" err="1"/>
              <a:t>traités</a:t>
            </a:r>
            <a:r>
              <a:rPr sz="1600" dirty="0"/>
              <a:t> </a:t>
            </a:r>
            <a:r>
              <a:rPr sz="1600" dirty="0" err="1"/>
              <a:t>chaque</a:t>
            </a:r>
            <a:r>
              <a:rPr sz="1600" dirty="0"/>
              <a:t> </a:t>
            </a:r>
            <a:r>
              <a:rPr sz="1600" dirty="0" err="1"/>
              <a:t>seconde</a:t>
            </a:r>
            <a:r>
              <a:rPr sz="1600" dirty="0"/>
              <a:t>, soit 500 </a:t>
            </a:r>
            <a:r>
              <a:rPr sz="1600" dirty="0" err="1"/>
              <a:t>téraoctets</a:t>
            </a:r>
            <a:r>
              <a:rPr sz="1600" dirty="0"/>
              <a:t> par jour. Cette </a:t>
            </a:r>
            <a:r>
              <a:rPr sz="1600" dirty="0" err="1"/>
              <a:t>échelle</a:t>
            </a:r>
            <a:r>
              <a:rPr sz="1600" dirty="0"/>
              <a:t> </a:t>
            </a:r>
            <a:r>
              <a:rPr sz="1600" dirty="0" err="1"/>
              <a:t>mondiale</a:t>
            </a:r>
            <a:r>
              <a:rPr sz="1600" dirty="0"/>
              <a:t>, </a:t>
            </a:r>
            <a:r>
              <a:rPr sz="1600" dirty="0" err="1"/>
              <a:t>répartie</a:t>
            </a:r>
            <a:r>
              <a:rPr sz="1600" dirty="0"/>
              <a:t> sur 184 pays, expose </a:t>
            </a:r>
            <a:r>
              <a:rPr sz="1600" dirty="0" err="1"/>
              <a:t>l'entreprise</a:t>
            </a:r>
            <a:r>
              <a:rPr sz="1600" dirty="0"/>
              <a:t> à trois régimes </a:t>
            </a:r>
            <a:r>
              <a:rPr sz="1600" dirty="0" err="1"/>
              <a:t>réglementaires</a:t>
            </a:r>
            <a:r>
              <a:rPr sz="1600" dirty="0"/>
              <a:t> </a:t>
            </a:r>
            <a:r>
              <a:rPr sz="1600" dirty="0" err="1"/>
              <a:t>distincts</a:t>
            </a:r>
            <a:r>
              <a:rPr sz="1600" dirty="0"/>
              <a:t>. À </a:t>
            </a:r>
            <a:r>
              <a:rPr sz="1600" dirty="0" err="1"/>
              <a:t>cette</a:t>
            </a:r>
            <a:r>
              <a:rPr sz="1600" dirty="0"/>
              <a:t> taille, </a:t>
            </a:r>
            <a:r>
              <a:rPr sz="1600" dirty="0" err="1"/>
              <a:t>une</a:t>
            </a:r>
            <a:r>
              <a:rPr sz="1600" dirty="0"/>
              <a:t> </a:t>
            </a:r>
            <a:r>
              <a:rPr sz="1600" dirty="0" err="1"/>
              <a:t>gouvernance</a:t>
            </a:r>
            <a:r>
              <a:rPr sz="1600" dirty="0"/>
              <a:t> </a:t>
            </a:r>
            <a:r>
              <a:rPr sz="1600" dirty="0" err="1"/>
              <a:t>défaillante</a:t>
            </a:r>
            <a:r>
              <a:rPr sz="1600" dirty="0"/>
              <a:t> </a:t>
            </a:r>
            <a:r>
              <a:rPr sz="1600" dirty="0" err="1"/>
              <a:t>n'est</a:t>
            </a:r>
            <a:r>
              <a:rPr sz="1600" dirty="0"/>
              <a:t> plus un </a:t>
            </a:r>
            <a:r>
              <a:rPr sz="1600" dirty="0" err="1"/>
              <a:t>risque</a:t>
            </a:r>
            <a:r>
              <a:rPr sz="1600" dirty="0"/>
              <a:t> </a:t>
            </a:r>
            <a:r>
              <a:rPr sz="1600" dirty="0" err="1"/>
              <a:t>théorique</a:t>
            </a:r>
            <a:r>
              <a:rPr sz="1600" dirty="0"/>
              <a:t> </a:t>
            </a:r>
            <a:r>
              <a:rPr sz="1600" dirty="0" err="1"/>
              <a:t>mais</a:t>
            </a:r>
            <a:r>
              <a:rPr sz="1600" dirty="0"/>
              <a:t> un </a:t>
            </a:r>
            <a:r>
              <a:rPr sz="1600" dirty="0" err="1"/>
              <a:t>enjeu</a:t>
            </a:r>
            <a:r>
              <a:rPr sz="1600" dirty="0"/>
              <a:t> </a:t>
            </a:r>
            <a:r>
              <a:rPr sz="1600" dirty="0" err="1"/>
              <a:t>légal</a:t>
            </a:r>
            <a:r>
              <a:rPr sz="1600" dirty="0"/>
              <a:t>, financier et </a:t>
            </a:r>
            <a:r>
              <a:rPr sz="1600" dirty="0" err="1"/>
              <a:t>réputationnel</a:t>
            </a:r>
            <a:r>
              <a:rPr sz="1600" dirty="0"/>
              <a:t> de premier plan — </a:t>
            </a:r>
            <a:r>
              <a:rPr sz="1600" dirty="0" err="1"/>
              <a:t>c'est</a:t>
            </a:r>
            <a:r>
              <a:rPr sz="1600" dirty="0"/>
              <a:t> le point de </a:t>
            </a:r>
            <a:r>
              <a:rPr sz="1600" dirty="0" err="1"/>
              <a:t>départ</a:t>
            </a:r>
            <a:r>
              <a:rPr sz="1600" dirty="0"/>
              <a:t> de toute la </a:t>
            </a:r>
            <a:r>
              <a:rPr sz="1600" dirty="0" err="1"/>
              <a:t>démonstration</a:t>
            </a:r>
            <a:r>
              <a:rPr sz="1600" dirty="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Ces</a:t>
            </a:r>
            <a:r>
              <a:rPr dirty="0"/>
              <a:t> trois </a:t>
            </a:r>
            <a:r>
              <a:rPr dirty="0" err="1"/>
              <a:t>enjeux</a:t>
            </a:r>
            <a:r>
              <a:rPr dirty="0"/>
              <a:t> </a:t>
            </a:r>
            <a:r>
              <a:rPr dirty="0" err="1"/>
              <a:t>résument</a:t>
            </a:r>
            <a:r>
              <a:rPr dirty="0"/>
              <a:t> </a:t>
            </a:r>
            <a:r>
              <a:rPr dirty="0" err="1"/>
              <a:t>pourquoi</a:t>
            </a:r>
            <a:r>
              <a:rPr dirty="0"/>
              <a:t> le </a:t>
            </a:r>
            <a:r>
              <a:rPr dirty="0" err="1"/>
              <a:t>sujet</a:t>
            </a:r>
            <a:r>
              <a:rPr dirty="0"/>
              <a:t> est </a:t>
            </a:r>
            <a:r>
              <a:rPr dirty="0" err="1"/>
              <a:t>stratégique</a:t>
            </a:r>
            <a:r>
              <a:rPr dirty="0"/>
              <a:t>. Le </a:t>
            </a:r>
            <a:r>
              <a:rPr dirty="0" err="1"/>
              <a:t>risque</a:t>
            </a:r>
            <a:r>
              <a:rPr dirty="0"/>
              <a:t> </a:t>
            </a:r>
            <a:r>
              <a:rPr dirty="0" err="1"/>
              <a:t>légal</a:t>
            </a:r>
            <a:r>
              <a:rPr dirty="0"/>
              <a:t> : </a:t>
            </a:r>
            <a:r>
              <a:rPr dirty="0" err="1"/>
              <a:t>une</a:t>
            </a:r>
            <a:r>
              <a:rPr dirty="0"/>
              <a:t> violation grave du RGPD </a:t>
            </a:r>
            <a:r>
              <a:rPr dirty="0" err="1"/>
              <a:t>peut</a:t>
            </a:r>
            <a:r>
              <a:rPr dirty="0"/>
              <a:t> </a:t>
            </a:r>
            <a:r>
              <a:rPr dirty="0" err="1"/>
              <a:t>coûter</a:t>
            </a:r>
            <a:r>
              <a:rPr dirty="0"/>
              <a:t> </a:t>
            </a:r>
            <a:r>
              <a:rPr dirty="0" err="1"/>
              <a:t>jusqu'à</a:t>
            </a:r>
            <a:r>
              <a:rPr dirty="0"/>
              <a:t> 4% du chiffre d'affaires </a:t>
            </a:r>
            <a:r>
              <a:rPr dirty="0" err="1"/>
              <a:t>mondial</a:t>
            </a:r>
            <a:r>
              <a:rPr dirty="0"/>
              <a:t>, soit environ 640 millions </a:t>
            </a:r>
            <a:r>
              <a:rPr dirty="0" err="1"/>
              <a:t>d'euros</a:t>
            </a:r>
            <a:r>
              <a:rPr dirty="0"/>
              <a:t>. Le </a:t>
            </a:r>
            <a:r>
              <a:rPr dirty="0" err="1"/>
              <a:t>risque</a:t>
            </a:r>
            <a:r>
              <a:rPr dirty="0"/>
              <a:t> </a:t>
            </a:r>
            <a:r>
              <a:rPr dirty="0" err="1"/>
              <a:t>qualité</a:t>
            </a:r>
            <a:r>
              <a:rPr dirty="0"/>
              <a:t> : les labels </a:t>
            </a:r>
            <a:r>
              <a:rPr dirty="0" err="1"/>
              <a:t>musicaux</a:t>
            </a:r>
            <a:r>
              <a:rPr dirty="0"/>
              <a:t> exigent </a:t>
            </a:r>
            <a:r>
              <a:rPr dirty="0" err="1"/>
              <a:t>une</a:t>
            </a:r>
            <a:r>
              <a:rPr dirty="0"/>
              <a:t> </a:t>
            </a:r>
            <a:r>
              <a:rPr dirty="0" err="1"/>
              <a:t>précision</a:t>
            </a:r>
            <a:r>
              <a:rPr dirty="0"/>
              <a:t> à 0,1% sur les données </a:t>
            </a:r>
            <a:r>
              <a:rPr dirty="0" err="1"/>
              <a:t>d'écoute</a:t>
            </a:r>
            <a:r>
              <a:rPr dirty="0"/>
              <a:t> pour le </a:t>
            </a:r>
            <a:r>
              <a:rPr dirty="0" err="1"/>
              <a:t>calcul</a:t>
            </a:r>
            <a:r>
              <a:rPr dirty="0"/>
              <a:t> des royalties — </a:t>
            </a:r>
            <a:r>
              <a:rPr dirty="0" err="1"/>
              <a:t>une</a:t>
            </a:r>
            <a:r>
              <a:rPr dirty="0"/>
              <a:t> </a:t>
            </a:r>
            <a:r>
              <a:rPr dirty="0" err="1"/>
              <a:t>erreur</a:t>
            </a:r>
            <a:r>
              <a:rPr dirty="0"/>
              <a:t> se </a:t>
            </a:r>
            <a:r>
              <a:rPr dirty="0" err="1"/>
              <a:t>traduit</a:t>
            </a:r>
            <a:r>
              <a:rPr dirty="0"/>
              <a:t> </a:t>
            </a:r>
            <a:r>
              <a:rPr dirty="0" err="1"/>
              <a:t>en</a:t>
            </a:r>
            <a:r>
              <a:rPr dirty="0"/>
              <a:t> </a:t>
            </a:r>
            <a:r>
              <a:rPr dirty="0" err="1"/>
              <a:t>litige</a:t>
            </a:r>
            <a:r>
              <a:rPr dirty="0"/>
              <a:t> </a:t>
            </a:r>
            <a:r>
              <a:rPr dirty="0" err="1"/>
              <a:t>contractuel</a:t>
            </a:r>
            <a:r>
              <a:rPr dirty="0"/>
              <a:t>. </a:t>
            </a:r>
            <a:r>
              <a:rPr dirty="0" err="1"/>
              <a:t>L'enjeu</a:t>
            </a:r>
            <a:r>
              <a:rPr dirty="0"/>
              <a:t> business </a:t>
            </a:r>
            <a:r>
              <a:rPr dirty="0" err="1"/>
              <a:t>enfin</a:t>
            </a:r>
            <a:r>
              <a:rPr dirty="0"/>
              <a:t> : sans données de </a:t>
            </a:r>
            <a:r>
              <a:rPr dirty="0" err="1"/>
              <a:t>qualité</a:t>
            </a:r>
            <a:r>
              <a:rPr dirty="0"/>
              <a:t>, les </a:t>
            </a:r>
            <a:r>
              <a:rPr dirty="0" err="1"/>
              <a:t>algorithmes</a:t>
            </a:r>
            <a:r>
              <a:rPr dirty="0"/>
              <a:t> de </a:t>
            </a:r>
            <a:r>
              <a:rPr dirty="0" err="1"/>
              <a:t>recommandation</a:t>
            </a:r>
            <a:r>
              <a:rPr dirty="0"/>
              <a:t> se </a:t>
            </a:r>
            <a:r>
              <a:rPr dirty="0" err="1"/>
              <a:t>dégradent</a:t>
            </a:r>
            <a:r>
              <a:rPr dirty="0"/>
              <a:t> et la </a:t>
            </a:r>
            <a:r>
              <a:rPr dirty="0" err="1"/>
              <a:t>rétention</a:t>
            </a:r>
            <a:r>
              <a:rPr dirty="0"/>
              <a:t> des </a:t>
            </a:r>
            <a:r>
              <a:rPr dirty="0" err="1"/>
              <a:t>utilisateurs</a:t>
            </a:r>
            <a:r>
              <a:rPr dirty="0"/>
              <a:t> </a:t>
            </a:r>
            <a:r>
              <a:rPr dirty="0" err="1"/>
              <a:t>baisse</a:t>
            </a:r>
            <a:r>
              <a:rPr dirty="0"/>
              <a:t>. La </a:t>
            </a:r>
            <a:r>
              <a:rPr dirty="0" err="1"/>
              <a:t>gouvernance</a:t>
            </a:r>
            <a:r>
              <a:rPr dirty="0"/>
              <a:t> des données </a:t>
            </a:r>
            <a:r>
              <a:rPr dirty="0" err="1"/>
              <a:t>touche</a:t>
            </a:r>
            <a:r>
              <a:rPr dirty="0"/>
              <a:t> </a:t>
            </a:r>
            <a:r>
              <a:rPr dirty="0" err="1"/>
              <a:t>donc</a:t>
            </a:r>
            <a:r>
              <a:rPr dirty="0"/>
              <a:t> </a:t>
            </a:r>
            <a:r>
              <a:rPr dirty="0" err="1"/>
              <a:t>simultanément</a:t>
            </a:r>
            <a:r>
              <a:rPr dirty="0"/>
              <a:t> le droit, la finance et le </a:t>
            </a:r>
            <a:r>
              <a:rPr dirty="0" err="1"/>
              <a:t>produit</a:t>
            </a:r>
            <a:r>
              <a:rPr dirty="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 </a:t>
            </a:r>
            <a:r>
              <a:rPr dirty="0" err="1"/>
              <a:t>modèle</a:t>
            </a:r>
            <a:r>
              <a:rPr dirty="0"/>
              <a:t> CMMI Data </a:t>
            </a:r>
            <a:r>
              <a:rPr dirty="0" err="1"/>
              <a:t>donne</a:t>
            </a:r>
            <a:r>
              <a:rPr dirty="0"/>
              <a:t> </a:t>
            </a:r>
            <a:r>
              <a:rPr dirty="0" err="1"/>
              <a:t>une</a:t>
            </a:r>
            <a:r>
              <a:rPr dirty="0"/>
              <a:t> grille </a:t>
            </a:r>
            <a:r>
              <a:rPr dirty="0" err="1"/>
              <a:t>d'évaluation</a:t>
            </a:r>
            <a:r>
              <a:rPr dirty="0"/>
              <a:t> objective. Spotify se </a:t>
            </a:r>
            <a:r>
              <a:rPr dirty="0" err="1"/>
              <a:t>situe</a:t>
            </a:r>
            <a:r>
              <a:rPr dirty="0"/>
              <a:t> au </a:t>
            </a:r>
            <a:r>
              <a:rPr dirty="0" err="1"/>
              <a:t>niveau</a:t>
            </a:r>
            <a:r>
              <a:rPr dirty="0"/>
              <a:t> 3 '</a:t>
            </a:r>
            <a:r>
              <a:rPr dirty="0" err="1"/>
              <a:t>Défini</a:t>
            </a:r>
            <a:r>
              <a:rPr dirty="0"/>
              <a:t>' : les processus existent, </a:t>
            </a:r>
            <a:r>
              <a:rPr dirty="0" err="1"/>
              <a:t>sont</a:t>
            </a:r>
            <a:r>
              <a:rPr dirty="0"/>
              <a:t> </a:t>
            </a:r>
            <a:r>
              <a:rPr dirty="0" err="1"/>
              <a:t>documentés</a:t>
            </a:r>
            <a:r>
              <a:rPr dirty="0"/>
              <a:t> et </a:t>
            </a:r>
            <a:r>
              <a:rPr dirty="0" err="1"/>
              <a:t>s'appliquent</a:t>
            </a:r>
            <a:r>
              <a:rPr dirty="0"/>
              <a:t> à </a:t>
            </a:r>
            <a:r>
              <a:rPr dirty="0" err="1"/>
              <a:t>l'échelle</a:t>
            </a:r>
            <a:r>
              <a:rPr dirty="0"/>
              <a:t> de </a:t>
            </a:r>
            <a:r>
              <a:rPr dirty="0" err="1"/>
              <a:t>l'organisation</a:t>
            </a:r>
            <a:r>
              <a:rPr dirty="0"/>
              <a:t> — Backstage, le </a:t>
            </a:r>
            <a:r>
              <a:rPr dirty="0" err="1"/>
              <a:t>portail</a:t>
            </a:r>
            <a:r>
              <a:rPr dirty="0"/>
              <a:t> </a:t>
            </a:r>
            <a:r>
              <a:rPr dirty="0" err="1"/>
              <a:t>développeur</a:t>
            </a:r>
            <a:r>
              <a:rPr dirty="0"/>
              <a:t> open-</a:t>
            </a:r>
            <a:r>
              <a:rPr dirty="0" err="1"/>
              <a:t>sourcé</a:t>
            </a:r>
            <a:r>
              <a:rPr dirty="0"/>
              <a:t> par Spotify, </a:t>
            </a:r>
            <a:r>
              <a:rPr dirty="0" err="1"/>
              <a:t>en</a:t>
            </a:r>
            <a:r>
              <a:rPr dirty="0"/>
              <a:t> est la </a:t>
            </a:r>
            <a:r>
              <a:rPr dirty="0" err="1"/>
              <a:t>preuve</a:t>
            </a:r>
            <a:r>
              <a:rPr dirty="0"/>
              <a:t> la plus tangible, </a:t>
            </a:r>
            <a:r>
              <a:rPr dirty="0" err="1"/>
              <a:t>jouant</a:t>
            </a:r>
            <a:r>
              <a:rPr dirty="0"/>
              <a:t> un </a:t>
            </a:r>
            <a:r>
              <a:rPr dirty="0" err="1"/>
              <a:t>rôle</a:t>
            </a:r>
            <a:r>
              <a:rPr dirty="0"/>
              <a:t> de proto-catalogue de données. Mais pour </a:t>
            </a:r>
            <a:r>
              <a:rPr dirty="0" err="1"/>
              <a:t>atteindre</a:t>
            </a:r>
            <a:r>
              <a:rPr dirty="0"/>
              <a:t> le </a:t>
            </a:r>
            <a:r>
              <a:rPr dirty="0" err="1"/>
              <a:t>niveau</a:t>
            </a:r>
            <a:r>
              <a:rPr dirty="0"/>
              <a:t> 4 '</a:t>
            </a:r>
            <a:r>
              <a:rPr dirty="0" err="1"/>
              <a:t>Mesuré</a:t>
            </a:r>
            <a:r>
              <a:rPr dirty="0"/>
              <a:t>', il faut </a:t>
            </a:r>
            <a:r>
              <a:rPr dirty="0" err="1"/>
              <a:t>aller</a:t>
            </a:r>
            <a:r>
              <a:rPr dirty="0"/>
              <a:t> plus loin : des </a:t>
            </a:r>
            <a:r>
              <a:rPr dirty="0" err="1"/>
              <a:t>métriques</a:t>
            </a:r>
            <a:r>
              <a:rPr dirty="0"/>
              <a:t> </a:t>
            </a:r>
            <a:r>
              <a:rPr dirty="0" err="1"/>
              <a:t>quantitatives</a:t>
            </a:r>
            <a:r>
              <a:rPr dirty="0"/>
              <a:t> </a:t>
            </a:r>
            <a:r>
              <a:rPr dirty="0" err="1"/>
              <a:t>systématiques</a:t>
            </a:r>
            <a:r>
              <a:rPr dirty="0"/>
              <a:t>, un Data Quality Score </a:t>
            </a:r>
            <a:r>
              <a:rPr dirty="0" err="1"/>
              <a:t>mesuré</a:t>
            </a:r>
            <a:r>
              <a:rPr dirty="0"/>
              <a:t> </a:t>
            </a:r>
            <a:r>
              <a:rPr dirty="0" err="1"/>
              <a:t>en</a:t>
            </a:r>
            <a:r>
              <a:rPr dirty="0"/>
              <a:t> </a:t>
            </a:r>
            <a:r>
              <a:rPr dirty="0" err="1"/>
              <a:t>continu</a:t>
            </a:r>
            <a:r>
              <a:rPr dirty="0"/>
              <a:t>, </a:t>
            </a:r>
            <a:r>
              <a:rPr dirty="0" err="1"/>
              <a:t>une</a:t>
            </a:r>
            <a:r>
              <a:rPr dirty="0"/>
              <a:t> </a:t>
            </a:r>
            <a:r>
              <a:rPr dirty="0" err="1"/>
              <a:t>traçabilité</a:t>
            </a:r>
            <a:r>
              <a:rPr dirty="0"/>
              <a:t> de bout </a:t>
            </a:r>
            <a:r>
              <a:rPr dirty="0" err="1"/>
              <a:t>en</a:t>
            </a:r>
            <a:r>
              <a:rPr dirty="0"/>
              <a:t> bout. Ce </a:t>
            </a:r>
            <a:r>
              <a:rPr dirty="0" err="1"/>
              <a:t>sont</a:t>
            </a:r>
            <a:r>
              <a:rPr dirty="0"/>
              <a:t> </a:t>
            </a:r>
            <a:r>
              <a:rPr dirty="0" err="1"/>
              <a:t>précisément</a:t>
            </a:r>
            <a:r>
              <a:rPr dirty="0"/>
              <a:t> les gaps — lineage </a:t>
            </a:r>
            <a:r>
              <a:rPr dirty="0" err="1"/>
              <a:t>incomplet</a:t>
            </a:r>
            <a:r>
              <a:rPr dirty="0"/>
              <a:t>, silos inter-squads, formation </a:t>
            </a:r>
            <a:r>
              <a:rPr dirty="0" err="1"/>
              <a:t>insuffisante</a:t>
            </a:r>
            <a:r>
              <a:rPr dirty="0"/>
              <a:t> — </a:t>
            </a:r>
            <a:r>
              <a:rPr dirty="0" err="1"/>
              <a:t>que</a:t>
            </a:r>
            <a:r>
              <a:rPr dirty="0"/>
              <a:t> le </a:t>
            </a:r>
            <a:r>
              <a:rPr dirty="0" err="1"/>
              <a:t>programme</a:t>
            </a:r>
            <a:r>
              <a:rPr dirty="0"/>
              <a:t> </a:t>
            </a:r>
            <a:r>
              <a:rPr dirty="0" err="1"/>
              <a:t>proposé</a:t>
            </a:r>
            <a:r>
              <a:rPr dirty="0"/>
              <a:t> </a:t>
            </a:r>
            <a:r>
              <a:rPr dirty="0" err="1"/>
              <a:t>adresse</a:t>
            </a:r>
            <a:r>
              <a:rPr dirty="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Spotify est </a:t>
            </a:r>
            <a:r>
              <a:rPr dirty="0" err="1"/>
              <a:t>construit</a:t>
            </a:r>
            <a:r>
              <a:rPr dirty="0"/>
              <a:t> sur le </a:t>
            </a:r>
            <a:r>
              <a:rPr dirty="0" err="1"/>
              <a:t>modèle</a:t>
            </a:r>
            <a:r>
              <a:rPr dirty="0"/>
              <a:t> </a:t>
            </a:r>
            <a:r>
              <a:rPr dirty="0" err="1"/>
              <a:t>organisationnel</a:t>
            </a:r>
            <a:r>
              <a:rPr dirty="0"/>
              <a:t> 'Tribes and Squads', qui </a:t>
            </a:r>
            <a:r>
              <a:rPr dirty="0" err="1"/>
              <a:t>valorise</a:t>
            </a:r>
            <a:r>
              <a:rPr dirty="0"/>
              <a:t> </a:t>
            </a:r>
            <a:r>
              <a:rPr dirty="0" err="1"/>
              <a:t>l'autonomie</a:t>
            </a:r>
            <a:r>
              <a:rPr dirty="0"/>
              <a:t> des équipes : un </a:t>
            </a:r>
            <a:r>
              <a:rPr dirty="0" err="1"/>
              <a:t>modèle</a:t>
            </a:r>
            <a:r>
              <a:rPr dirty="0"/>
              <a:t> de </a:t>
            </a:r>
            <a:r>
              <a:rPr dirty="0" err="1"/>
              <a:t>gouvernance</a:t>
            </a:r>
            <a:r>
              <a:rPr dirty="0"/>
              <a:t> </a:t>
            </a:r>
            <a:r>
              <a:rPr dirty="0" err="1"/>
              <a:t>centralisé</a:t>
            </a:r>
            <a:r>
              <a:rPr dirty="0"/>
              <a:t> </a:t>
            </a:r>
            <a:r>
              <a:rPr dirty="0" err="1"/>
              <a:t>serait</a:t>
            </a:r>
            <a:r>
              <a:rPr dirty="0"/>
              <a:t> un </a:t>
            </a:r>
            <a:r>
              <a:rPr dirty="0" err="1"/>
              <a:t>contresens</a:t>
            </a:r>
            <a:r>
              <a:rPr dirty="0"/>
              <a:t> </a:t>
            </a:r>
            <a:r>
              <a:rPr dirty="0" err="1"/>
              <a:t>culturel</a:t>
            </a:r>
            <a:r>
              <a:rPr dirty="0"/>
              <a:t> et </a:t>
            </a:r>
            <a:r>
              <a:rPr dirty="0" err="1"/>
              <a:t>créerait</a:t>
            </a:r>
            <a:r>
              <a:rPr dirty="0"/>
              <a:t> un </a:t>
            </a:r>
            <a:r>
              <a:rPr dirty="0" err="1"/>
              <a:t>goulot</a:t>
            </a:r>
            <a:r>
              <a:rPr dirty="0"/>
              <a:t> </a:t>
            </a:r>
            <a:r>
              <a:rPr dirty="0" err="1"/>
              <a:t>d'étranglement</a:t>
            </a:r>
            <a:r>
              <a:rPr dirty="0"/>
              <a:t>. Le Centre </a:t>
            </a:r>
            <a:r>
              <a:rPr dirty="0" err="1"/>
              <a:t>d'Excellence</a:t>
            </a:r>
            <a:r>
              <a:rPr dirty="0"/>
              <a:t> </a:t>
            </a:r>
            <a:r>
              <a:rPr dirty="0" err="1"/>
              <a:t>hybride</a:t>
            </a:r>
            <a:r>
              <a:rPr dirty="0"/>
              <a:t> </a:t>
            </a:r>
            <a:r>
              <a:rPr dirty="0" err="1"/>
              <a:t>définit</a:t>
            </a:r>
            <a:r>
              <a:rPr dirty="0"/>
              <a:t> les standards — politiques, </a:t>
            </a:r>
            <a:r>
              <a:rPr dirty="0" err="1"/>
              <a:t>outils</a:t>
            </a:r>
            <a:r>
              <a:rPr dirty="0"/>
              <a:t>, formations — </a:t>
            </a:r>
            <a:r>
              <a:rPr dirty="0" err="1"/>
              <a:t>que</a:t>
            </a:r>
            <a:r>
              <a:rPr dirty="0"/>
              <a:t> </a:t>
            </a:r>
            <a:r>
              <a:rPr dirty="0" err="1"/>
              <a:t>chaque</a:t>
            </a:r>
            <a:r>
              <a:rPr dirty="0"/>
              <a:t> </a:t>
            </a:r>
            <a:r>
              <a:rPr dirty="0" err="1"/>
              <a:t>domaine</a:t>
            </a:r>
            <a:r>
              <a:rPr dirty="0"/>
              <a:t> métier </a:t>
            </a:r>
            <a:r>
              <a:rPr dirty="0" err="1"/>
              <a:t>implémente</a:t>
            </a:r>
            <a:r>
              <a:rPr dirty="0"/>
              <a:t> ensuite avec </a:t>
            </a:r>
            <a:r>
              <a:rPr dirty="0" err="1"/>
              <a:t>ses</a:t>
            </a:r>
            <a:r>
              <a:rPr dirty="0"/>
              <a:t> </a:t>
            </a:r>
            <a:r>
              <a:rPr dirty="0" err="1"/>
              <a:t>propres</a:t>
            </a:r>
            <a:r>
              <a:rPr dirty="0"/>
              <a:t> Data Owners et Data Stewards. Le </a:t>
            </a:r>
            <a:r>
              <a:rPr dirty="0" err="1"/>
              <a:t>Comité</a:t>
            </a:r>
            <a:r>
              <a:rPr dirty="0"/>
              <a:t> de </a:t>
            </a:r>
            <a:r>
              <a:rPr dirty="0" err="1"/>
              <a:t>Gouvernance</a:t>
            </a:r>
            <a:r>
              <a:rPr dirty="0"/>
              <a:t>, </a:t>
            </a:r>
            <a:r>
              <a:rPr dirty="0" err="1"/>
              <a:t>réunissant</a:t>
            </a:r>
            <a:r>
              <a:rPr dirty="0"/>
              <a:t> CDO, DPO, CISO et CFO, </a:t>
            </a:r>
            <a:r>
              <a:rPr dirty="0" err="1"/>
              <a:t>arbitre</a:t>
            </a:r>
            <a:r>
              <a:rPr dirty="0"/>
              <a:t> les </a:t>
            </a:r>
            <a:r>
              <a:rPr dirty="0" err="1"/>
              <a:t>décisions</a:t>
            </a:r>
            <a:r>
              <a:rPr dirty="0"/>
              <a:t> </a:t>
            </a:r>
            <a:r>
              <a:rPr dirty="0" err="1"/>
              <a:t>structurantes</a:t>
            </a:r>
            <a:r>
              <a:rPr dirty="0"/>
              <a:t>. </a:t>
            </a:r>
            <a:r>
              <a:rPr dirty="0" err="1"/>
              <a:t>C'est</a:t>
            </a:r>
            <a:r>
              <a:rPr dirty="0"/>
              <a:t> </a:t>
            </a:r>
            <a:r>
              <a:rPr dirty="0" err="1"/>
              <a:t>l'équilibre</a:t>
            </a:r>
            <a:r>
              <a:rPr dirty="0"/>
              <a:t> entre </a:t>
            </a:r>
            <a:r>
              <a:rPr dirty="0" err="1"/>
              <a:t>cohérence</a:t>
            </a:r>
            <a:r>
              <a:rPr dirty="0"/>
              <a:t> </a:t>
            </a:r>
            <a:r>
              <a:rPr dirty="0" err="1"/>
              <a:t>globale</a:t>
            </a:r>
            <a:r>
              <a:rPr dirty="0"/>
              <a:t> et </a:t>
            </a:r>
            <a:r>
              <a:rPr dirty="0" err="1"/>
              <a:t>agilité</a:t>
            </a:r>
            <a:r>
              <a:rPr dirty="0"/>
              <a:t> locale </a:t>
            </a:r>
            <a:r>
              <a:rPr dirty="0" err="1"/>
              <a:t>que</a:t>
            </a:r>
            <a:r>
              <a:rPr dirty="0"/>
              <a:t> recherche Spotify.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L'un</a:t>
            </a:r>
            <a:r>
              <a:rPr dirty="0"/>
              <a:t> des </a:t>
            </a:r>
            <a:r>
              <a:rPr dirty="0" err="1"/>
              <a:t>problèmes</a:t>
            </a:r>
            <a:r>
              <a:rPr dirty="0"/>
              <a:t> les plus </a:t>
            </a:r>
            <a:r>
              <a:rPr dirty="0" err="1"/>
              <a:t>fréquents</a:t>
            </a:r>
            <a:r>
              <a:rPr dirty="0"/>
              <a:t> dans les </a:t>
            </a:r>
            <a:r>
              <a:rPr dirty="0" err="1"/>
              <a:t>organisations</a:t>
            </a:r>
            <a:r>
              <a:rPr dirty="0"/>
              <a:t> data est la question 'à qui </a:t>
            </a:r>
            <a:r>
              <a:rPr dirty="0" err="1"/>
              <a:t>appartient</a:t>
            </a:r>
            <a:r>
              <a:rPr dirty="0"/>
              <a:t> </a:t>
            </a:r>
            <a:r>
              <a:rPr dirty="0" err="1"/>
              <a:t>cette</a:t>
            </a:r>
            <a:r>
              <a:rPr dirty="0"/>
              <a:t> donnée ?'. Ce cadre RACI y </a:t>
            </a:r>
            <a:r>
              <a:rPr dirty="0" err="1"/>
              <a:t>répond</a:t>
            </a:r>
            <a:r>
              <a:rPr dirty="0"/>
              <a:t> </a:t>
            </a:r>
            <a:r>
              <a:rPr dirty="0" err="1"/>
              <a:t>structurellement</a:t>
            </a:r>
            <a:r>
              <a:rPr dirty="0"/>
              <a:t> : le Data Owner est un manager métier qui </a:t>
            </a:r>
            <a:r>
              <a:rPr dirty="0" err="1"/>
              <a:t>répond</a:t>
            </a:r>
            <a:r>
              <a:rPr dirty="0"/>
              <a:t> de la </a:t>
            </a:r>
            <a:r>
              <a:rPr dirty="0" err="1"/>
              <a:t>qualité</a:t>
            </a:r>
            <a:r>
              <a:rPr dirty="0"/>
              <a:t> et de </a:t>
            </a:r>
            <a:r>
              <a:rPr dirty="0" err="1"/>
              <a:t>l'usage</a:t>
            </a:r>
            <a:r>
              <a:rPr dirty="0"/>
              <a:t> de son </a:t>
            </a:r>
            <a:r>
              <a:rPr dirty="0" err="1"/>
              <a:t>domaine</a:t>
            </a:r>
            <a:r>
              <a:rPr dirty="0"/>
              <a:t> ; le Data Steward est son bras </a:t>
            </a:r>
            <a:r>
              <a:rPr dirty="0" err="1"/>
              <a:t>opérationnel</a:t>
            </a:r>
            <a:r>
              <a:rPr dirty="0"/>
              <a:t> technique au </a:t>
            </a:r>
            <a:r>
              <a:rPr dirty="0" err="1"/>
              <a:t>quotidien</a:t>
            </a:r>
            <a:r>
              <a:rPr dirty="0"/>
              <a:t> ; le DPO </a:t>
            </a:r>
            <a:r>
              <a:rPr dirty="0" err="1"/>
              <a:t>valide</a:t>
            </a:r>
            <a:r>
              <a:rPr dirty="0"/>
              <a:t> la </a:t>
            </a:r>
            <a:r>
              <a:rPr dirty="0" err="1"/>
              <a:t>conformité</a:t>
            </a:r>
            <a:r>
              <a:rPr dirty="0"/>
              <a:t> </a:t>
            </a:r>
            <a:r>
              <a:rPr dirty="0" err="1"/>
              <a:t>légale</a:t>
            </a:r>
            <a:r>
              <a:rPr dirty="0"/>
              <a:t> ; le Data Custodian, </a:t>
            </a:r>
            <a:r>
              <a:rPr dirty="0" err="1"/>
              <a:t>côté</a:t>
            </a:r>
            <a:r>
              <a:rPr dirty="0"/>
              <a:t> infrastructure, </a:t>
            </a:r>
            <a:r>
              <a:rPr dirty="0" err="1"/>
              <a:t>sécurise</a:t>
            </a:r>
            <a:r>
              <a:rPr dirty="0"/>
              <a:t> </a:t>
            </a:r>
            <a:r>
              <a:rPr dirty="0" err="1"/>
              <a:t>physiquement</a:t>
            </a:r>
            <a:r>
              <a:rPr dirty="0"/>
              <a:t> les données. La distinction Owner / Steward est un point </a:t>
            </a:r>
            <a:r>
              <a:rPr dirty="0" err="1"/>
              <a:t>fréquemment</a:t>
            </a:r>
            <a:r>
              <a:rPr dirty="0"/>
              <a:t> </a:t>
            </a:r>
            <a:r>
              <a:rPr dirty="0" err="1"/>
              <a:t>testé</a:t>
            </a:r>
            <a:r>
              <a:rPr dirty="0"/>
              <a:t> par les </a:t>
            </a:r>
            <a:r>
              <a:rPr dirty="0" err="1"/>
              <a:t>jurys</a:t>
            </a:r>
            <a:r>
              <a:rPr dirty="0"/>
              <a:t> — à </a:t>
            </a:r>
            <a:r>
              <a:rPr dirty="0" err="1"/>
              <a:t>développer</a:t>
            </a:r>
            <a:r>
              <a:rPr dirty="0"/>
              <a:t> </a:t>
            </a:r>
            <a:r>
              <a:rPr dirty="0" err="1"/>
              <a:t>en</a:t>
            </a:r>
            <a:r>
              <a:rPr dirty="0"/>
              <a:t> Q&amp;R </a:t>
            </a:r>
            <a:r>
              <a:rPr dirty="0" err="1"/>
              <a:t>si</a:t>
            </a:r>
            <a:r>
              <a:rPr dirty="0"/>
              <a:t> </a:t>
            </a:r>
            <a:r>
              <a:rPr dirty="0" err="1"/>
              <a:t>besoin</a:t>
            </a:r>
            <a:r>
              <a:rPr dirty="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Spotify </a:t>
            </a:r>
            <a:r>
              <a:rPr dirty="0" err="1"/>
              <a:t>opère</a:t>
            </a:r>
            <a:r>
              <a:rPr dirty="0"/>
              <a:t> dans 184 pays sous trois grands régimes </a:t>
            </a:r>
            <a:r>
              <a:rPr dirty="0" err="1"/>
              <a:t>réglementaires</a:t>
            </a:r>
            <a:r>
              <a:rPr dirty="0"/>
              <a:t>. </a:t>
            </a:r>
            <a:r>
              <a:rPr dirty="0" err="1"/>
              <a:t>Plutôt</a:t>
            </a:r>
            <a:r>
              <a:rPr dirty="0"/>
              <a:t> </a:t>
            </a:r>
            <a:r>
              <a:rPr dirty="0" err="1"/>
              <a:t>que</a:t>
            </a:r>
            <a:r>
              <a:rPr dirty="0"/>
              <a:t> de </a:t>
            </a:r>
            <a:r>
              <a:rPr dirty="0" err="1"/>
              <a:t>maintenir</a:t>
            </a:r>
            <a:r>
              <a:rPr dirty="0"/>
              <a:t> des </a:t>
            </a:r>
            <a:r>
              <a:rPr dirty="0" err="1"/>
              <a:t>systèmes</a:t>
            </a:r>
            <a:r>
              <a:rPr dirty="0"/>
              <a:t> </a:t>
            </a:r>
            <a:r>
              <a:rPr dirty="0" err="1"/>
              <a:t>différents</a:t>
            </a:r>
            <a:r>
              <a:rPr dirty="0"/>
              <a:t> par </a:t>
            </a:r>
            <a:r>
              <a:rPr dirty="0" err="1"/>
              <a:t>région</a:t>
            </a:r>
            <a:r>
              <a:rPr dirty="0"/>
              <a:t> — </a:t>
            </a:r>
            <a:r>
              <a:rPr dirty="0" err="1"/>
              <a:t>coûteux</a:t>
            </a:r>
            <a:r>
              <a:rPr dirty="0"/>
              <a:t> et source </a:t>
            </a:r>
            <a:r>
              <a:rPr dirty="0" err="1"/>
              <a:t>d'erreurs</a:t>
            </a:r>
            <a:r>
              <a:rPr dirty="0"/>
              <a:t> — la </a:t>
            </a:r>
            <a:r>
              <a:rPr dirty="0" err="1"/>
              <a:t>stratégie</a:t>
            </a:r>
            <a:r>
              <a:rPr dirty="0"/>
              <a:t> </a:t>
            </a:r>
            <a:r>
              <a:rPr dirty="0" err="1"/>
              <a:t>retenue</a:t>
            </a:r>
            <a:r>
              <a:rPr dirty="0"/>
              <a:t> applique la </a:t>
            </a:r>
            <a:r>
              <a:rPr dirty="0" err="1"/>
              <a:t>norme</a:t>
            </a:r>
            <a:r>
              <a:rPr dirty="0"/>
              <a:t> la plus </a:t>
            </a:r>
            <a:r>
              <a:rPr dirty="0" err="1"/>
              <a:t>contraignante</a:t>
            </a:r>
            <a:r>
              <a:rPr dirty="0"/>
              <a:t> à </a:t>
            </a:r>
            <a:r>
              <a:rPr dirty="0" err="1"/>
              <a:t>tous</a:t>
            </a:r>
            <a:r>
              <a:rPr dirty="0"/>
              <a:t> les </a:t>
            </a:r>
            <a:r>
              <a:rPr dirty="0" err="1"/>
              <a:t>utilisateurs</a:t>
            </a:r>
            <a:r>
              <a:rPr dirty="0"/>
              <a:t> : </a:t>
            </a:r>
            <a:r>
              <a:rPr dirty="0" err="1"/>
              <a:t>délai</a:t>
            </a:r>
            <a:r>
              <a:rPr dirty="0"/>
              <a:t> de </a:t>
            </a:r>
            <a:r>
              <a:rPr dirty="0" err="1"/>
              <a:t>réponse</a:t>
            </a:r>
            <a:r>
              <a:rPr dirty="0"/>
              <a:t> de 30 </a:t>
            </a:r>
            <a:r>
              <a:rPr dirty="0" err="1"/>
              <a:t>jours</a:t>
            </a:r>
            <a:r>
              <a:rPr dirty="0"/>
              <a:t> (RGPD) au lieu de 45 (CCPA), </a:t>
            </a:r>
            <a:r>
              <a:rPr dirty="0" err="1"/>
              <a:t>consentement</a:t>
            </a:r>
            <a:r>
              <a:rPr dirty="0"/>
              <a:t> marketing </a:t>
            </a:r>
            <a:r>
              <a:rPr dirty="0" err="1"/>
              <a:t>en</a:t>
            </a:r>
            <a:r>
              <a:rPr dirty="0"/>
              <a:t> opt-in </a:t>
            </a:r>
            <a:r>
              <a:rPr dirty="0" err="1"/>
              <a:t>partout</a:t>
            </a:r>
            <a:r>
              <a:rPr dirty="0"/>
              <a:t>. Point technique à </a:t>
            </a:r>
            <a:r>
              <a:rPr dirty="0" err="1"/>
              <a:t>anticiper</a:t>
            </a:r>
            <a:r>
              <a:rPr dirty="0"/>
              <a:t> : </a:t>
            </a:r>
            <a:r>
              <a:rPr dirty="0" err="1"/>
              <a:t>une</a:t>
            </a:r>
            <a:r>
              <a:rPr dirty="0"/>
              <a:t> donnée ne </a:t>
            </a:r>
            <a:r>
              <a:rPr dirty="0" err="1"/>
              <a:t>peut</a:t>
            </a:r>
            <a:r>
              <a:rPr dirty="0"/>
              <a:t> pas </a:t>
            </a:r>
            <a:r>
              <a:rPr dirty="0" err="1"/>
              <a:t>être</a:t>
            </a:r>
            <a:r>
              <a:rPr dirty="0"/>
              <a:t> </a:t>
            </a:r>
            <a:r>
              <a:rPr dirty="0" err="1"/>
              <a:t>effacée</a:t>
            </a:r>
            <a:r>
              <a:rPr dirty="0"/>
              <a:t> d'un </a:t>
            </a:r>
            <a:r>
              <a:rPr dirty="0" err="1"/>
              <a:t>modèle</a:t>
            </a:r>
            <a:r>
              <a:rPr dirty="0"/>
              <a:t> déjà </a:t>
            </a:r>
            <a:r>
              <a:rPr dirty="0" err="1"/>
              <a:t>entraîné</a:t>
            </a:r>
            <a:r>
              <a:rPr dirty="0"/>
              <a:t> ; la politique </a:t>
            </a:r>
            <a:r>
              <a:rPr dirty="0" err="1"/>
              <a:t>documentée</a:t>
            </a:r>
            <a:r>
              <a:rPr dirty="0"/>
              <a:t> </a:t>
            </a:r>
            <a:r>
              <a:rPr dirty="0" err="1"/>
              <a:t>prévoit</a:t>
            </a:r>
            <a:r>
              <a:rPr dirty="0"/>
              <a:t> </a:t>
            </a:r>
            <a:r>
              <a:rPr dirty="0" err="1"/>
              <a:t>une</a:t>
            </a:r>
            <a:r>
              <a:rPr dirty="0"/>
              <a:t> </a:t>
            </a:r>
            <a:r>
              <a:rPr dirty="0" err="1"/>
              <a:t>évaluation</a:t>
            </a:r>
            <a:r>
              <a:rPr dirty="0"/>
              <a:t> du </a:t>
            </a:r>
            <a:r>
              <a:rPr dirty="0" err="1"/>
              <a:t>risque</a:t>
            </a:r>
            <a:r>
              <a:rPr dirty="0"/>
              <a:t> </a:t>
            </a:r>
            <a:r>
              <a:rPr dirty="0" err="1"/>
              <a:t>résiduel</a:t>
            </a:r>
            <a:r>
              <a:rPr dirty="0"/>
              <a:t> par le DPO et un </a:t>
            </a:r>
            <a:r>
              <a:rPr dirty="0" err="1"/>
              <a:t>réentraînement</a:t>
            </a:r>
            <a:r>
              <a:rPr dirty="0"/>
              <a:t> </a:t>
            </a:r>
            <a:r>
              <a:rPr dirty="0" err="1"/>
              <a:t>périodique</a:t>
            </a:r>
            <a:r>
              <a:rPr dirty="0"/>
              <a:t> sans les données des </a:t>
            </a:r>
            <a:r>
              <a:rPr dirty="0" err="1"/>
              <a:t>utilisateurs</a:t>
            </a:r>
            <a:r>
              <a:rPr dirty="0"/>
              <a:t> </a:t>
            </a:r>
            <a:r>
              <a:rPr dirty="0" err="1"/>
              <a:t>supprimés</a:t>
            </a:r>
            <a:r>
              <a:rPr dirty="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 choix des </a:t>
            </a:r>
            <a:r>
              <a:rPr dirty="0" err="1"/>
              <a:t>outils</a:t>
            </a:r>
            <a:r>
              <a:rPr dirty="0"/>
              <a:t> </a:t>
            </a:r>
            <a:r>
              <a:rPr dirty="0" err="1"/>
              <a:t>privilégie</a:t>
            </a:r>
            <a:r>
              <a:rPr dirty="0"/>
              <a:t> </a:t>
            </a:r>
            <a:r>
              <a:rPr dirty="0" err="1"/>
              <a:t>l'intégration</a:t>
            </a:r>
            <a:r>
              <a:rPr dirty="0"/>
              <a:t> à </a:t>
            </a:r>
            <a:r>
              <a:rPr dirty="0" err="1"/>
              <a:t>l'écosystème</a:t>
            </a:r>
            <a:r>
              <a:rPr dirty="0"/>
              <a:t> GCP </a:t>
            </a:r>
            <a:r>
              <a:rPr dirty="0" err="1"/>
              <a:t>existant</a:t>
            </a:r>
            <a:r>
              <a:rPr dirty="0"/>
              <a:t> de Spotify et </a:t>
            </a:r>
            <a:r>
              <a:rPr dirty="0" err="1"/>
              <a:t>l'open</a:t>
            </a:r>
            <a:r>
              <a:rPr dirty="0"/>
              <a:t>-source pour </a:t>
            </a:r>
            <a:r>
              <a:rPr dirty="0" err="1"/>
              <a:t>maîtriser</a:t>
            </a:r>
            <a:r>
              <a:rPr dirty="0"/>
              <a:t> les </a:t>
            </a:r>
            <a:r>
              <a:rPr dirty="0" err="1"/>
              <a:t>coûts</a:t>
            </a:r>
            <a:r>
              <a:rPr dirty="0"/>
              <a:t>. Collibra, </a:t>
            </a:r>
            <a:r>
              <a:rPr dirty="0" err="1"/>
              <a:t>plateforme</a:t>
            </a:r>
            <a:r>
              <a:rPr dirty="0"/>
              <a:t> de </a:t>
            </a:r>
            <a:r>
              <a:rPr dirty="0" err="1"/>
              <a:t>gouvernance</a:t>
            </a:r>
            <a:r>
              <a:rPr dirty="0"/>
              <a:t> </a:t>
            </a:r>
            <a:r>
              <a:rPr dirty="0" err="1"/>
              <a:t>complète</a:t>
            </a:r>
            <a:r>
              <a:rPr dirty="0"/>
              <a:t>, a </a:t>
            </a:r>
            <a:r>
              <a:rPr dirty="0" err="1"/>
              <a:t>été</a:t>
            </a:r>
            <a:r>
              <a:rPr dirty="0"/>
              <a:t> </a:t>
            </a:r>
            <a:r>
              <a:rPr dirty="0" err="1"/>
              <a:t>écartée</a:t>
            </a:r>
            <a:r>
              <a:rPr dirty="0"/>
              <a:t> : à 500 000 euros par an de </a:t>
            </a:r>
            <a:r>
              <a:rPr dirty="0" err="1"/>
              <a:t>licence</a:t>
            </a:r>
            <a:r>
              <a:rPr dirty="0"/>
              <a:t>, son ROI est difficile à justifier </a:t>
            </a:r>
            <a:r>
              <a:rPr dirty="0" err="1"/>
              <a:t>en</a:t>
            </a:r>
            <a:r>
              <a:rPr dirty="0"/>
              <a:t> phase </a:t>
            </a:r>
            <a:r>
              <a:rPr dirty="0" err="1"/>
              <a:t>initiale</a:t>
            </a:r>
            <a:r>
              <a:rPr dirty="0"/>
              <a:t>. Apache Atlas, open-source, </a:t>
            </a:r>
            <a:r>
              <a:rPr dirty="0" err="1"/>
              <a:t>couvre</a:t>
            </a:r>
            <a:r>
              <a:rPr dirty="0"/>
              <a:t> les </a:t>
            </a:r>
            <a:r>
              <a:rPr dirty="0" err="1"/>
              <a:t>besoins</a:t>
            </a:r>
            <a:r>
              <a:rPr dirty="0"/>
              <a:t> des premières phases. Great Expectations mérite </a:t>
            </a:r>
            <a:r>
              <a:rPr dirty="0" err="1"/>
              <a:t>une</a:t>
            </a:r>
            <a:r>
              <a:rPr dirty="0"/>
              <a:t> mention </a:t>
            </a:r>
            <a:r>
              <a:rPr dirty="0" err="1"/>
              <a:t>particulière</a:t>
            </a:r>
            <a:r>
              <a:rPr dirty="0"/>
              <a:t> : il </a:t>
            </a:r>
            <a:r>
              <a:rPr dirty="0" err="1"/>
              <a:t>matérialise</a:t>
            </a:r>
            <a:r>
              <a:rPr dirty="0"/>
              <a:t> </a:t>
            </a:r>
            <a:r>
              <a:rPr dirty="0" err="1"/>
              <a:t>concrètement</a:t>
            </a:r>
            <a:r>
              <a:rPr dirty="0"/>
              <a:t> la </a:t>
            </a:r>
            <a:r>
              <a:rPr dirty="0" err="1"/>
              <a:t>qualité</a:t>
            </a:r>
            <a:r>
              <a:rPr dirty="0"/>
              <a:t> des données </a:t>
            </a:r>
            <a:r>
              <a:rPr dirty="0" err="1"/>
              <a:t>en</a:t>
            </a:r>
            <a:r>
              <a:rPr dirty="0"/>
              <a:t> </a:t>
            </a:r>
            <a:r>
              <a:rPr dirty="0" err="1"/>
              <a:t>validant</a:t>
            </a:r>
            <a:r>
              <a:rPr dirty="0"/>
              <a:t> </a:t>
            </a:r>
            <a:r>
              <a:rPr dirty="0" err="1"/>
              <a:t>automatiquement</a:t>
            </a:r>
            <a:r>
              <a:rPr dirty="0"/>
              <a:t> des </a:t>
            </a:r>
            <a:r>
              <a:rPr dirty="0" err="1"/>
              <a:t>règles</a:t>
            </a:r>
            <a:r>
              <a:rPr dirty="0"/>
              <a:t> métier à </a:t>
            </a:r>
            <a:r>
              <a:rPr dirty="0" err="1"/>
              <a:t>chaque</a:t>
            </a:r>
            <a:r>
              <a:rPr dirty="0"/>
              <a:t> </a:t>
            </a:r>
            <a:r>
              <a:rPr dirty="0" err="1"/>
              <a:t>exécution</a:t>
            </a:r>
            <a:r>
              <a:rPr dirty="0"/>
              <a:t> de pipeline — </a:t>
            </a:r>
            <a:r>
              <a:rPr dirty="0" err="1"/>
              <a:t>c'est</a:t>
            </a:r>
            <a:r>
              <a:rPr dirty="0"/>
              <a:t> </a:t>
            </a:r>
            <a:r>
              <a:rPr dirty="0" err="1"/>
              <a:t>ce</a:t>
            </a:r>
            <a:r>
              <a:rPr dirty="0"/>
              <a:t> qui </a:t>
            </a:r>
            <a:r>
              <a:rPr dirty="0" err="1"/>
              <a:t>alimente</a:t>
            </a:r>
            <a:r>
              <a:rPr dirty="0"/>
              <a:t> le Data Quality Score.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 choix de </a:t>
            </a:r>
            <a:r>
              <a:rPr dirty="0" err="1"/>
              <a:t>démarrer</a:t>
            </a:r>
            <a:r>
              <a:rPr dirty="0"/>
              <a:t> par le département Finance </a:t>
            </a:r>
            <a:r>
              <a:rPr dirty="0" err="1"/>
              <a:t>n'est</a:t>
            </a:r>
            <a:r>
              <a:rPr dirty="0"/>
              <a:t> pas </a:t>
            </a:r>
            <a:r>
              <a:rPr dirty="0" err="1"/>
              <a:t>anodin</a:t>
            </a:r>
            <a:r>
              <a:rPr dirty="0"/>
              <a:t> : les données y </a:t>
            </a:r>
            <a:r>
              <a:rPr dirty="0" err="1"/>
              <a:t>sont</a:t>
            </a:r>
            <a:r>
              <a:rPr dirty="0"/>
              <a:t> les plus </a:t>
            </a:r>
            <a:r>
              <a:rPr dirty="0" err="1"/>
              <a:t>sensibles</a:t>
            </a:r>
            <a:r>
              <a:rPr dirty="0"/>
              <a:t>, les </a:t>
            </a:r>
            <a:r>
              <a:rPr dirty="0" err="1"/>
              <a:t>erreurs</a:t>
            </a:r>
            <a:r>
              <a:rPr dirty="0"/>
              <a:t> </a:t>
            </a:r>
            <a:r>
              <a:rPr dirty="0" err="1"/>
              <a:t>ont</a:t>
            </a:r>
            <a:r>
              <a:rPr dirty="0"/>
              <a:t> des </a:t>
            </a:r>
            <a:r>
              <a:rPr dirty="0" err="1"/>
              <a:t>conséquences</a:t>
            </a:r>
            <a:r>
              <a:rPr dirty="0"/>
              <a:t> </a:t>
            </a:r>
            <a:r>
              <a:rPr dirty="0" err="1"/>
              <a:t>financières</a:t>
            </a:r>
            <a:r>
              <a:rPr dirty="0"/>
              <a:t> </a:t>
            </a:r>
            <a:r>
              <a:rPr dirty="0" err="1"/>
              <a:t>immédiates</a:t>
            </a:r>
            <a:r>
              <a:rPr dirty="0"/>
              <a:t>, et le sponsor — le CFO — est le plus </a:t>
            </a:r>
            <a:r>
              <a:rPr dirty="0" err="1"/>
              <a:t>motivé</a:t>
            </a:r>
            <a:r>
              <a:rPr dirty="0"/>
              <a:t> à voir le </a:t>
            </a:r>
            <a:r>
              <a:rPr dirty="0" err="1"/>
              <a:t>programme</a:t>
            </a:r>
            <a:r>
              <a:rPr dirty="0"/>
              <a:t> </a:t>
            </a:r>
            <a:r>
              <a:rPr dirty="0" err="1"/>
              <a:t>réussir</a:t>
            </a:r>
            <a:r>
              <a:rPr dirty="0"/>
              <a:t>. La Phase 0, </a:t>
            </a:r>
            <a:r>
              <a:rPr dirty="0" err="1"/>
              <a:t>souvent</a:t>
            </a:r>
            <a:r>
              <a:rPr dirty="0"/>
              <a:t> sous-</a:t>
            </a:r>
            <a:r>
              <a:rPr dirty="0" err="1"/>
              <a:t>estimée</a:t>
            </a:r>
            <a:r>
              <a:rPr dirty="0"/>
              <a:t>, pose les </a:t>
            </a:r>
            <a:r>
              <a:rPr dirty="0" err="1"/>
              <a:t>fondations</a:t>
            </a:r>
            <a:r>
              <a:rPr dirty="0"/>
              <a:t> </a:t>
            </a:r>
            <a:r>
              <a:rPr dirty="0" err="1"/>
              <a:t>organisationnelles</a:t>
            </a:r>
            <a:r>
              <a:rPr dirty="0"/>
              <a:t> </a:t>
            </a:r>
            <a:r>
              <a:rPr dirty="0" err="1"/>
              <a:t>en</a:t>
            </a:r>
            <a:r>
              <a:rPr dirty="0"/>
              <a:t> 3 </a:t>
            </a:r>
            <a:r>
              <a:rPr dirty="0" err="1"/>
              <a:t>mois</a:t>
            </a:r>
            <a:r>
              <a:rPr dirty="0"/>
              <a:t> : sans </a:t>
            </a:r>
            <a:r>
              <a:rPr dirty="0" err="1"/>
              <a:t>elle</a:t>
            </a:r>
            <a:r>
              <a:rPr dirty="0"/>
              <a:t>, les phases </a:t>
            </a:r>
            <a:r>
              <a:rPr dirty="0" err="1"/>
              <a:t>suivantes</a:t>
            </a:r>
            <a:r>
              <a:rPr dirty="0"/>
              <a:t> </a:t>
            </a:r>
            <a:r>
              <a:rPr dirty="0" err="1"/>
              <a:t>seraient</a:t>
            </a:r>
            <a:r>
              <a:rPr dirty="0"/>
              <a:t> </a:t>
            </a:r>
            <a:r>
              <a:rPr dirty="0" err="1"/>
              <a:t>fragiles</a:t>
            </a:r>
            <a:r>
              <a:rPr dirty="0"/>
              <a:t>. À M18, </a:t>
            </a:r>
            <a:r>
              <a:rPr dirty="0" err="1"/>
              <a:t>l'objectif</a:t>
            </a:r>
            <a:r>
              <a:rPr dirty="0"/>
              <a:t> est </a:t>
            </a:r>
            <a:r>
              <a:rPr dirty="0" err="1"/>
              <a:t>attesté</a:t>
            </a:r>
            <a:r>
              <a:rPr dirty="0"/>
              <a:t> par un audit externe : </a:t>
            </a:r>
            <a:r>
              <a:rPr dirty="0" err="1"/>
              <a:t>niveau</a:t>
            </a:r>
            <a:r>
              <a:rPr dirty="0"/>
              <a:t> 4 CMMI </a:t>
            </a:r>
            <a:r>
              <a:rPr dirty="0" err="1"/>
              <a:t>atteint</a:t>
            </a:r>
            <a:r>
              <a:rPr dirty="0"/>
              <a:t>, certification PCI-DSS </a:t>
            </a:r>
            <a:r>
              <a:rPr dirty="0" err="1"/>
              <a:t>renouvelée</a:t>
            </a:r>
            <a:r>
              <a:rPr dirty="0"/>
              <a:t>, </a:t>
            </a:r>
            <a:r>
              <a:rPr dirty="0" err="1"/>
              <a:t>conformité</a:t>
            </a:r>
            <a:r>
              <a:rPr dirty="0"/>
              <a:t> RGPD supérieure à 98%.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Aucun</a:t>
            </a:r>
            <a:r>
              <a:rPr dirty="0"/>
              <a:t> </a:t>
            </a:r>
            <a:r>
              <a:rPr dirty="0" err="1"/>
              <a:t>risque</a:t>
            </a:r>
            <a:r>
              <a:rPr dirty="0"/>
              <a:t> ne se </a:t>
            </a:r>
            <a:r>
              <a:rPr dirty="0" err="1"/>
              <a:t>situe</a:t>
            </a:r>
            <a:r>
              <a:rPr dirty="0"/>
              <a:t> </a:t>
            </a:r>
            <a:r>
              <a:rPr dirty="0" err="1"/>
              <a:t>en</a:t>
            </a:r>
            <a:r>
              <a:rPr dirty="0"/>
              <a:t> zone critique dans </a:t>
            </a:r>
            <a:r>
              <a:rPr dirty="0" err="1"/>
              <a:t>cette</a:t>
            </a:r>
            <a:r>
              <a:rPr dirty="0"/>
              <a:t> </a:t>
            </a:r>
            <a:r>
              <a:rPr dirty="0" err="1"/>
              <a:t>matrice</a:t>
            </a:r>
            <a:r>
              <a:rPr dirty="0"/>
              <a:t> — un </a:t>
            </a:r>
            <a:r>
              <a:rPr dirty="0" err="1"/>
              <a:t>résultat</a:t>
            </a:r>
            <a:r>
              <a:rPr dirty="0"/>
              <a:t> direct du Privacy by Design et de la </a:t>
            </a:r>
            <a:r>
              <a:rPr dirty="0" err="1"/>
              <a:t>tokenisation</a:t>
            </a:r>
            <a:r>
              <a:rPr dirty="0"/>
              <a:t> des données de </a:t>
            </a:r>
            <a:r>
              <a:rPr dirty="0" err="1"/>
              <a:t>paiement</a:t>
            </a:r>
            <a:r>
              <a:rPr dirty="0"/>
              <a:t>, qui </a:t>
            </a:r>
            <a:r>
              <a:rPr dirty="0" err="1"/>
              <a:t>réduisent</a:t>
            </a:r>
            <a:r>
              <a:rPr dirty="0"/>
              <a:t> par construction la </a:t>
            </a:r>
            <a:r>
              <a:rPr dirty="0" err="1"/>
              <a:t>probabilité</a:t>
            </a:r>
            <a:r>
              <a:rPr dirty="0"/>
              <a:t> des </a:t>
            </a:r>
            <a:r>
              <a:rPr dirty="0" err="1"/>
              <a:t>scénarios</a:t>
            </a:r>
            <a:r>
              <a:rPr dirty="0"/>
              <a:t> les plus graves. Le </a:t>
            </a:r>
            <a:r>
              <a:rPr dirty="0" err="1"/>
              <a:t>risque</a:t>
            </a:r>
            <a:r>
              <a:rPr dirty="0"/>
              <a:t> 'non-</a:t>
            </a:r>
            <a:r>
              <a:rPr dirty="0" err="1"/>
              <a:t>conformité</a:t>
            </a:r>
            <a:r>
              <a:rPr dirty="0"/>
              <a:t> AI Act' est </a:t>
            </a:r>
            <a:r>
              <a:rPr dirty="0" err="1"/>
              <a:t>émergent</a:t>
            </a:r>
            <a:r>
              <a:rPr dirty="0"/>
              <a:t> : </a:t>
            </a:r>
            <a:r>
              <a:rPr dirty="0" err="1"/>
              <a:t>l'AI</a:t>
            </a:r>
            <a:r>
              <a:rPr dirty="0"/>
              <a:t> Act </a:t>
            </a:r>
            <a:r>
              <a:rPr dirty="0" err="1"/>
              <a:t>européen</a:t>
            </a:r>
            <a:r>
              <a:rPr dirty="0"/>
              <a:t> entre </a:t>
            </a:r>
            <a:r>
              <a:rPr dirty="0" err="1"/>
              <a:t>progressivement</a:t>
            </a:r>
            <a:r>
              <a:rPr dirty="0"/>
              <a:t> </a:t>
            </a:r>
            <a:r>
              <a:rPr dirty="0" err="1"/>
              <a:t>en</a:t>
            </a:r>
            <a:r>
              <a:rPr dirty="0"/>
              <a:t> </a:t>
            </a:r>
            <a:r>
              <a:rPr dirty="0" err="1"/>
              <a:t>vigueur</a:t>
            </a:r>
            <a:r>
              <a:rPr dirty="0"/>
              <a:t> et les </a:t>
            </a:r>
            <a:r>
              <a:rPr dirty="0" err="1"/>
              <a:t>algorithmes</a:t>
            </a:r>
            <a:r>
              <a:rPr dirty="0"/>
              <a:t> de </a:t>
            </a:r>
            <a:r>
              <a:rPr dirty="0" err="1"/>
              <a:t>recommandation</a:t>
            </a:r>
            <a:r>
              <a:rPr dirty="0"/>
              <a:t> de Spotify </a:t>
            </a:r>
            <a:r>
              <a:rPr dirty="0" err="1"/>
              <a:t>pourraient</a:t>
            </a:r>
            <a:r>
              <a:rPr dirty="0"/>
              <a:t> </a:t>
            </a:r>
            <a:r>
              <a:rPr dirty="0" err="1"/>
              <a:t>être</a:t>
            </a:r>
            <a:r>
              <a:rPr dirty="0"/>
              <a:t> </a:t>
            </a:r>
            <a:r>
              <a:rPr dirty="0" err="1"/>
              <a:t>classés</a:t>
            </a:r>
            <a:r>
              <a:rPr dirty="0"/>
              <a:t> à </a:t>
            </a:r>
            <a:r>
              <a:rPr dirty="0" err="1"/>
              <a:t>risque</a:t>
            </a:r>
            <a:r>
              <a:rPr dirty="0"/>
              <a:t> sous </a:t>
            </a:r>
            <a:r>
              <a:rPr dirty="0" err="1"/>
              <a:t>certaines</a:t>
            </a:r>
            <a:r>
              <a:rPr dirty="0"/>
              <a:t> </a:t>
            </a:r>
            <a:r>
              <a:rPr dirty="0" err="1"/>
              <a:t>interprétations</a:t>
            </a:r>
            <a:r>
              <a:rPr dirty="0"/>
              <a:t>. Le </a:t>
            </a:r>
            <a:r>
              <a:rPr dirty="0" err="1"/>
              <a:t>programme</a:t>
            </a:r>
            <a:r>
              <a:rPr dirty="0"/>
              <a:t> de </a:t>
            </a:r>
            <a:r>
              <a:rPr dirty="0" err="1"/>
              <a:t>gouvernance</a:t>
            </a:r>
            <a:r>
              <a:rPr dirty="0"/>
              <a:t> des données </a:t>
            </a:r>
            <a:r>
              <a:rPr dirty="0" err="1"/>
              <a:t>constitue</a:t>
            </a:r>
            <a:r>
              <a:rPr dirty="0"/>
              <a:t> </a:t>
            </a:r>
            <a:r>
              <a:rPr dirty="0" err="1"/>
              <a:t>justement</a:t>
            </a:r>
            <a:r>
              <a:rPr dirty="0"/>
              <a:t> un </a:t>
            </a:r>
            <a:r>
              <a:rPr dirty="0" err="1"/>
              <a:t>prérequis</a:t>
            </a:r>
            <a:r>
              <a:rPr dirty="0"/>
              <a:t> à </a:t>
            </a:r>
            <a:r>
              <a:rPr dirty="0" err="1"/>
              <a:t>cette</a:t>
            </a:r>
            <a:r>
              <a:rPr dirty="0"/>
              <a:t> </a:t>
            </a:r>
            <a:r>
              <a:rPr dirty="0" err="1"/>
              <a:t>conformité</a:t>
            </a:r>
            <a:r>
              <a:rPr dirty="0"/>
              <a:t> future — un argument </a:t>
            </a:r>
            <a:r>
              <a:rPr dirty="0" err="1"/>
              <a:t>supplémentaire</a:t>
            </a:r>
            <a:r>
              <a:rPr dirty="0"/>
              <a:t> pour </a:t>
            </a:r>
            <a:r>
              <a:rPr dirty="0" err="1"/>
              <a:t>l'investissement</a:t>
            </a:r>
            <a:r>
              <a:rPr dirty="0"/>
              <a:t> </a:t>
            </a:r>
            <a:r>
              <a:rPr dirty="0" err="1"/>
              <a:t>présenté</a:t>
            </a:r>
            <a:r>
              <a:rPr dirty="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La </a:t>
            </a:r>
            <a:r>
              <a:rPr dirty="0" err="1"/>
              <a:t>gouvernance</a:t>
            </a:r>
            <a:r>
              <a:rPr dirty="0"/>
              <a:t> des données </a:t>
            </a:r>
            <a:r>
              <a:rPr dirty="0" err="1"/>
              <a:t>n'est</a:t>
            </a:r>
            <a:r>
              <a:rPr dirty="0"/>
              <a:t> pas un </a:t>
            </a:r>
            <a:r>
              <a:rPr dirty="0" err="1"/>
              <a:t>centre</a:t>
            </a:r>
            <a:r>
              <a:rPr dirty="0"/>
              <a:t> de </a:t>
            </a:r>
            <a:r>
              <a:rPr dirty="0" err="1"/>
              <a:t>coûts</a:t>
            </a:r>
            <a:r>
              <a:rPr dirty="0"/>
              <a:t> </a:t>
            </a:r>
            <a:r>
              <a:rPr dirty="0" err="1"/>
              <a:t>mais</a:t>
            </a:r>
            <a:r>
              <a:rPr dirty="0"/>
              <a:t> un </a:t>
            </a:r>
            <a:r>
              <a:rPr dirty="0" err="1"/>
              <a:t>investissement</a:t>
            </a:r>
            <a:r>
              <a:rPr dirty="0"/>
              <a:t> </a:t>
            </a:r>
            <a:r>
              <a:rPr dirty="0" err="1"/>
              <a:t>stratégique</a:t>
            </a:r>
            <a:r>
              <a:rPr dirty="0"/>
              <a:t>. Six millions </a:t>
            </a:r>
            <a:r>
              <a:rPr dirty="0" err="1"/>
              <a:t>d'euros</a:t>
            </a:r>
            <a:r>
              <a:rPr dirty="0"/>
              <a:t> sur 18 </a:t>
            </a:r>
            <a:r>
              <a:rPr dirty="0" err="1"/>
              <a:t>mois</a:t>
            </a:r>
            <a:r>
              <a:rPr dirty="0"/>
              <a:t> pour un </a:t>
            </a:r>
            <a:r>
              <a:rPr dirty="0" err="1"/>
              <a:t>programme</a:t>
            </a:r>
            <a:r>
              <a:rPr dirty="0"/>
              <a:t> qui </a:t>
            </a:r>
            <a:r>
              <a:rPr dirty="0" err="1"/>
              <a:t>réduit</a:t>
            </a:r>
            <a:r>
              <a:rPr dirty="0"/>
              <a:t> le </a:t>
            </a:r>
            <a:r>
              <a:rPr dirty="0" err="1"/>
              <a:t>risque</a:t>
            </a:r>
            <a:r>
              <a:rPr dirty="0"/>
              <a:t> </a:t>
            </a:r>
            <a:r>
              <a:rPr dirty="0" err="1"/>
              <a:t>d'amende</a:t>
            </a:r>
            <a:r>
              <a:rPr dirty="0"/>
              <a:t> RGPD (</a:t>
            </a:r>
            <a:r>
              <a:rPr dirty="0" err="1"/>
              <a:t>jusqu'à</a:t>
            </a:r>
            <a:r>
              <a:rPr dirty="0"/>
              <a:t> 640 millions </a:t>
            </a:r>
            <a:r>
              <a:rPr dirty="0" err="1"/>
              <a:t>d'euros</a:t>
            </a:r>
            <a:r>
              <a:rPr dirty="0"/>
              <a:t> </a:t>
            </a:r>
            <a:r>
              <a:rPr dirty="0" err="1"/>
              <a:t>théoriques</a:t>
            </a:r>
            <a:r>
              <a:rPr dirty="0"/>
              <a:t>), </a:t>
            </a:r>
            <a:r>
              <a:rPr dirty="0" err="1"/>
              <a:t>améliore</a:t>
            </a:r>
            <a:r>
              <a:rPr dirty="0"/>
              <a:t> la </a:t>
            </a:r>
            <a:r>
              <a:rPr dirty="0" err="1"/>
              <a:t>précision</a:t>
            </a:r>
            <a:r>
              <a:rPr dirty="0"/>
              <a:t> des royalties, </a:t>
            </a:r>
            <a:r>
              <a:rPr dirty="0" err="1"/>
              <a:t>accélère</a:t>
            </a:r>
            <a:r>
              <a:rPr dirty="0"/>
              <a:t> le time-to-insight des équipes data science et </a:t>
            </a:r>
            <a:r>
              <a:rPr dirty="0" err="1"/>
              <a:t>prépare</a:t>
            </a:r>
            <a:r>
              <a:rPr dirty="0"/>
              <a:t> </a:t>
            </a:r>
            <a:r>
              <a:rPr dirty="0" err="1"/>
              <a:t>l'entreprise</a:t>
            </a:r>
            <a:r>
              <a:rPr dirty="0"/>
              <a:t> à </a:t>
            </a:r>
            <a:r>
              <a:rPr dirty="0" err="1"/>
              <a:t>l'AI</a:t>
            </a:r>
            <a:r>
              <a:rPr dirty="0"/>
              <a:t> Act : le ROI se </a:t>
            </a:r>
            <a:r>
              <a:rPr dirty="0" err="1"/>
              <a:t>justifie</a:t>
            </a:r>
            <a:r>
              <a:rPr dirty="0"/>
              <a:t> </a:t>
            </a:r>
            <a:r>
              <a:rPr dirty="0" err="1"/>
              <a:t>même</a:t>
            </a:r>
            <a:r>
              <a:rPr dirty="0"/>
              <a:t> sans la </a:t>
            </a:r>
            <a:r>
              <a:rPr dirty="0" err="1"/>
              <a:t>composante</a:t>
            </a:r>
            <a:r>
              <a:rPr dirty="0"/>
              <a:t> </a:t>
            </a:r>
            <a:r>
              <a:rPr dirty="0" err="1"/>
              <a:t>risque</a:t>
            </a:r>
            <a:r>
              <a:rPr dirty="0"/>
              <a:t> </a:t>
            </a:r>
            <a:r>
              <a:rPr dirty="0" err="1"/>
              <a:t>réglementaire</a:t>
            </a:r>
            <a:r>
              <a:rPr dirty="0"/>
              <a:t>. Ce </a:t>
            </a:r>
            <a:r>
              <a:rPr dirty="0" err="1"/>
              <a:t>programme</a:t>
            </a:r>
            <a:r>
              <a:rPr dirty="0"/>
              <a:t> fait passer </a:t>
            </a:r>
            <a:r>
              <a:rPr dirty="0" err="1"/>
              <a:t>l'organisation</a:t>
            </a:r>
            <a:r>
              <a:rPr dirty="0"/>
              <a:t> du </a:t>
            </a:r>
            <a:r>
              <a:rPr dirty="0" err="1"/>
              <a:t>niveau</a:t>
            </a:r>
            <a:r>
              <a:rPr dirty="0"/>
              <a:t> 3 '</a:t>
            </a:r>
            <a:r>
              <a:rPr dirty="0" err="1"/>
              <a:t>Défini</a:t>
            </a:r>
            <a:r>
              <a:rPr dirty="0"/>
              <a:t>' au </a:t>
            </a:r>
            <a:r>
              <a:rPr dirty="0" err="1"/>
              <a:t>niveau</a:t>
            </a:r>
            <a:r>
              <a:rPr dirty="0"/>
              <a:t> 4 '</a:t>
            </a:r>
            <a:r>
              <a:rPr dirty="0" err="1"/>
              <a:t>Mesuré</a:t>
            </a:r>
            <a:r>
              <a:rPr dirty="0"/>
              <a:t>' — </a:t>
            </a:r>
            <a:r>
              <a:rPr dirty="0" err="1"/>
              <a:t>une</a:t>
            </a:r>
            <a:r>
              <a:rPr dirty="0"/>
              <a:t> étape, pas </a:t>
            </a:r>
            <a:r>
              <a:rPr dirty="0" err="1"/>
              <a:t>une</a:t>
            </a:r>
            <a:r>
              <a:rPr dirty="0"/>
              <a:t> fin </a:t>
            </a:r>
            <a:r>
              <a:rPr dirty="0" err="1"/>
              <a:t>en</a:t>
            </a:r>
            <a:r>
              <a:rPr dirty="0"/>
              <a:t> soi, avant </a:t>
            </a:r>
            <a:r>
              <a:rPr dirty="0" err="1"/>
              <a:t>une</a:t>
            </a:r>
            <a:r>
              <a:rPr dirty="0"/>
              <a:t> </a:t>
            </a:r>
            <a:r>
              <a:rPr dirty="0" err="1"/>
              <a:t>éventuelle</a:t>
            </a:r>
            <a:r>
              <a:rPr dirty="0"/>
              <a:t> </a:t>
            </a:r>
            <a:r>
              <a:rPr dirty="0" err="1"/>
              <a:t>évolution</a:t>
            </a:r>
            <a:r>
              <a:rPr dirty="0"/>
              <a:t> vers </a:t>
            </a:r>
            <a:r>
              <a:rPr dirty="0" err="1"/>
              <a:t>une</a:t>
            </a:r>
            <a:r>
              <a:rPr dirty="0"/>
              <a:t> architecture Data Mesh à 3-4 ans.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Transition vers les questions du jury. Cette citation </a:t>
            </a:r>
            <a:r>
              <a:rPr dirty="0" err="1"/>
              <a:t>résume</a:t>
            </a:r>
            <a:r>
              <a:rPr dirty="0"/>
              <a:t> </a:t>
            </a:r>
            <a:r>
              <a:rPr dirty="0" err="1"/>
              <a:t>l'esprit</a:t>
            </a:r>
            <a:r>
              <a:rPr dirty="0"/>
              <a:t> du </a:t>
            </a:r>
            <a:r>
              <a:rPr dirty="0" err="1"/>
              <a:t>programme</a:t>
            </a:r>
            <a:r>
              <a:rPr dirty="0"/>
              <a:t> </a:t>
            </a:r>
            <a:r>
              <a:rPr dirty="0" err="1"/>
              <a:t>présenté</a:t>
            </a:r>
            <a:r>
              <a:rPr dirty="0"/>
              <a:t> : la donnée brute de Spotify </a:t>
            </a:r>
            <a:r>
              <a:rPr dirty="0" err="1"/>
              <a:t>n'a</a:t>
            </a:r>
            <a:r>
              <a:rPr dirty="0"/>
              <a:t> de </a:t>
            </a:r>
            <a:r>
              <a:rPr dirty="0" err="1"/>
              <a:t>valeur</a:t>
            </a:r>
            <a:r>
              <a:rPr dirty="0"/>
              <a:t> </a:t>
            </a:r>
            <a:r>
              <a:rPr dirty="0" err="1"/>
              <a:t>que</a:t>
            </a:r>
            <a:r>
              <a:rPr dirty="0"/>
              <a:t> </a:t>
            </a:r>
            <a:r>
              <a:rPr dirty="0" err="1"/>
              <a:t>gouvernée</a:t>
            </a:r>
            <a:r>
              <a:rPr dirty="0"/>
              <a:t>, </a:t>
            </a:r>
            <a:r>
              <a:rPr dirty="0" err="1"/>
              <a:t>cataloguée</a:t>
            </a:r>
            <a:r>
              <a:rPr dirty="0"/>
              <a:t> et </a:t>
            </a:r>
            <a:r>
              <a:rPr dirty="0" err="1"/>
              <a:t>fiabilisée</a:t>
            </a:r>
            <a:r>
              <a:rPr dirty="0"/>
              <a:t>. Marquer </a:t>
            </a:r>
            <a:r>
              <a:rPr dirty="0" err="1"/>
              <a:t>une</a:t>
            </a:r>
            <a:r>
              <a:rPr dirty="0"/>
              <a:t> pause avant </a:t>
            </a:r>
            <a:r>
              <a:rPr dirty="0" err="1"/>
              <a:t>d'ouvrir</a:t>
            </a:r>
            <a:r>
              <a:rPr dirty="0"/>
              <a:t> la session de questions-</a:t>
            </a:r>
            <a:r>
              <a:rPr dirty="0" err="1"/>
              <a:t>réponses</a:t>
            </a:r>
            <a:r>
              <a:rPr dirty="0"/>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813151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Stripe </a:t>
            </a:r>
            <a:r>
              <a:rPr dirty="0" err="1"/>
              <a:t>traite</a:t>
            </a:r>
            <a:r>
              <a:rPr dirty="0"/>
              <a:t> plus de 1000 milliards de dollars de transactions par an pour des millions de </a:t>
            </a:r>
            <a:r>
              <a:rPr dirty="0" err="1"/>
              <a:t>marchands</a:t>
            </a:r>
            <a:r>
              <a:rPr dirty="0"/>
              <a:t>. </a:t>
            </a:r>
            <a:r>
              <a:rPr dirty="0" err="1"/>
              <a:t>L'objectif</a:t>
            </a:r>
            <a:r>
              <a:rPr dirty="0"/>
              <a:t> du </a:t>
            </a:r>
            <a:r>
              <a:rPr dirty="0" err="1"/>
              <a:t>projet</a:t>
            </a:r>
            <a:r>
              <a:rPr dirty="0"/>
              <a:t> est de </a:t>
            </a:r>
            <a:r>
              <a:rPr dirty="0" err="1"/>
              <a:t>concevoir</a:t>
            </a:r>
            <a:r>
              <a:rPr dirty="0"/>
              <a:t> </a:t>
            </a:r>
            <a:r>
              <a:rPr dirty="0" err="1"/>
              <a:t>une</a:t>
            </a:r>
            <a:r>
              <a:rPr dirty="0"/>
              <a:t> architecture de données </a:t>
            </a:r>
            <a:r>
              <a:rPr dirty="0" err="1"/>
              <a:t>unifiée</a:t>
            </a:r>
            <a:r>
              <a:rPr dirty="0"/>
              <a:t> capable de </a:t>
            </a:r>
            <a:r>
              <a:rPr dirty="0" err="1"/>
              <a:t>garantir</a:t>
            </a:r>
            <a:r>
              <a:rPr dirty="0"/>
              <a:t> des transactions </a:t>
            </a:r>
            <a:r>
              <a:rPr dirty="0" err="1"/>
              <a:t>financières</a:t>
            </a:r>
            <a:r>
              <a:rPr dirty="0"/>
              <a:t> </a:t>
            </a:r>
            <a:r>
              <a:rPr dirty="0" err="1"/>
              <a:t>irréprochables</a:t>
            </a:r>
            <a:r>
              <a:rPr dirty="0"/>
              <a:t> </a:t>
            </a:r>
            <a:r>
              <a:rPr dirty="0" err="1"/>
              <a:t>en</a:t>
            </a:r>
            <a:r>
              <a:rPr dirty="0"/>
              <a:t> </a:t>
            </a:r>
            <a:r>
              <a:rPr dirty="0" err="1"/>
              <a:t>moins</a:t>
            </a:r>
            <a:r>
              <a:rPr dirty="0"/>
              <a:t> de 100 </a:t>
            </a:r>
            <a:r>
              <a:rPr dirty="0" err="1"/>
              <a:t>millisecondes</a:t>
            </a:r>
            <a:r>
              <a:rPr dirty="0"/>
              <a:t>, de </a:t>
            </a:r>
            <a:r>
              <a:rPr dirty="0" err="1"/>
              <a:t>détecter</a:t>
            </a:r>
            <a:r>
              <a:rPr dirty="0"/>
              <a:t> la </a:t>
            </a:r>
            <a:r>
              <a:rPr dirty="0" err="1"/>
              <a:t>fraude</a:t>
            </a:r>
            <a:r>
              <a:rPr dirty="0"/>
              <a:t> </a:t>
            </a:r>
            <a:r>
              <a:rPr dirty="0" err="1"/>
              <a:t>en</a:t>
            </a:r>
            <a:r>
              <a:rPr dirty="0"/>
              <a:t> temps </a:t>
            </a:r>
            <a:r>
              <a:rPr dirty="0" err="1"/>
              <a:t>réel</a:t>
            </a:r>
            <a:r>
              <a:rPr dirty="0"/>
              <a:t> et de </a:t>
            </a:r>
            <a:r>
              <a:rPr dirty="0" err="1"/>
              <a:t>rester</a:t>
            </a:r>
            <a:r>
              <a:rPr dirty="0"/>
              <a:t> </a:t>
            </a:r>
            <a:r>
              <a:rPr dirty="0" err="1"/>
              <a:t>conforme</a:t>
            </a:r>
            <a:r>
              <a:rPr dirty="0"/>
              <a:t> à PCI-DSS </a:t>
            </a:r>
            <a:r>
              <a:rPr dirty="0" err="1"/>
              <a:t>niveau</a:t>
            </a:r>
            <a:r>
              <a:rPr dirty="0"/>
              <a:t> 1, au RGPD et au CCPA. Trois </a:t>
            </a:r>
            <a:r>
              <a:rPr dirty="0" err="1"/>
              <a:t>contraintes</a:t>
            </a:r>
            <a:r>
              <a:rPr dirty="0"/>
              <a:t> </a:t>
            </a:r>
            <a:r>
              <a:rPr dirty="0" err="1"/>
              <a:t>structurent</a:t>
            </a:r>
            <a:r>
              <a:rPr dirty="0"/>
              <a:t> </a:t>
            </a:r>
            <a:r>
              <a:rPr dirty="0" err="1"/>
              <a:t>tous</a:t>
            </a:r>
            <a:r>
              <a:rPr dirty="0"/>
              <a:t> les choix techniques qui </a:t>
            </a:r>
            <a:r>
              <a:rPr dirty="0" err="1"/>
              <a:t>suivent</a:t>
            </a:r>
            <a:r>
              <a:rPr dirty="0"/>
              <a:t> : la </a:t>
            </a:r>
            <a:r>
              <a:rPr dirty="0" err="1"/>
              <a:t>fiabilité</a:t>
            </a:r>
            <a:r>
              <a:rPr dirty="0"/>
              <a:t> (ACID, haute </a:t>
            </a:r>
            <a:r>
              <a:rPr dirty="0" err="1"/>
              <a:t>disponibilité</a:t>
            </a:r>
            <a:r>
              <a:rPr dirty="0"/>
              <a:t>), la performance (</a:t>
            </a:r>
            <a:r>
              <a:rPr dirty="0" err="1"/>
              <a:t>latence</a:t>
            </a:r>
            <a:r>
              <a:rPr dirty="0"/>
              <a:t>, </a:t>
            </a:r>
            <a:r>
              <a:rPr dirty="0" err="1"/>
              <a:t>scalabilité</a:t>
            </a:r>
            <a:r>
              <a:rPr dirty="0"/>
              <a:t>) et la </a:t>
            </a:r>
            <a:r>
              <a:rPr dirty="0" err="1"/>
              <a:t>conformité</a:t>
            </a:r>
            <a:r>
              <a:rPr dirty="0"/>
              <a:t> </a:t>
            </a:r>
            <a:r>
              <a:rPr dirty="0" err="1"/>
              <a:t>réglementaire</a:t>
            </a:r>
            <a:r>
              <a:rPr dirty="0"/>
              <a:t> (</a:t>
            </a:r>
            <a:r>
              <a:rPr dirty="0" err="1"/>
              <a:t>traçabilité</a:t>
            </a:r>
            <a:r>
              <a:rPr dirty="0"/>
              <a:t>, protection des données).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L'architecture</a:t>
            </a:r>
            <a:r>
              <a:rPr dirty="0"/>
              <a:t> </a:t>
            </a:r>
            <a:r>
              <a:rPr dirty="0" err="1"/>
              <a:t>retenue</a:t>
            </a:r>
            <a:r>
              <a:rPr dirty="0"/>
              <a:t> </a:t>
            </a:r>
            <a:r>
              <a:rPr dirty="0" err="1"/>
              <a:t>sépare</a:t>
            </a:r>
            <a:r>
              <a:rPr dirty="0"/>
              <a:t> trois </a:t>
            </a:r>
            <a:r>
              <a:rPr dirty="0" err="1"/>
              <a:t>systèmes</a:t>
            </a:r>
            <a:r>
              <a:rPr dirty="0"/>
              <a:t> </a:t>
            </a:r>
            <a:r>
              <a:rPr dirty="0" err="1"/>
              <a:t>complémentaires</a:t>
            </a:r>
            <a:r>
              <a:rPr dirty="0"/>
              <a:t> </a:t>
            </a:r>
            <a:r>
              <a:rPr dirty="0" err="1"/>
              <a:t>plutôt</a:t>
            </a:r>
            <a:r>
              <a:rPr dirty="0"/>
              <a:t> </a:t>
            </a:r>
            <a:r>
              <a:rPr dirty="0" err="1"/>
              <a:t>qu'un</a:t>
            </a:r>
            <a:r>
              <a:rPr dirty="0"/>
              <a:t> </a:t>
            </a:r>
            <a:r>
              <a:rPr dirty="0" err="1"/>
              <a:t>système</a:t>
            </a:r>
            <a:r>
              <a:rPr dirty="0"/>
              <a:t> unique polyvalent. L'OLTP (Aurora PostgreSQL Multi-AZ) est la source de vérité financière, </a:t>
            </a:r>
            <a:r>
              <a:rPr dirty="0" err="1"/>
              <a:t>garantissant</a:t>
            </a:r>
            <a:r>
              <a:rPr dirty="0"/>
              <a:t> </a:t>
            </a:r>
            <a:r>
              <a:rPr dirty="0" err="1"/>
              <a:t>l'intégrité</a:t>
            </a:r>
            <a:r>
              <a:rPr dirty="0"/>
              <a:t> ACID de </a:t>
            </a:r>
            <a:r>
              <a:rPr dirty="0" err="1"/>
              <a:t>chaque</a:t>
            </a:r>
            <a:r>
              <a:rPr dirty="0"/>
              <a:t> transaction. L'OLAP (Redshift) </a:t>
            </a:r>
            <a:r>
              <a:rPr dirty="0" err="1"/>
              <a:t>sert</a:t>
            </a:r>
            <a:r>
              <a:rPr dirty="0"/>
              <a:t> </a:t>
            </a:r>
            <a:r>
              <a:rPr dirty="0" err="1"/>
              <a:t>l'analytique</a:t>
            </a:r>
            <a:r>
              <a:rPr dirty="0"/>
              <a:t> et les rapports sur des milliards de </a:t>
            </a:r>
            <a:r>
              <a:rPr dirty="0" err="1"/>
              <a:t>lignes</a:t>
            </a:r>
            <a:r>
              <a:rPr dirty="0"/>
              <a:t>. Le NoSQL (DynamoDB + Redis) </a:t>
            </a:r>
            <a:r>
              <a:rPr dirty="0" err="1"/>
              <a:t>répond</a:t>
            </a:r>
            <a:r>
              <a:rPr dirty="0"/>
              <a:t> aux </a:t>
            </a:r>
            <a:r>
              <a:rPr dirty="0" err="1"/>
              <a:t>besoins</a:t>
            </a:r>
            <a:r>
              <a:rPr dirty="0"/>
              <a:t> de très </a:t>
            </a:r>
            <a:r>
              <a:rPr dirty="0" err="1"/>
              <a:t>faible</a:t>
            </a:r>
            <a:r>
              <a:rPr dirty="0"/>
              <a:t> </a:t>
            </a:r>
            <a:r>
              <a:rPr dirty="0" err="1"/>
              <a:t>latence</a:t>
            </a:r>
            <a:r>
              <a:rPr dirty="0"/>
              <a:t> : features de </a:t>
            </a:r>
            <a:r>
              <a:rPr dirty="0" err="1"/>
              <a:t>fraude</a:t>
            </a:r>
            <a:r>
              <a:rPr dirty="0"/>
              <a:t>, sessions, cache </a:t>
            </a:r>
            <a:r>
              <a:rPr dirty="0" err="1"/>
              <a:t>applicatif</a:t>
            </a:r>
            <a:r>
              <a:rPr dirty="0"/>
              <a:t>. </a:t>
            </a:r>
            <a:r>
              <a:rPr dirty="0" err="1"/>
              <a:t>Ces</a:t>
            </a:r>
            <a:r>
              <a:rPr dirty="0"/>
              <a:t> trois couches </a:t>
            </a:r>
            <a:r>
              <a:rPr dirty="0" err="1"/>
              <a:t>sont</a:t>
            </a:r>
            <a:r>
              <a:rPr dirty="0"/>
              <a:t> </a:t>
            </a:r>
            <a:r>
              <a:rPr dirty="0" err="1"/>
              <a:t>synchronisées</a:t>
            </a:r>
            <a:r>
              <a:rPr dirty="0"/>
              <a:t> </a:t>
            </a:r>
            <a:r>
              <a:rPr dirty="0" err="1"/>
              <a:t>en</a:t>
            </a:r>
            <a:r>
              <a:rPr dirty="0"/>
              <a:t> </a:t>
            </a:r>
            <a:r>
              <a:rPr dirty="0" err="1"/>
              <a:t>continu</a:t>
            </a:r>
            <a:r>
              <a:rPr dirty="0"/>
              <a:t> par un pipeline de Change Data Capture, sans jamais </a:t>
            </a:r>
            <a:r>
              <a:rPr dirty="0" err="1"/>
              <a:t>interroger</a:t>
            </a:r>
            <a:r>
              <a:rPr dirty="0"/>
              <a:t> </a:t>
            </a:r>
            <a:r>
              <a:rPr dirty="0" err="1"/>
              <a:t>directement</a:t>
            </a:r>
            <a:r>
              <a:rPr dirty="0"/>
              <a:t> la base </a:t>
            </a:r>
            <a:r>
              <a:rPr dirty="0" err="1"/>
              <a:t>transactionnelle</a:t>
            </a:r>
            <a:r>
              <a:rPr dirty="0"/>
              <a:t> pour les usages </a:t>
            </a:r>
            <a:r>
              <a:rPr dirty="0" err="1"/>
              <a:t>analytiques</a:t>
            </a:r>
            <a:r>
              <a:rPr dirty="0"/>
              <a:t> </a:t>
            </a:r>
            <a:r>
              <a:rPr dirty="0" err="1"/>
              <a:t>ou</a:t>
            </a:r>
            <a:r>
              <a:rPr dirty="0"/>
              <a:t> temps </a:t>
            </a:r>
            <a:r>
              <a:rPr dirty="0" err="1"/>
              <a:t>réel</a:t>
            </a:r>
            <a:r>
              <a:rPr dirty="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 </a:t>
            </a:r>
            <a:r>
              <a:rPr dirty="0" err="1"/>
              <a:t>modèle</a:t>
            </a:r>
            <a:r>
              <a:rPr dirty="0"/>
              <a:t> </a:t>
            </a:r>
            <a:r>
              <a:rPr dirty="0" err="1"/>
              <a:t>conceptuel</a:t>
            </a:r>
            <a:r>
              <a:rPr dirty="0"/>
              <a:t> de données </a:t>
            </a:r>
            <a:r>
              <a:rPr dirty="0" err="1"/>
              <a:t>respecte</a:t>
            </a:r>
            <a:r>
              <a:rPr dirty="0"/>
              <a:t> la </a:t>
            </a:r>
            <a:r>
              <a:rPr dirty="0" err="1"/>
              <a:t>troisième</a:t>
            </a:r>
            <a:r>
              <a:rPr dirty="0"/>
              <a:t> </a:t>
            </a:r>
            <a:r>
              <a:rPr dirty="0" err="1"/>
              <a:t>forme</a:t>
            </a:r>
            <a:r>
              <a:rPr dirty="0"/>
              <a:t> </a:t>
            </a:r>
            <a:r>
              <a:rPr dirty="0" err="1"/>
              <a:t>normale</a:t>
            </a:r>
            <a:r>
              <a:rPr dirty="0"/>
              <a:t> : </a:t>
            </a:r>
            <a:r>
              <a:rPr dirty="0" err="1"/>
              <a:t>huit</a:t>
            </a:r>
            <a:r>
              <a:rPr dirty="0"/>
              <a:t> </a:t>
            </a:r>
            <a:r>
              <a:rPr dirty="0" err="1"/>
              <a:t>entités</a:t>
            </a:r>
            <a:r>
              <a:rPr dirty="0"/>
              <a:t>, </a:t>
            </a:r>
            <a:r>
              <a:rPr dirty="0" err="1"/>
              <a:t>dont</a:t>
            </a:r>
            <a:r>
              <a:rPr dirty="0"/>
              <a:t> TRANSACTIONS </a:t>
            </a:r>
            <a:r>
              <a:rPr dirty="0" err="1"/>
              <a:t>comme</a:t>
            </a:r>
            <a:r>
              <a:rPr dirty="0"/>
              <a:t> </a:t>
            </a:r>
            <a:r>
              <a:rPr dirty="0" err="1"/>
              <a:t>entité</a:t>
            </a:r>
            <a:r>
              <a:rPr dirty="0"/>
              <a:t> pivot </a:t>
            </a:r>
            <a:r>
              <a:rPr dirty="0" err="1"/>
              <a:t>reliée</a:t>
            </a:r>
            <a:r>
              <a:rPr dirty="0"/>
              <a:t> aux </a:t>
            </a:r>
            <a:r>
              <a:rPr dirty="0" err="1"/>
              <a:t>marchands</a:t>
            </a:r>
            <a:r>
              <a:rPr dirty="0"/>
              <a:t>, clients, moyens de </a:t>
            </a:r>
            <a:r>
              <a:rPr dirty="0" err="1"/>
              <a:t>paiement</a:t>
            </a:r>
            <a:r>
              <a:rPr dirty="0"/>
              <a:t>, scores de </a:t>
            </a:r>
            <a:r>
              <a:rPr dirty="0" err="1"/>
              <a:t>fraude</a:t>
            </a:r>
            <a:r>
              <a:rPr dirty="0"/>
              <a:t> et </a:t>
            </a:r>
            <a:r>
              <a:rPr dirty="0" err="1"/>
              <a:t>remboursements</a:t>
            </a:r>
            <a:r>
              <a:rPr dirty="0"/>
              <a:t>. Les </a:t>
            </a:r>
            <a:r>
              <a:rPr dirty="0" err="1"/>
              <a:t>cardinalités</a:t>
            </a:r>
            <a:r>
              <a:rPr dirty="0"/>
              <a:t> </a:t>
            </a:r>
            <a:r>
              <a:rPr dirty="0" err="1"/>
              <a:t>Merise</a:t>
            </a:r>
            <a:r>
              <a:rPr dirty="0"/>
              <a:t> </a:t>
            </a:r>
            <a:r>
              <a:rPr dirty="0" err="1"/>
              <a:t>montrent</a:t>
            </a:r>
            <a:r>
              <a:rPr dirty="0"/>
              <a:t> par </a:t>
            </a:r>
            <a:r>
              <a:rPr dirty="0" err="1"/>
              <a:t>exemple</a:t>
            </a:r>
            <a:r>
              <a:rPr dirty="0"/>
              <a:t> </a:t>
            </a:r>
            <a:r>
              <a:rPr dirty="0" err="1"/>
              <a:t>qu'une</a:t>
            </a:r>
            <a:r>
              <a:rPr dirty="0"/>
              <a:t> transaction a </a:t>
            </a:r>
            <a:r>
              <a:rPr dirty="0" err="1"/>
              <a:t>exactement</a:t>
            </a:r>
            <a:r>
              <a:rPr dirty="0"/>
              <a:t> un score de </a:t>
            </a:r>
            <a:r>
              <a:rPr dirty="0" err="1"/>
              <a:t>fraude</a:t>
            </a:r>
            <a:r>
              <a:rPr dirty="0"/>
              <a:t> (1,1 · 1,1), </a:t>
            </a:r>
            <a:r>
              <a:rPr dirty="0" err="1"/>
              <a:t>alors</a:t>
            </a:r>
            <a:r>
              <a:rPr dirty="0"/>
              <a:t> </a:t>
            </a:r>
            <a:r>
              <a:rPr dirty="0" err="1"/>
              <a:t>qu'elle</a:t>
            </a:r>
            <a:r>
              <a:rPr dirty="0"/>
              <a:t> </a:t>
            </a:r>
            <a:r>
              <a:rPr dirty="0" err="1"/>
              <a:t>peut</a:t>
            </a:r>
            <a:r>
              <a:rPr dirty="0"/>
              <a:t> </a:t>
            </a:r>
            <a:r>
              <a:rPr dirty="0" err="1"/>
              <a:t>avoir</a:t>
            </a:r>
            <a:r>
              <a:rPr dirty="0"/>
              <a:t> </a:t>
            </a:r>
            <a:r>
              <a:rPr dirty="0" err="1"/>
              <a:t>zéro</a:t>
            </a:r>
            <a:r>
              <a:rPr dirty="0"/>
              <a:t> à </a:t>
            </a:r>
            <a:r>
              <a:rPr dirty="0" err="1"/>
              <a:t>plusieurs</a:t>
            </a:r>
            <a:r>
              <a:rPr dirty="0"/>
              <a:t> </a:t>
            </a:r>
            <a:r>
              <a:rPr dirty="0" err="1"/>
              <a:t>remboursements</a:t>
            </a:r>
            <a:r>
              <a:rPr dirty="0"/>
              <a:t> (1,1 · 0,n). Des </a:t>
            </a:r>
            <a:r>
              <a:rPr dirty="0" err="1"/>
              <a:t>contraintes</a:t>
            </a:r>
            <a:r>
              <a:rPr dirty="0"/>
              <a:t> CHECK </a:t>
            </a:r>
            <a:r>
              <a:rPr dirty="0" err="1"/>
              <a:t>valident</a:t>
            </a:r>
            <a:r>
              <a:rPr dirty="0"/>
              <a:t> les </a:t>
            </a:r>
            <a:r>
              <a:rPr dirty="0" err="1"/>
              <a:t>règles</a:t>
            </a:r>
            <a:r>
              <a:rPr dirty="0"/>
              <a:t> métier au plus près de la donnée. </a:t>
            </a:r>
            <a:r>
              <a:rPr dirty="0" err="1"/>
              <a:t>Compromis</a:t>
            </a:r>
            <a:r>
              <a:rPr dirty="0"/>
              <a:t> </a:t>
            </a:r>
            <a:r>
              <a:rPr dirty="0" err="1"/>
              <a:t>assumé</a:t>
            </a:r>
            <a:r>
              <a:rPr dirty="0"/>
              <a:t> : la table transactions, qui </a:t>
            </a:r>
            <a:r>
              <a:rPr dirty="0" err="1"/>
              <a:t>dépasse</a:t>
            </a:r>
            <a:r>
              <a:rPr dirty="0"/>
              <a:t> 100 millions de </a:t>
            </a:r>
            <a:r>
              <a:rPr dirty="0" err="1"/>
              <a:t>lignes</a:t>
            </a:r>
            <a:r>
              <a:rPr dirty="0"/>
              <a:t>, est </a:t>
            </a:r>
            <a:r>
              <a:rPr dirty="0" err="1"/>
              <a:t>partitionnée</a:t>
            </a:r>
            <a:r>
              <a:rPr dirty="0"/>
              <a:t> par plage de dates avec </a:t>
            </a:r>
            <a:r>
              <a:rPr dirty="0" err="1"/>
              <a:t>pg_partman</a:t>
            </a:r>
            <a:r>
              <a:rPr dirty="0"/>
              <a:t> pour </a:t>
            </a:r>
            <a:r>
              <a:rPr dirty="0" err="1"/>
              <a:t>maîtriser</a:t>
            </a:r>
            <a:r>
              <a:rPr dirty="0"/>
              <a:t> la maintenance et </a:t>
            </a:r>
            <a:r>
              <a:rPr dirty="0" err="1"/>
              <a:t>l'archivage</a:t>
            </a:r>
            <a:r>
              <a:rPr dirty="0"/>
              <a:t> vers S3/Glacier.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 </a:t>
            </a:r>
            <a:r>
              <a:rPr dirty="0" err="1"/>
              <a:t>schéma</a:t>
            </a:r>
            <a:r>
              <a:rPr dirty="0"/>
              <a:t> </a:t>
            </a:r>
            <a:r>
              <a:rPr dirty="0" err="1"/>
              <a:t>en</a:t>
            </a:r>
            <a:r>
              <a:rPr dirty="0"/>
              <a:t> étoile </a:t>
            </a:r>
            <a:r>
              <a:rPr dirty="0" err="1"/>
              <a:t>centre</a:t>
            </a:r>
            <a:r>
              <a:rPr dirty="0"/>
              <a:t> les </a:t>
            </a:r>
            <a:r>
              <a:rPr dirty="0" err="1"/>
              <a:t>mesures</a:t>
            </a:r>
            <a:r>
              <a:rPr dirty="0"/>
              <a:t> </a:t>
            </a:r>
            <a:r>
              <a:rPr dirty="0" err="1"/>
              <a:t>financières</a:t>
            </a:r>
            <a:r>
              <a:rPr dirty="0"/>
              <a:t> (</a:t>
            </a:r>
            <a:r>
              <a:rPr dirty="0" err="1"/>
              <a:t>montant</a:t>
            </a:r>
            <a:r>
              <a:rPr dirty="0"/>
              <a:t>, frais, </a:t>
            </a:r>
            <a:r>
              <a:rPr dirty="0" err="1"/>
              <a:t>statut</a:t>
            </a:r>
            <a:r>
              <a:rPr dirty="0"/>
              <a:t> de </a:t>
            </a:r>
            <a:r>
              <a:rPr dirty="0" err="1"/>
              <a:t>fraude</a:t>
            </a:r>
            <a:r>
              <a:rPr dirty="0"/>
              <a:t>) </a:t>
            </a:r>
            <a:r>
              <a:rPr dirty="0" err="1"/>
              <a:t>autour</a:t>
            </a:r>
            <a:r>
              <a:rPr dirty="0"/>
              <a:t> </a:t>
            </a:r>
            <a:r>
              <a:rPr dirty="0" err="1"/>
              <a:t>d'une</a:t>
            </a:r>
            <a:r>
              <a:rPr dirty="0"/>
              <a:t> table de faits unique, </a:t>
            </a:r>
            <a:r>
              <a:rPr dirty="0" err="1"/>
              <a:t>reliée</a:t>
            </a:r>
            <a:r>
              <a:rPr dirty="0"/>
              <a:t> à six dimensions. DIM_MERCHANT et DIM_CUSTOMER </a:t>
            </a:r>
            <a:r>
              <a:rPr dirty="0" err="1"/>
              <a:t>utilisent</a:t>
            </a:r>
            <a:r>
              <a:rPr dirty="0"/>
              <a:t> </a:t>
            </a:r>
            <a:r>
              <a:rPr dirty="0" err="1"/>
              <a:t>une</a:t>
            </a:r>
            <a:r>
              <a:rPr dirty="0"/>
              <a:t> </a:t>
            </a:r>
            <a:r>
              <a:rPr dirty="0" err="1"/>
              <a:t>historisation</a:t>
            </a:r>
            <a:r>
              <a:rPr dirty="0"/>
              <a:t> SCD Type 2 : un changement de </a:t>
            </a:r>
            <a:r>
              <a:rPr dirty="0" err="1"/>
              <a:t>niveau</a:t>
            </a:r>
            <a:r>
              <a:rPr dirty="0"/>
              <a:t> de </a:t>
            </a:r>
            <a:r>
              <a:rPr dirty="0" err="1"/>
              <a:t>risque</a:t>
            </a:r>
            <a:r>
              <a:rPr dirty="0"/>
              <a:t> </a:t>
            </a:r>
            <a:r>
              <a:rPr dirty="0" err="1"/>
              <a:t>crée</a:t>
            </a:r>
            <a:r>
              <a:rPr dirty="0"/>
              <a:t> </a:t>
            </a:r>
            <a:r>
              <a:rPr dirty="0" err="1"/>
              <a:t>une</a:t>
            </a:r>
            <a:r>
              <a:rPr dirty="0"/>
              <a:t> nouvelle </a:t>
            </a:r>
            <a:r>
              <a:rPr dirty="0" err="1"/>
              <a:t>ligne</a:t>
            </a:r>
            <a:r>
              <a:rPr dirty="0"/>
              <a:t> </a:t>
            </a:r>
            <a:r>
              <a:rPr dirty="0" err="1"/>
              <a:t>plutôt</a:t>
            </a:r>
            <a:r>
              <a:rPr dirty="0"/>
              <a:t> </a:t>
            </a:r>
            <a:r>
              <a:rPr dirty="0" err="1"/>
              <a:t>que</a:t>
            </a:r>
            <a:r>
              <a:rPr dirty="0"/>
              <a:t> </a:t>
            </a:r>
            <a:r>
              <a:rPr dirty="0" err="1"/>
              <a:t>d'écraser</a:t>
            </a:r>
            <a:r>
              <a:rPr dirty="0"/>
              <a:t> l'ancienne, </a:t>
            </a:r>
            <a:r>
              <a:rPr dirty="0" err="1"/>
              <a:t>ce</a:t>
            </a:r>
            <a:r>
              <a:rPr dirty="0"/>
              <a:t> qui </a:t>
            </a:r>
            <a:r>
              <a:rPr dirty="0" err="1"/>
              <a:t>préserve</a:t>
            </a:r>
            <a:r>
              <a:rPr dirty="0"/>
              <a:t> </a:t>
            </a:r>
            <a:r>
              <a:rPr dirty="0" err="1"/>
              <a:t>l'exactitude</a:t>
            </a:r>
            <a:r>
              <a:rPr dirty="0"/>
              <a:t> des rapports </a:t>
            </a:r>
            <a:r>
              <a:rPr dirty="0" err="1"/>
              <a:t>historiques</a:t>
            </a:r>
            <a:r>
              <a:rPr dirty="0"/>
              <a:t>. La distribution Redshift co-</a:t>
            </a:r>
            <a:r>
              <a:rPr dirty="0" err="1"/>
              <a:t>localise</a:t>
            </a:r>
            <a:r>
              <a:rPr dirty="0"/>
              <a:t> les faits et la dimension </a:t>
            </a:r>
            <a:r>
              <a:rPr dirty="0" err="1"/>
              <a:t>marchand</a:t>
            </a:r>
            <a:r>
              <a:rPr dirty="0"/>
              <a:t> sur le </a:t>
            </a:r>
            <a:r>
              <a:rPr dirty="0" err="1"/>
              <a:t>même</a:t>
            </a:r>
            <a:r>
              <a:rPr dirty="0"/>
              <a:t> </a:t>
            </a:r>
            <a:r>
              <a:rPr dirty="0" err="1"/>
              <a:t>nœud</a:t>
            </a:r>
            <a:r>
              <a:rPr dirty="0"/>
              <a:t> (DISTKEY), et les petites dimensions </a:t>
            </a:r>
            <a:r>
              <a:rPr dirty="0" err="1"/>
              <a:t>comme</a:t>
            </a:r>
            <a:r>
              <a:rPr dirty="0"/>
              <a:t> le temps </a:t>
            </a:r>
            <a:r>
              <a:rPr dirty="0" err="1"/>
              <a:t>ou</a:t>
            </a:r>
            <a:r>
              <a:rPr dirty="0"/>
              <a:t> la </a:t>
            </a:r>
            <a:r>
              <a:rPr dirty="0" err="1"/>
              <a:t>géographie</a:t>
            </a:r>
            <a:r>
              <a:rPr dirty="0"/>
              <a:t> </a:t>
            </a:r>
            <a:r>
              <a:rPr dirty="0" err="1"/>
              <a:t>sont</a:t>
            </a:r>
            <a:r>
              <a:rPr dirty="0"/>
              <a:t> </a:t>
            </a:r>
            <a:r>
              <a:rPr dirty="0" err="1"/>
              <a:t>répliquées</a:t>
            </a:r>
            <a:r>
              <a:rPr dirty="0"/>
              <a:t> sur </a:t>
            </a:r>
            <a:r>
              <a:rPr dirty="0" err="1"/>
              <a:t>tous</a:t>
            </a:r>
            <a:r>
              <a:rPr dirty="0"/>
              <a:t> les </a:t>
            </a:r>
            <a:r>
              <a:rPr dirty="0" err="1"/>
              <a:t>nœuds</a:t>
            </a:r>
            <a:r>
              <a:rPr dirty="0"/>
              <a:t> (DISTSTYLE ALL). Une </a:t>
            </a:r>
            <a:r>
              <a:rPr dirty="0" err="1"/>
              <a:t>vue</a:t>
            </a:r>
            <a:r>
              <a:rPr dirty="0"/>
              <a:t> </a:t>
            </a:r>
            <a:r>
              <a:rPr dirty="0" err="1"/>
              <a:t>matérialisée</a:t>
            </a:r>
            <a:r>
              <a:rPr dirty="0"/>
              <a:t> </a:t>
            </a:r>
            <a:r>
              <a:rPr dirty="0" err="1"/>
              <a:t>pré-calcule</a:t>
            </a:r>
            <a:r>
              <a:rPr dirty="0"/>
              <a:t> les </a:t>
            </a:r>
            <a:r>
              <a:rPr dirty="0" err="1"/>
              <a:t>revenus</a:t>
            </a:r>
            <a:r>
              <a:rPr dirty="0"/>
              <a:t> </a:t>
            </a:r>
            <a:r>
              <a:rPr dirty="0" err="1"/>
              <a:t>journaliers</a:t>
            </a:r>
            <a:r>
              <a:rPr dirty="0"/>
              <a:t> pour </a:t>
            </a:r>
            <a:r>
              <a:rPr dirty="0" err="1"/>
              <a:t>éviter</a:t>
            </a:r>
            <a:r>
              <a:rPr dirty="0"/>
              <a:t> de </a:t>
            </a:r>
            <a:r>
              <a:rPr dirty="0" err="1"/>
              <a:t>ré-agréger</a:t>
            </a:r>
            <a:r>
              <a:rPr dirty="0"/>
              <a:t> des milliards de </a:t>
            </a:r>
            <a:r>
              <a:rPr dirty="0" err="1"/>
              <a:t>lignes</a:t>
            </a:r>
            <a:r>
              <a:rPr dirty="0"/>
              <a:t> à </a:t>
            </a:r>
            <a:r>
              <a:rPr dirty="0" err="1"/>
              <a:t>chaque</a:t>
            </a:r>
            <a:r>
              <a:rPr dirty="0"/>
              <a:t> consultation de dashboard.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Contrairement</a:t>
            </a:r>
            <a:r>
              <a:rPr dirty="0"/>
              <a:t> au </a:t>
            </a:r>
            <a:r>
              <a:rPr dirty="0" err="1"/>
              <a:t>modèle</a:t>
            </a:r>
            <a:r>
              <a:rPr dirty="0"/>
              <a:t> </a:t>
            </a:r>
            <a:r>
              <a:rPr dirty="0" err="1"/>
              <a:t>relationnel</a:t>
            </a:r>
            <a:r>
              <a:rPr dirty="0"/>
              <a:t>, DynamoDB </a:t>
            </a:r>
            <a:r>
              <a:rPr dirty="0" err="1"/>
              <a:t>regroupe</a:t>
            </a:r>
            <a:r>
              <a:rPr dirty="0"/>
              <a:t> </a:t>
            </a:r>
            <a:r>
              <a:rPr dirty="0" err="1"/>
              <a:t>plusieurs</a:t>
            </a:r>
            <a:r>
              <a:rPr dirty="0"/>
              <a:t> types </a:t>
            </a:r>
            <a:r>
              <a:rPr dirty="0" err="1"/>
              <a:t>d'entités</a:t>
            </a:r>
            <a:r>
              <a:rPr dirty="0"/>
              <a:t> </a:t>
            </a:r>
            <a:r>
              <a:rPr dirty="0" err="1"/>
              <a:t>hétérogènes</a:t>
            </a:r>
            <a:r>
              <a:rPr dirty="0"/>
              <a:t> dans </a:t>
            </a:r>
            <a:r>
              <a:rPr dirty="0" err="1"/>
              <a:t>une</a:t>
            </a:r>
            <a:r>
              <a:rPr dirty="0"/>
              <a:t> table unique </a:t>
            </a:r>
            <a:r>
              <a:rPr dirty="0" err="1"/>
              <a:t>nommée</a:t>
            </a:r>
            <a:r>
              <a:rPr dirty="0"/>
              <a:t> stripe-ml-features, </a:t>
            </a:r>
            <a:r>
              <a:rPr dirty="0" err="1"/>
              <a:t>en</a:t>
            </a:r>
            <a:r>
              <a:rPr dirty="0"/>
              <a:t> </a:t>
            </a:r>
            <a:r>
              <a:rPr dirty="0" err="1"/>
              <a:t>utilisant</a:t>
            </a:r>
            <a:r>
              <a:rPr dirty="0"/>
              <a:t> </a:t>
            </a:r>
            <a:r>
              <a:rPr dirty="0" err="1"/>
              <a:t>une</a:t>
            </a:r>
            <a:r>
              <a:rPr dirty="0"/>
              <a:t> </a:t>
            </a:r>
            <a:r>
              <a:rPr dirty="0" err="1"/>
              <a:t>clé</a:t>
            </a:r>
            <a:r>
              <a:rPr dirty="0"/>
              <a:t> de partition et </a:t>
            </a:r>
            <a:r>
              <a:rPr dirty="0" err="1"/>
              <a:t>une</a:t>
            </a:r>
            <a:r>
              <a:rPr dirty="0"/>
              <a:t> </a:t>
            </a:r>
            <a:r>
              <a:rPr dirty="0" err="1"/>
              <a:t>clé</a:t>
            </a:r>
            <a:r>
              <a:rPr dirty="0"/>
              <a:t> de tri </a:t>
            </a:r>
            <a:r>
              <a:rPr dirty="0" err="1"/>
              <a:t>génériques</a:t>
            </a:r>
            <a:r>
              <a:rPr dirty="0"/>
              <a:t> </a:t>
            </a:r>
            <a:r>
              <a:rPr dirty="0" err="1"/>
              <a:t>préfixées</a:t>
            </a:r>
            <a:r>
              <a:rPr dirty="0"/>
              <a:t> par type. Trois index </a:t>
            </a:r>
            <a:r>
              <a:rPr dirty="0" err="1"/>
              <a:t>secondaires</a:t>
            </a:r>
            <a:r>
              <a:rPr dirty="0"/>
              <a:t> </a:t>
            </a:r>
            <a:r>
              <a:rPr dirty="0" err="1"/>
              <a:t>globaux</a:t>
            </a:r>
            <a:r>
              <a:rPr dirty="0"/>
              <a:t> </a:t>
            </a:r>
            <a:r>
              <a:rPr dirty="0" err="1"/>
              <a:t>permettent</a:t>
            </a:r>
            <a:r>
              <a:rPr dirty="0"/>
              <a:t> des </a:t>
            </a:r>
            <a:r>
              <a:rPr dirty="0" err="1"/>
              <a:t>accès</a:t>
            </a:r>
            <a:r>
              <a:rPr dirty="0"/>
              <a:t> </a:t>
            </a:r>
            <a:r>
              <a:rPr dirty="0" err="1"/>
              <a:t>alternatifs</a:t>
            </a:r>
            <a:r>
              <a:rPr dirty="0"/>
              <a:t> : par </a:t>
            </a:r>
            <a:r>
              <a:rPr dirty="0" err="1"/>
              <a:t>marchand</a:t>
            </a:r>
            <a:r>
              <a:rPr dirty="0"/>
              <a:t> pour les tableaux de bord </a:t>
            </a:r>
            <a:r>
              <a:rPr dirty="0" err="1"/>
              <a:t>fraude</a:t>
            </a:r>
            <a:r>
              <a:rPr dirty="0"/>
              <a:t>, par version de </a:t>
            </a:r>
            <a:r>
              <a:rPr dirty="0" err="1"/>
              <a:t>modèle</a:t>
            </a:r>
            <a:r>
              <a:rPr dirty="0"/>
              <a:t> pour le </a:t>
            </a:r>
            <a:r>
              <a:rPr dirty="0" err="1"/>
              <a:t>suivi</a:t>
            </a:r>
            <a:r>
              <a:rPr dirty="0"/>
              <a:t> de </a:t>
            </a:r>
            <a:r>
              <a:rPr dirty="0" err="1"/>
              <a:t>dérive</a:t>
            </a:r>
            <a:r>
              <a:rPr dirty="0"/>
              <a:t>, et par </a:t>
            </a:r>
            <a:r>
              <a:rPr dirty="0" err="1"/>
              <a:t>niveau</a:t>
            </a:r>
            <a:r>
              <a:rPr dirty="0"/>
              <a:t> de </a:t>
            </a:r>
            <a:r>
              <a:rPr dirty="0" err="1"/>
              <a:t>risque</a:t>
            </a:r>
            <a:r>
              <a:rPr dirty="0"/>
              <a:t> pour les </a:t>
            </a:r>
            <a:r>
              <a:rPr dirty="0" err="1"/>
              <a:t>alertes</a:t>
            </a:r>
            <a:r>
              <a:rPr dirty="0"/>
              <a:t> temps </a:t>
            </a:r>
            <a:r>
              <a:rPr dirty="0" err="1"/>
              <a:t>réel</a:t>
            </a:r>
            <a:r>
              <a:rPr dirty="0"/>
              <a:t>. Ce choix </a:t>
            </a:r>
            <a:r>
              <a:rPr dirty="0" err="1"/>
              <a:t>sacrifie</a:t>
            </a:r>
            <a:r>
              <a:rPr dirty="0"/>
              <a:t> la </a:t>
            </a:r>
            <a:r>
              <a:rPr dirty="0" err="1"/>
              <a:t>lisibilité</a:t>
            </a:r>
            <a:r>
              <a:rPr dirty="0"/>
              <a:t> </a:t>
            </a:r>
            <a:r>
              <a:rPr dirty="0" err="1"/>
              <a:t>relationnelle</a:t>
            </a:r>
            <a:r>
              <a:rPr dirty="0"/>
              <a:t> </a:t>
            </a:r>
            <a:r>
              <a:rPr dirty="0" err="1"/>
              <a:t>immédiate</a:t>
            </a:r>
            <a:r>
              <a:rPr dirty="0"/>
              <a:t> au profit de la performance à </a:t>
            </a:r>
            <a:r>
              <a:rPr dirty="0" err="1"/>
              <a:t>l'échelle</a:t>
            </a:r>
            <a:r>
              <a:rPr dirty="0"/>
              <a:t> de Stripe : les features de </a:t>
            </a:r>
            <a:r>
              <a:rPr dirty="0" err="1"/>
              <a:t>fraude</a:t>
            </a:r>
            <a:r>
              <a:rPr dirty="0"/>
              <a:t> </a:t>
            </a:r>
            <a:r>
              <a:rPr dirty="0" err="1"/>
              <a:t>doivent</a:t>
            </a:r>
            <a:r>
              <a:rPr dirty="0"/>
              <a:t> </a:t>
            </a:r>
            <a:r>
              <a:rPr dirty="0" err="1"/>
              <a:t>être</a:t>
            </a:r>
            <a:r>
              <a:rPr dirty="0"/>
              <a:t> lues </a:t>
            </a:r>
            <a:r>
              <a:rPr dirty="0" err="1"/>
              <a:t>en</a:t>
            </a:r>
            <a:r>
              <a:rPr dirty="0"/>
              <a:t> </a:t>
            </a:r>
            <a:r>
              <a:rPr dirty="0" err="1"/>
              <a:t>moins</a:t>
            </a:r>
            <a:r>
              <a:rPr dirty="0"/>
              <a:t> de 5 </a:t>
            </a:r>
            <a:r>
              <a:rPr dirty="0" err="1"/>
              <a:t>millisecondes</a:t>
            </a:r>
            <a:r>
              <a:rPr dirty="0"/>
              <a:t>, </a:t>
            </a:r>
            <a:r>
              <a:rPr dirty="0" err="1"/>
              <a:t>moins</a:t>
            </a:r>
            <a:r>
              <a:rPr dirty="0"/>
              <a:t> </a:t>
            </a:r>
            <a:r>
              <a:rPr dirty="0" err="1"/>
              <a:t>d'une</a:t>
            </a:r>
            <a:r>
              <a:rPr dirty="0"/>
              <a:t> </a:t>
            </a:r>
            <a:r>
              <a:rPr dirty="0" err="1"/>
              <a:t>milliseconde</a:t>
            </a:r>
            <a:r>
              <a:rPr dirty="0"/>
              <a:t> avec le cache DAX.</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En </a:t>
            </a:r>
            <a:r>
              <a:rPr dirty="0" err="1"/>
              <a:t>parallèle</a:t>
            </a:r>
            <a:r>
              <a:rPr dirty="0"/>
              <a:t> du flux batch, un second </a:t>
            </a:r>
            <a:r>
              <a:rPr dirty="0" err="1"/>
              <a:t>consommateur</a:t>
            </a:r>
            <a:r>
              <a:rPr dirty="0"/>
              <a:t> Kafka met à jour </a:t>
            </a:r>
            <a:r>
              <a:rPr dirty="0" err="1"/>
              <a:t>en</a:t>
            </a:r>
            <a:r>
              <a:rPr dirty="0"/>
              <a:t> </a:t>
            </a:r>
            <a:r>
              <a:rPr dirty="0" err="1"/>
              <a:t>continu</a:t>
            </a:r>
            <a:r>
              <a:rPr dirty="0"/>
              <a:t> le Feature Store DynamoDB qui </a:t>
            </a:r>
            <a:r>
              <a:rPr dirty="0" err="1"/>
              <a:t>alimente</a:t>
            </a:r>
            <a:r>
              <a:rPr dirty="0"/>
              <a:t> le </a:t>
            </a:r>
            <a:r>
              <a:rPr dirty="0" err="1"/>
              <a:t>modèle</a:t>
            </a:r>
            <a:r>
              <a:rPr dirty="0"/>
              <a:t> de </a:t>
            </a:r>
            <a:r>
              <a:rPr dirty="0" err="1"/>
              <a:t>détection</a:t>
            </a:r>
            <a:r>
              <a:rPr dirty="0"/>
              <a:t> de </a:t>
            </a:r>
            <a:r>
              <a:rPr dirty="0" err="1"/>
              <a:t>fraude</a:t>
            </a:r>
            <a:r>
              <a:rPr dirty="0"/>
              <a:t>. Au moment de </a:t>
            </a:r>
            <a:r>
              <a:rPr dirty="0" err="1"/>
              <a:t>l'autorisation</a:t>
            </a:r>
            <a:r>
              <a:rPr dirty="0"/>
              <a:t>, le service lit les features du client </a:t>
            </a:r>
            <a:r>
              <a:rPr dirty="0" err="1"/>
              <a:t>en</a:t>
            </a:r>
            <a:r>
              <a:rPr dirty="0"/>
              <a:t> </a:t>
            </a:r>
            <a:r>
              <a:rPr dirty="0" err="1"/>
              <a:t>moins</a:t>
            </a:r>
            <a:r>
              <a:rPr dirty="0"/>
              <a:t> de 5 </a:t>
            </a:r>
            <a:r>
              <a:rPr dirty="0" err="1"/>
              <a:t>millisecondes</a:t>
            </a:r>
            <a:r>
              <a:rPr dirty="0"/>
              <a:t> (</a:t>
            </a:r>
            <a:r>
              <a:rPr dirty="0" err="1"/>
              <a:t>moins</a:t>
            </a:r>
            <a:r>
              <a:rPr dirty="0"/>
              <a:t> </a:t>
            </a:r>
            <a:r>
              <a:rPr dirty="0" err="1"/>
              <a:t>d'une</a:t>
            </a:r>
            <a:r>
              <a:rPr dirty="0"/>
              <a:t> </a:t>
            </a:r>
            <a:r>
              <a:rPr dirty="0" err="1"/>
              <a:t>milliseconde</a:t>
            </a:r>
            <a:r>
              <a:rPr dirty="0"/>
              <a:t> via DAX), </a:t>
            </a:r>
            <a:r>
              <a:rPr dirty="0" err="1"/>
              <a:t>invoque</a:t>
            </a:r>
            <a:r>
              <a:rPr dirty="0"/>
              <a:t> le </a:t>
            </a:r>
            <a:r>
              <a:rPr dirty="0" err="1"/>
              <a:t>modèle</a:t>
            </a:r>
            <a:r>
              <a:rPr dirty="0"/>
              <a:t> de scoring </a:t>
            </a:r>
            <a:r>
              <a:rPr dirty="0" err="1"/>
              <a:t>en</a:t>
            </a:r>
            <a:r>
              <a:rPr dirty="0"/>
              <a:t> </a:t>
            </a:r>
            <a:r>
              <a:rPr dirty="0" err="1"/>
              <a:t>moins</a:t>
            </a:r>
            <a:r>
              <a:rPr dirty="0"/>
              <a:t> de 30 </a:t>
            </a:r>
            <a:r>
              <a:rPr dirty="0" err="1"/>
              <a:t>millisecondes</a:t>
            </a:r>
            <a:r>
              <a:rPr dirty="0"/>
              <a:t>, </a:t>
            </a:r>
            <a:r>
              <a:rPr dirty="0" err="1"/>
              <a:t>puis</a:t>
            </a:r>
            <a:r>
              <a:rPr dirty="0"/>
              <a:t> </a:t>
            </a:r>
            <a:r>
              <a:rPr dirty="0" err="1"/>
              <a:t>écrit</a:t>
            </a:r>
            <a:r>
              <a:rPr dirty="0"/>
              <a:t> la </a:t>
            </a:r>
            <a:r>
              <a:rPr dirty="0" err="1"/>
              <a:t>décision</a:t>
            </a:r>
            <a:r>
              <a:rPr dirty="0"/>
              <a:t> — allow, review </a:t>
            </a:r>
            <a:r>
              <a:rPr dirty="0" err="1"/>
              <a:t>ou</a:t>
            </a:r>
            <a:r>
              <a:rPr dirty="0"/>
              <a:t> block — avec </a:t>
            </a:r>
            <a:r>
              <a:rPr dirty="0" err="1"/>
              <a:t>une</a:t>
            </a:r>
            <a:r>
              <a:rPr dirty="0"/>
              <a:t> durée de vie de 7 </a:t>
            </a:r>
            <a:r>
              <a:rPr dirty="0" err="1"/>
              <a:t>jours</a:t>
            </a:r>
            <a:r>
              <a:rPr dirty="0"/>
              <a:t> dans DynamoDB. Ce choix </a:t>
            </a:r>
            <a:r>
              <a:rPr dirty="0" err="1"/>
              <a:t>privilégie</a:t>
            </a:r>
            <a:r>
              <a:rPr dirty="0"/>
              <a:t> la </a:t>
            </a:r>
            <a:r>
              <a:rPr dirty="0" err="1"/>
              <a:t>fraîcheur</a:t>
            </a:r>
            <a:r>
              <a:rPr dirty="0"/>
              <a:t> et la </a:t>
            </a:r>
            <a:r>
              <a:rPr dirty="0" err="1"/>
              <a:t>rapidité</a:t>
            </a:r>
            <a:r>
              <a:rPr dirty="0"/>
              <a:t> sur </a:t>
            </a:r>
            <a:r>
              <a:rPr dirty="0" err="1"/>
              <a:t>l'historique</a:t>
            </a:r>
            <a:r>
              <a:rPr dirty="0"/>
              <a:t> long </a:t>
            </a:r>
            <a:r>
              <a:rPr dirty="0" err="1"/>
              <a:t>terme</a:t>
            </a:r>
            <a:r>
              <a:rPr dirty="0"/>
              <a:t> : </a:t>
            </a:r>
            <a:r>
              <a:rPr dirty="0" err="1"/>
              <a:t>l'historique</a:t>
            </a:r>
            <a:r>
              <a:rPr dirty="0"/>
              <a:t> </a:t>
            </a:r>
            <a:r>
              <a:rPr dirty="0" err="1"/>
              <a:t>complet</a:t>
            </a:r>
            <a:r>
              <a:rPr dirty="0"/>
              <a:t> </a:t>
            </a:r>
            <a:r>
              <a:rPr dirty="0" err="1"/>
              <a:t>reste</a:t>
            </a:r>
            <a:r>
              <a:rPr dirty="0"/>
              <a:t> disponible dans le Data Lake S3 pour le </a:t>
            </a:r>
            <a:r>
              <a:rPr dirty="0" err="1"/>
              <a:t>ré-entraînement</a:t>
            </a:r>
            <a:r>
              <a:rPr dirty="0"/>
              <a:t> du </a:t>
            </a:r>
            <a:r>
              <a:rPr dirty="0" err="1"/>
              <a:t>modèle</a:t>
            </a:r>
            <a:r>
              <a:rPr dirty="0"/>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La sécurité est </a:t>
            </a:r>
            <a:r>
              <a:rPr dirty="0" err="1"/>
              <a:t>construite</a:t>
            </a:r>
            <a:r>
              <a:rPr dirty="0"/>
              <a:t> </a:t>
            </a:r>
            <a:r>
              <a:rPr dirty="0" err="1"/>
              <a:t>en</a:t>
            </a:r>
            <a:r>
              <a:rPr dirty="0"/>
              <a:t> </a:t>
            </a:r>
            <a:r>
              <a:rPr dirty="0" err="1"/>
              <a:t>profondeur</a:t>
            </a:r>
            <a:r>
              <a:rPr dirty="0"/>
              <a:t> : le </a:t>
            </a:r>
            <a:r>
              <a:rPr dirty="0" err="1"/>
              <a:t>numéro</a:t>
            </a:r>
            <a:r>
              <a:rPr dirty="0"/>
              <a:t> de carte </a:t>
            </a:r>
            <a:r>
              <a:rPr dirty="0" err="1"/>
              <a:t>bancaire</a:t>
            </a:r>
            <a:r>
              <a:rPr dirty="0"/>
              <a:t> </a:t>
            </a:r>
            <a:r>
              <a:rPr dirty="0" err="1"/>
              <a:t>n'est</a:t>
            </a:r>
            <a:r>
              <a:rPr dirty="0"/>
              <a:t> jamais </a:t>
            </a:r>
            <a:r>
              <a:rPr dirty="0" err="1"/>
              <a:t>stocké</a:t>
            </a:r>
            <a:r>
              <a:rPr dirty="0"/>
              <a:t>, il est </a:t>
            </a:r>
            <a:r>
              <a:rPr dirty="0" err="1"/>
              <a:t>tokenisé</a:t>
            </a:r>
            <a:r>
              <a:rPr dirty="0"/>
              <a:t> </a:t>
            </a:r>
            <a:r>
              <a:rPr dirty="0" err="1"/>
              <a:t>dès</a:t>
            </a:r>
            <a:r>
              <a:rPr dirty="0"/>
              <a:t> </a:t>
            </a:r>
            <a:r>
              <a:rPr dirty="0" err="1"/>
              <a:t>réception</a:t>
            </a:r>
            <a:r>
              <a:rPr dirty="0"/>
              <a:t> et seuls les 4 </a:t>
            </a:r>
            <a:r>
              <a:rPr dirty="0" err="1"/>
              <a:t>derniers</a:t>
            </a:r>
            <a:r>
              <a:rPr dirty="0"/>
              <a:t> chiffres et </a:t>
            </a:r>
            <a:r>
              <a:rPr dirty="0" err="1"/>
              <a:t>une</a:t>
            </a:r>
            <a:r>
              <a:rPr dirty="0"/>
              <a:t> </a:t>
            </a:r>
            <a:r>
              <a:rPr dirty="0" err="1"/>
              <a:t>empreinte</a:t>
            </a:r>
            <a:r>
              <a:rPr dirty="0"/>
              <a:t> non </a:t>
            </a:r>
            <a:r>
              <a:rPr dirty="0" err="1"/>
              <a:t>réversible</a:t>
            </a:r>
            <a:r>
              <a:rPr dirty="0"/>
              <a:t> </a:t>
            </a:r>
            <a:r>
              <a:rPr dirty="0" err="1"/>
              <a:t>sont</a:t>
            </a:r>
            <a:r>
              <a:rPr dirty="0"/>
              <a:t> </a:t>
            </a:r>
            <a:r>
              <a:rPr dirty="0" err="1"/>
              <a:t>conservés</a:t>
            </a:r>
            <a:r>
              <a:rPr dirty="0"/>
              <a:t> — exigence centrale de PCI-DSS </a:t>
            </a:r>
            <a:r>
              <a:rPr dirty="0" err="1"/>
              <a:t>niveau</a:t>
            </a:r>
            <a:r>
              <a:rPr dirty="0"/>
              <a:t> 1. Pour le RGPD, les données </a:t>
            </a:r>
            <a:r>
              <a:rPr dirty="0" err="1"/>
              <a:t>personnelles</a:t>
            </a:r>
            <a:r>
              <a:rPr dirty="0"/>
              <a:t> </a:t>
            </a:r>
            <a:r>
              <a:rPr dirty="0" err="1"/>
              <a:t>sont</a:t>
            </a:r>
            <a:r>
              <a:rPr dirty="0"/>
              <a:t> </a:t>
            </a:r>
            <a:r>
              <a:rPr dirty="0" err="1"/>
              <a:t>chiffrées</a:t>
            </a:r>
            <a:r>
              <a:rPr dirty="0"/>
              <a:t> au </a:t>
            </a:r>
            <a:r>
              <a:rPr dirty="0" err="1"/>
              <a:t>niveau</a:t>
            </a:r>
            <a:r>
              <a:rPr dirty="0"/>
              <a:t> du champ, les données </a:t>
            </a:r>
            <a:r>
              <a:rPr dirty="0" err="1"/>
              <a:t>éphémères</a:t>
            </a:r>
            <a:r>
              <a:rPr dirty="0"/>
              <a:t> </a:t>
            </a:r>
            <a:r>
              <a:rPr dirty="0" err="1"/>
              <a:t>ont</a:t>
            </a:r>
            <a:r>
              <a:rPr dirty="0"/>
              <a:t> </a:t>
            </a:r>
            <a:r>
              <a:rPr dirty="0" err="1"/>
              <a:t>une</a:t>
            </a:r>
            <a:r>
              <a:rPr dirty="0"/>
              <a:t> durée de vie </a:t>
            </a:r>
            <a:r>
              <a:rPr dirty="0" err="1"/>
              <a:t>limitée</a:t>
            </a:r>
            <a:r>
              <a:rPr dirty="0"/>
              <a:t> (TTL), et le droit à </a:t>
            </a:r>
            <a:r>
              <a:rPr dirty="0" err="1"/>
              <a:t>l'oubli</a:t>
            </a:r>
            <a:r>
              <a:rPr dirty="0"/>
              <a:t> </a:t>
            </a:r>
            <a:r>
              <a:rPr dirty="0" err="1"/>
              <a:t>déclenche</a:t>
            </a:r>
            <a:r>
              <a:rPr dirty="0"/>
              <a:t> </a:t>
            </a:r>
            <a:r>
              <a:rPr dirty="0" err="1"/>
              <a:t>une</a:t>
            </a:r>
            <a:r>
              <a:rPr dirty="0"/>
              <a:t> </a:t>
            </a:r>
            <a:r>
              <a:rPr dirty="0" err="1"/>
              <a:t>anonymisation</a:t>
            </a:r>
            <a:r>
              <a:rPr dirty="0"/>
              <a:t> </a:t>
            </a:r>
            <a:r>
              <a:rPr dirty="0" err="1"/>
              <a:t>en</a:t>
            </a:r>
            <a:r>
              <a:rPr dirty="0"/>
              <a:t> cascade sur les trois </a:t>
            </a:r>
            <a:r>
              <a:rPr dirty="0" err="1"/>
              <a:t>systèmes</a:t>
            </a:r>
            <a:r>
              <a:rPr dirty="0"/>
              <a:t>. </a:t>
            </a:r>
            <a:r>
              <a:rPr dirty="0" err="1"/>
              <a:t>Ces</a:t>
            </a:r>
            <a:r>
              <a:rPr dirty="0"/>
              <a:t> exigences ne </a:t>
            </a:r>
            <a:r>
              <a:rPr dirty="0" err="1"/>
              <a:t>freinent</a:t>
            </a:r>
            <a:r>
              <a:rPr dirty="0"/>
              <a:t> pas la </a:t>
            </a:r>
            <a:r>
              <a:rPr dirty="0" err="1"/>
              <a:t>scalabilité</a:t>
            </a:r>
            <a:r>
              <a:rPr dirty="0"/>
              <a:t> : Aurora, Redshift et DynamoDB </a:t>
            </a:r>
            <a:r>
              <a:rPr dirty="0" err="1"/>
              <a:t>montent</a:t>
            </a:r>
            <a:r>
              <a:rPr dirty="0"/>
              <a:t> </a:t>
            </a:r>
            <a:r>
              <a:rPr dirty="0" err="1"/>
              <a:t>en</a:t>
            </a:r>
            <a:r>
              <a:rPr dirty="0"/>
              <a:t> charge </a:t>
            </a:r>
            <a:r>
              <a:rPr dirty="0" err="1"/>
              <a:t>automatiquement</a:t>
            </a:r>
            <a:r>
              <a:rPr dirty="0"/>
              <a:t>, sans intervention </a:t>
            </a:r>
            <a:r>
              <a:rPr dirty="0" err="1"/>
              <a:t>manuelle</a:t>
            </a:r>
            <a:r>
              <a:rPr dirty="0"/>
              <a:t>, y </a:t>
            </a:r>
            <a:r>
              <a:rPr dirty="0" err="1"/>
              <a:t>compris</a:t>
            </a:r>
            <a:r>
              <a:rPr dirty="0"/>
              <a:t> </a:t>
            </a:r>
            <a:r>
              <a:rPr dirty="0" err="1"/>
              <a:t>lors</a:t>
            </a:r>
            <a:r>
              <a:rPr dirty="0"/>
              <a:t> des pics de </a:t>
            </a:r>
            <a:r>
              <a:rPr dirty="0" err="1"/>
              <a:t>trafic</a:t>
            </a:r>
            <a:r>
              <a:rPr dirty="0"/>
              <a:t> </a:t>
            </a:r>
            <a:r>
              <a:rPr dirty="0" err="1"/>
              <a:t>comme</a:t>
            </a:r>
            <a:r>
              <a:rPr dirty="0"/>
              <a:t> le Black Friday.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 cycle de vie du </a:t>
            </a:r>
            <a:r>
              <a:rPr dirty="0" err="1"/>
              <a:t>modèle</a:t>
            </a:r>
            <a:r>
              <a:rPr dirty="0"/>
              <a:t> de </a:t>
            </a:r>
            <a:r>
              <a:rPr dirty="0" err="1"/>
              <a:t>détection</a:t>
            </a:r>
            <a:r>
              <a:rPr dirty="0"/>
              <a:t> de </a:t>
            </a:r>
            <a:r>
              <a:rPr dirty="0" err="1"/>
              <a:t>fraude</a:t>
            </a:r>
            <a:r>
              <a:rPr dirty="0"/>
              <a:t> est </a:t>
            </a:r>
            <a:r>
              <a:rPr dirty="0" err="1"/>
              <a:t>piloté</a:t>
            </a:r>
            <a:r>
              <a:rPr dirty="0"/>
              <a:t> de bout </a:t>
            </a:r>
            <a:r>
              <a:rPr dirty="0" err="1"/>
              <a:t>en</a:t>
            </a:r>
            <a:r>
              <a:rPr dirty="0"/>
              <a:t> bout : </a:t>
            </a:r>
            <a:r>
              <a:rPr dirty="0" err="1"/>
              <a:t>chaque</a:t>
            </a:r>
            <a:r>
              <a:rPr dirty="0"/>
              <a:t> score </a:t>
            </a:r>
            <a:r>
              <a:rPr dirty="0" err="1"/>
              <a:t>porte</a:t>
            </a:r>
            <a:r>
              <a:rPr dirty="0"/>
              <a:t> la version du </a:t>
            </a:r>
            <a:r>
              <a:rPr dirty="0" err="1"/>
              <a:t>modèle</a:t>
            </a:r>
            <a:r>
              <a:rPr dirty="0"/>
              <a:t> qui </a:t>
            </a:r>
            <a:r>
              <a:rPr dirty="0" err="1"/>
              <a:t>l'a</a:t>
            </a:r>
            <a:r>
              <a:rPr dirty="0"/>
              <a:t> </a:t>
            </a:r>
            <a:r>
              <a:rPr dirty="0" err="1"/>
              <a:t>produit</a:t>
            </a:r>
            <a:r>
              <a:rPr dirty="0"/>
              <a:t>, </a:t>
            </a:r>
            <a:r>
              <a:rPr dirty="0" err="1"/>
              <a:t>ce</a:t>
            </a:r>
            <a:r>
              <a:rPr dirty="0"/>
              <a:t> qui </a:t>
            </a:r>
            <a:r>
              <a:rPr dirty="0" err="1"/>
              <a:t>permet</a:t>
            </a:r>
            <a:r>
              <a:rPr dirty="0"/>
              <a:t> le rollback et </a:t>
            </a:r>
            <a:r>
              <a:rPr dirty="0" err="1"/>
              <a:t>l'analyse</a:t>
            </a:r>
            <a:r>
              <a:rPr dirty="0"/>
              <a:t> comparative. Un nouveau </a:t>
            </a:r>
            <a:r>
              <a:rPr dirty="0" err="1"/>
              <a:t>modèle</a:t>
            </a:r>
            <a:r>
              <a:rPr dirty="0"/>
              <a:t> est </a:t>
            </a:r>
            <a:r>
              <a:rPr dirty="0" err="1"/>
              <a:t>déployé</a:t>
            </a:r>
            <a:r>
              <a:rPr dirty="0"/>
              <a:t> sur 10 % du </a:t>
            </a:r>
            <a:r>
              <a:rPr dirty="0" err="1"/>
              <a:t>trafic</a:t>
            </a:r>
            <a:r>
              <a:rPr dirty="0"/>
              <a:t> avant bascule </a:t>
            </a:r>
            <a:r>
              <a:rPr dirty="0" err="1"/>
              <a:t>complète</a:t>
            </a:r>
            <a:r>
              <a:rPr dirty="0"/>
              <a:t> (test A/B). </a:t>
            </a:r>
            <a:r>
              <a:rPr dirty="0" err="1"/>
              <a:t>Chaque</a:t>
            </a:r>
            <a:r>
              <a:rPr dirty="0"/>
              <a:t> score est </a:t>
            </a:r>
            <a:r>
              <a:rPr dirty="0" err="1"/>
              <a:t>accompagné</a:t>
            </a:r>
            <a:r>
              <a:rPr dirty="0"/>
              <a:t> de </a:t>
            </a:r>
            <a:r>
              <a:rPr dirty="0" err="1"/>
              <a:t>ses</a:t>
            </a:r>
            <a:r>
              <a:rPr dirty="0"/>
              <a:t> </a:t>
            </a:r>
            <a:r>
              <a:rPr dirty="0" err="1"/>
              <a:t>valeurs</a:t>
            </a:r>
            <a:r>
              <a:rPr dirty="0"/>
              <a:t> SHAP, </a:t>
            </a:r>
            <a:r>
              <a:rPr dirty="0" err="1"/>
              <a:t>assurant</a:t>
            </a:r>
            <a:r>
              <a:rPr dirty="0"/>
              <a:t> </a:t>
            </a:r>
            <a:r>
              <a:rPr dirty="0" err="1"/>
              <a:t>l'explicabilité</a:t>
            </a:r>
            <a:r>
              <a:rPr dirty="0"/>
              <a:t> </a:t>
            </a:r>
            <a:r>
              <a:rPr dirty="0" err="1"/>
              <a:t>nécessaire</a:t>
            </a:r>
            <a:r>
              <a:rPr dirty="0"/>
              <a:t> à </a:t>
            </a:r>
            <a:r>
              <a:rPr dirty="0" err="1"/>
              <a:t>l'audit</a:t>
            </a:r>
            <a:r>
              <a:rPr dirty="0"/>
              <a:t> et à la revue humaine des </a:t>
            </a:r>
            <a:r>
              <a:rPr dirty="0" err="1"/>
              <a:t>décisions</a:t>
            </a:r>
            <a:r>
              <a:rPr dirty="0"/>
              <a:t> </a:t>
            </a:r>
            <a:r>
              <a:rPr dirty="0" err="1"/>
              <a:t>bloquées</a:t>
            </a:r>
            <a:r>
              <a:rPr dirty="0"/>
              <a:t>. Une </a:t>
            </a:r>
            <a:r>
              <a:rPr dirty="0" err="1"/>
              <a:t>alerte</a:t>
            </a:r>
            <a:r>
              <a:rPr dirty="0"/>
              <a:t> de </a:t>
            </a:r>
            <a:r>
              <a:rPr dirty="0" err="1"/>
              <a:t>dérive</a:t>
            </a:r>
            <a:r>
              <a:rPr dirty="0"/>
              <a:t> se </a:t>
            </a:r>
            <a:r>
              <a:rPr dirty="0" err="1"/>
              <a:t>déclenche</a:t>
            </a:r>
            <a:r>
              <a:rPr dirty="0"/>
              <a:t> </a:t>
            </a:r>
            <a:r>
              <a:rPr dirty="0" err="1"/>
              <a:t>automatiquement</a:t>
            </a:r>
            <a:r>
              <a:rPr dirty="0"/>
              <a:t> </a:t>
            </a:r>
            <a:r>
              <a:rPr dirty="0" err="1"/>
              <a:t>si</a:t>
            </a:r>
            <a:r>
              <a:rPr dirty="0"/>
              <a:t> le score de </a:t>
            </a:r>
            <a:r>
              <a:rPr dirty="0" err="1"/>
              <a:t>fraude</a:t>
            </a:r>
            <a:r>
              <a:rPr dirty="0"/>
              <a:t> moyen </a:t>
            </a:r>
            <a:r>
              <a:rPr dirty="0" err="1"/>
              <a:t>dépasse</a:t>
            </a:r>
            <a:r>
              <a:rPr dirty="0"/>
              <a:t> 0,5 sur </a:t>
            </a:r>
            <a:r>
              <a:rPr dirty="0" err="1"/>
              <a:t>une</a:t>
            </a:r>
            <a:r>
              <a:rPr dirty="0"/>
              <a:t> </a:t>
            </a:r>
            <a:r>
              <a:rPr dirty="0" err="1"/>
              <a:t>fenêtre</a:t>
            </a:r>
            <a:r>
              <a:rPr dirty="0"/>
              <a:t> </a:t>
            </a:r>
            <a:r>
              <a:rPr dirty="0" err="1"/>
              <a:t>d'une</a:t>
            </a:r>
            <a:r>
              <a:rPr dirty="0"/>
              <a:t> </a:t>
            </a:r>
            <a:r>
              <a:rPr dirty="0" err="1"/>
              <a:t>heure</a:t>
            </a:r>
            <a:r>
              <a:rPr dirty="0"/>
              <a:t>, </a:t>
            </a:r>
            <a:r>
              <a:rPr dirty="0" err="1"/>
              <a:t>déclenchant</a:t>
            </a:r>
            <a:r>
              <a:rPr dirty="0"/>
              <a:t> </a:t>
            </a:r>
            <a:r>
              <a:rPr dirty="0" err="1"/>
              <a:t>une</a:t>
            </a:r>
            <a:r>
              <a:rPr dirty="0"/>
              <a:t> revue du </a:t>
            </a:r>
            <a:r>
              <a:rPr dirty="0" err="1"/>
              <a:t>modèle</a:t>
            </a:r>
            <a:r>
              <a:rPr dirty="0"/>
              <a:t> avant toute </a:t>
            </a:r>
            <a:r>
              <a:rPr dirty="0" err="1"/>
              <a:t>dégradation</a:t>
            </a:r>
            <a:r>
              <a:rPr dirty="0"/>
              <a:t> visible </a:t>
            </a:r>
            <a:r>
              <a:rPr dirty="0" err="1"/>
              <a:t>en</a:t>
            </a:r>
            <a:r>
              <a:rPr dirty="0"/>
              <a:t> production.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9E32-0209-ADAE-E288-100E8B475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475F4-5A94-3C9E-49C4-DBF35291D9F9}"/>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0BB1A719-7144-D54C-1AB6-90EE76B857A6}"/>
              </a:ext>
            </a:extLst>
          </p:cNvPr>
          <p:cNvSpPr>
            <a:spLocks noGrp="1"/>
          </p:cNvSpPr>
          <p:nvPr>
            <p:ph type="body" idx="1"/>
          </p:nvPr>
        </p:nvSpPr>
        <p:spPr/>
        <p:txBody>
          <a:bodyPr/>
          <a:lstStyle/>
          <a:p>
            <a:r>
              <a:rPr dirty="0"/>
              <a:t>Le cycle de vie du </a:t>
            </a:r>
            <a:r>
              <a:rPr dirty="0" err="1"/>
              <a:t>modèle</a:t>
            </a:r>
            <a:r>
              <a:rPr dirty="0"/>
              <a:t> de </a:t>
            </a:r>
            <a:r>
              <a:rPr dirty="0" err="1"/>
              <a:t>détection</a:t>
            </a:r>
            <a:r>
              <a:rPr dirty="0"/>
              <a:t> de </a:t>
            </a:r>
            <a:r>
              <a:rPr dirty="0" err="1"/>
              <a:t>fraude</a:t>
            </a:r>
            <a:r>
              <a:rPr dirty="0"/>
              <a:t> est </a:t>
            </a:r>
            <a:r>
              <a:rPr dirty="0" err="1"/>
              <a:t>piloté</a:t>
            </a:r>
            <a:r>
              <a:rPr dirty="0"/>
              <a:t> de bout </a:t>
            </a:r>
            <a:r>
              <a:rPr dirty="0" err="1"/>
              <a:t>en</a:t>
            </a:r>
            <a:r>
              <a:rPr dirty="0"/>
              <a:t> bout : </a:t>
            </a:r>
            <a:r>
              <a:rPr dirty="0" err="1"/>
              <a:t>chaque</a:t>
            </a:r>
            <a:r>
              <a:rPr dirty="0"/>
              <a:t> score </a:t>
            </a:r>
            <a:r>
              <a:rPr dirty="0" err="1"/>
              <a:t>porte</a:t>
            </a:r>
            <a:r>
              <a:rPr dirty="0"/>
              <a:t> la version du </a:t>
            </a:r>
            <a:r>
              <a:rPr dirty="0" err="1"/>
              <a:t>modèle</a:t>
            </a:r>
            <a:r>
              <a:rPr dirty="0"/>
              <a:t> qui </a:t>
            </a:r>
            <a:r>
              <a:rPr dirty="0" err="1"/>
              <a:t>l'a</a:t>
            </a:r>
            <a:r>
              <a:rPr dirty="0"/>
              <a:t> </a:t>
            </a:r>
            <a:r>
              <a:rPr dirty="0" err="1"/>
              <a:t>produit</a:t>
            </a:r>
            <a:r>
              <a:rPr dirty="0"/>
              <a:t>, </a:t>
            </a:r>
            <a:r>
              <a:rPr dirty="0" err="1"/>
              <a:t>ce</a:t>
            </a:r>
            <a:r>
              <a:rPr dirty="0"/>
              <a:t> qui </a:t>
            </a:r>
            <a:r>
              <a:rPr dirty="0" err="1"/>
              <a:t>permet</a:t>
            </a:r>
            <a:r>
              <a:rPr dirty="0"/>
              <a:t> le rollback et </a:t>
            </a:r>
            <a:r>
              <a:rPr dirty="0" err="1"/>
              <a:t>l'analyse</a:t>
            </a:r>
            <a:r>
              <a:rPr dirty="0"/>
              <a:t> comparative. Un nouveau </a:t>
            </a:r>
            <a:r>
              <a:rPr dirty="0" err="1"/>
              <a:t>modèle</a:t>
            </a:r>
            <a:r>
              <a:rPr dirty="0"/>
              <a:t> est </a:t>
            </a:r>
            <a:r>
              <a:rPr dirty="0" err="1"/>
              <a:t>déployé</a:t>
            </a:r>
            <a:r>
              <a:rPr dirty="0"/>
              <a:t> sur 10 % du </a:t>
            </a:r>
            <a:r>
              <a:rPr dirty="0" err="1"/>
              <a:t>trafic</a:t>
            </a:r>
            <a:r>
              <a:rPr dirty="0"/>
              <a:t> avant bascule </a:t>
            </a:r>
            <a:r>
              <a:rPr dirty="0" err="1"/>
              <a:t>complète</a:t>
            </a:r>
            <a:r>
              <a:rPr dirty="0"/>
              <a:t> (test A/B). </a:t>
            </a:r>
            <a:r>
              <a:rPr dirty="0" err="1"/>
              <a:t>Chaque</a:t>
            </a:r>
            <a:r>
              <a:rPr dirty="0"/>
              <a:t> score est </a:t>
            </a:r>
            <a:r>
              <a:rPr dirty="0" err="1"/>
              <a:t>accompagné</a:t>
            </a:r>
            <a:r>
              <a:rPr dirty="0"/>
              <a:t> de </a:t>
            </a:r>
            <a:r>
              <a:rPr dirty="0" err="1"/>
              <a:t>ses</a:t>
            </a:r>
            <a:r>
              <a:rPr dirty="0"/>
              <a:t> </a:t>
            </a:r>
            <a:r>
              <a:rPr dirty="0" err="1"/>
              <a:t>valeurs</a:t>
            </a:r>
            <a:r>
              <a:rPr dirty="0"/>
              <a:t> SHAP, </a:t>
            </a:r>
            <a:r>
              <a:rPr dirty="0" err="1"/>
              <a:t>assurant</a:t>
            </a:r>
            <a:r>
              <a:rPr dirty="0"/>
              <a:t> </a:t>
            </a:r>
            <a:r>
              <a:rPr dirty="0" err="1"/>
              <a:t>l'explicabilité</a:t>
            </a:r>
            <a:r>
              <a:rPr dirty="0"/>
              <a:t> </a:t>
            </a:r>
            <a:r>
              <a:rPr dirty="0" err="1"/>
              <a:t>nécessaire</a:t>
            </a:r>
            <a:r>
              <a:rPr dirty="0"/>
              <a:t> à </a:t>
            </a:r>
            <a:r>
              <a:rPr dirty="0" err="1"/>
              <a:t>l'audit</a:t>
            </a:r>
            <a:r>
              <a:rPr dirty="0"/>
              <a:t> et à la revue humaine des </a:t>
            </a:r>
            <a:r>
              <a:rPr dirty="0" err="1"/>
              <a:t>décisions</a:t>
            </a:r>
            <a:r>
              <a:rPr dirty="0"/>
              <a:t> </a:t>
            </a:r>
            <a:r>
              <a:rPr dirty="0" err="1"/>
              <a:t>bloquées</a:t>
            </a:r>
            <a:r>
              <a:rPr dirty="0"/>
              <a:t>. Une </a:t>
            </a:r>
            <a:r>
              <a:rPr dirty="0" err="1"/>
              <a:t>alerte</a:t>
            </a:r>
            <a:r>
              <a:rPr dirty="0"/>
              <a:t> de </a:t>
            </a:r>
            <a:r>
              <a:rPr dirty="0" err="1"/>
              <a:t>dérive</a:t>
            </a:r>
            <a:r>
              <a:rPr dirty="0"/>
              <a:t> se </a:t>
            </a:r>
            <a:r>
              <a:rPr dirty="0" err="1"/>
              <a:t>déclenche</a:t>
            </a:r>
            <a:r>
              <a:rPr dirty="0"/>
              <a:t> </a:t>
            </a:r>
            <a:r>
              <a:rPr dirty="0" err="1"/>
              <a:t>automatiquement</a:t>
            </a:r>
            <a:r>
              <a:rPr dirty="0"/>
              <a:t> </a:t>
            </a:r>
            <a:r>
              <a:rPr dirty="0" err="1"/>
              <a:t>si</a:t>
            </a:r>
            <a:r>
              <a:rPr dirty="0"/>
              <a:t> le score de </a:t>
            </a:r>
            <a:r>
              <a:rPr dirty="0" err="1"/>
              <a:t>fraude</a:t>
            </a:r>
            <a:r>
              <a:rPr dirty="0"/>
              <a:t> moyen </a:t>
            </a:r>
            <a:r>
              <a:rPr dirty="0" err="1"/>
              <a:t>dépasse</a:t>
            </a:r>
            <a:r>
              <a:rPr dirty="0"/>
              <a:t> 0,5 sur </a:t>
            </a:r>
            <a:r>
              <a:rPr dirty="0" err="1"/>
              <a:t>une</a:t>
            </a:r>
            <a:r>
              <a:rPr dirty="0"/>
              <a:t> </a:t>
            </a:r>
            <a:r>
              <a:rPr dirty="0" err="1"/>
              <a:t>fenêtre</a:t>
            </a:r>
            <a:r>
              <a:rPr dirty="0"/>
              <a:t> </a:t>
            </a:r>
            <a:r>
              <a:rPr dirty="0" err="1"/>
              <a:t>d'une</a:t>
            </a:r>
            <a:r>
              <a:rPr dirty="0"/>
              <a:t> </a:t>
            </a:r>
            <a:r>
              <a:rPr dirty="0" err="1"/>
              <a:t>heure</a:t>
            </a:r>
            <a:r>
              <a:rPr dirty="0"/>
              <a:t>, </a:t>
            </a:r>
            <a:r>
              <a:rPr dirty="0" err="1"/>
              <a:t>déclenchant</a:t>
            </a:r>
            <a:r>
              <a:rPr dirty="0"/>
              <a:t> </a:t>
            </a:r>
            <a:r>
              <a:rPr dirty="0" err="1"/>
              <a:t>une</a:t>
            </a:r>
            <a:r>
              <a:rPr dirty="0"/>
              <a:t> revue du </a:t>
            </a:r>
            <a:r>
              <a:rPr dirty="0" err="1"/>
              <a:t>modèle</a:t>
            </a:r>
            <a:r>
              <a:rPr dirty="0"/>
              <a:t> avant toute </a:t>
            </a:r>
            <a:r>
              <a:rPr dirty="0" err="1"/>
              <a:t>dégradation</a:t>
            </a:r>
            <a:r>
              <a:rPr dirty="0"/>
              <a:t> visible </a:t>
            </a:r>
            <a:r>
              <a:rPr dirty="0" err="1"/>
              <a:t>en</a:t>
            </a:r>
            <a:r>
              <a:rPr dirty="0"/>
              <a:t> production.</a:t>
            </a:r>
          </a:p>
        </p:txBody>
      </p:sp>
    </p:spTree>
    <p:extLst>
      <p:ext uri="{BB962C8B-B14F-4D97-AF65-F5344CB8AC3E}">
        <p14:creationId xmlns:p14="http://schemas.microsoft.com/office/powerpoint/2010/main" val="20447693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Ces</a:t>
            </a:r>
            <a:r>
              <a:rPr dirty="0"/>
              <a:t> engagements ne </a:t>
            </a:r>
            <a:r>
              <a:rPr dirty="0" err="1"/>
              <a:t>sont</a:t>
            </a:r>
            <a:r>
              <a:rPr dirty="0"/>
              <a:t> pas </a:t>
            </a:r>
            <a:r>
              <a:rPr dirty="0" err="1"/>
              <a:t>théoriques</a:t>
            </a:r>
            <a:r>
              <a:rPr dirty="0"/>
              <a:t> : </a:t>
            </a:r>
            <a:r>
              <a:rPr dirty="0" err="1"/>
              <a:t>ils</a:t>
            </a:r>
            <a:r>
              <a:rPr dirty="0"/>
              <a:t> </a:t>
            </a:r>
            <a:r>
              <a:rPr dirty="0" err="1"/>
              <a:t>sont</a:t>
            </a:r>
            <a:r>
              <a:rPr dirty="0"/>
              <a:t> </a:t>
            </a:r>
            <a:r>
              <a:rPr dirty="0" err="1"/>
              <a:t>vérifiés</a:t>
            </a:r>
            <a:r>
              <a:rPr dirty="0"/>
              <a:t> </a:t>
            </a:r>
            <a:r>
              <a:rPr dirty="0" err="1"/>
              <a:t>en</a:t>
            </a:r>
            <a:r>
              <a:rPr dirty="0"/>
              <a:t> </a:t>
            </a:r>
            <a:r>
              <a:rPr dirty="0" err="1"/>
              <a:t>continu</a:t>
            </a:r>
            <a:r>
              <a:rPr dirty="0"/>
              <a:t>. Le dernier test de failover </a:t>
            </a:r>
            <a:r>
              <a:rPr dirty="0" err="1"/>
              <a:t>d'Aurora</a:t>
            </a:r>
            <a:r>
              <a:rPr dirty="0"/>
              <a:t>, </a:t>
            </a:r>
            <a:r>
              <a:rPr dirty="0" err="1"/>
              <a:t>réalisé</a:t>
            </a:r>
            <a:r>
              <a:rPr dirty="0"/>
              <a:t> </a:t>
            </a:r>
            <a:r>
              <a:rPr dirty="0" err="1"/>
              <a:t>lors</a:t>
            </a:r>
            <a:r>
              <a:rPr dirty="0"/>
              <a:t> d'un GameDay </a:t>
            </a:r>
            <a:r>
              <a:rPr dirty="0" err="1"/>
              <a:t>mensuel</a:t>
            </a:r>
            <a:r>
              <a:rPr dirty="0"/>
              <a:t>, a pris 22 </a:t>
            </a:r>
            <a:r>
              <a:rPr dirty="0" err="1"/>
              <a:t>secondes</a:t>
            </a:r>
            <a:r>
              <a:rPr dirty="0"/>
              <a:t>, sous </a:t>
            </a:r>
            <a:r>
              <a:rPr dirty="0" err="1"/>
              <a:t>l'engagement</a:t>
            </a:r>
            <a:r>
              <a:rPr dirty="0"/>
              <a:t> de 30 </a:t>
            </a:r>
            <a:r>
              <a:rPr dirty="0" err="1"/>
              <a:t>secondes</a:t>
            </a:r>
            <a:r>
              <a:rPr dirty="0"/>
              <a:t>. </a:t>
            </a:r>
            <a:r>
              <a:rPr dirty="0" err="1"/>
              <a:t>L'ensemble</a:t>
            </a:r>
            <a:r>
              <a:rPr dirty="0"/>
              <a:t> de </a:t>
            </a:r>
            <a:r>
              <a:rPr dirty="0" err="1"/>
              <a:t>l'infrastructure</a:t>
            </a:r>
            <a:r>
              <a:rPr dirty="0"/>
              <a:t> est </a:t>
            </a:r>
            <a:r>
              <a:rPr dirty="0" err="1"/>
              <a:t>décrit</a:t>
            </a:r>
            <a:r>
              <a:rPr dirty="0"/>
              <a:t> </a:t>
            </a:r>
            <a:r>
              <a:rPr dirty="0" err="1"/>
              <a:t>en</a:t>
            </a:r>
            <a:r>
              <a:rPr dirty="0"/>
              <a:t> Infrastructure as Code avec Terraform, </a:t>
            </a:r>
            <a:r>
              <a:rPr dirty="0" err="1"/>
              <a:t>versionné</a:t>
            </a:r>
            <a:r>
              <a:rPr dirty="0"/>
              <a:t> dans Git, avec des </a:t>
            </a:r>
            <a:r>
              <a:rPr dirty="0" err="1"/>
              <a:t>environnements</a:t>
            </a:r>
            <a:r>
              <a:rPr dirty="0"/>
              <a:t> de staging </a:t>
            </a:r>
            <a:r>
              <a:rPr dirty="0" err="1"/>
              <a:t>strictement</a:t>
            </a:r>
            <a:r>
              <a:rPr dirty="0"/>
              <a:t> </a:t>
            </a:r>
            <a:r>
              <a:rPr dirty="0" err="1"/>
              <a:t>identiques</a:t>
            </a:r>
            <a:r>
              <a:rPr dirty="0"/>
              <a:t> à la production. </a:t>
            </a:r>
            <a:r>
              <a:rPr dirty="0" err="1"/>
              <a:t>Chaque</a:t>
            </a:r>
            <a:r>
              <a:rPr dirty="0"/>
              <a:t> changement de </a:t>
            </a:r>
            <a:r>
              <a:rPr dirty="0" err="1"/>
              <a:t>schéma</a:t>
            </a:r>
            <a:r>
              <a:rPr dirty="0"/>
              <a:t> passe par un </a:t>
            </a:r>
            <a:r>
              <a:rPr dirty="0" err="1"/>
              <a:t>déploiement</a:t>
            </a:r>
            <a:r>
              <a:rPr dirty="0"/>
              <a:t> Blue-Green </a:t>
            </a:r>
            <a:r>
              <a:rPr dirty="0" err="1"/>
              <a:t>d'Aurora</a:t>
            </a:r>
            <a:r>
              <a:rPr dirty="0"/>
              <a:t>, sans interruption de service pour les </a:t>
            </a:r>
            <a:r>
              <a:rPr dirty="0" err="1"/>
              <a:t>marchands</a:t>
            </a:r>
            <a:r>
              <a:rPr dirty="0"/>
              <a:t>. </a:t>
            </a:r>
            <a:r>
              <a:rPr dirty="0" err="1"/>
              <a:t>C'est</a:t>
            </a:r>
            <a:r>
              <a:rPr dirty="0"/>
              <a:t> </a:t>
            </a:r>
            <a:r>
              <a:rPr dirty="0" err="1"/>
              <a:t>cette</a:t>
            </a:r>
            <a:r>
              <a:rPr dirty="0"/>
              <a:t> discipline </a:t>
            </a:r>
            <a:r>
              <a:rPr dirty="0" err="1"/>
              <a:t>opérationnelle</a:t>
            </a:r>
            <a:r>
              <a:rPr dirty="0"/>
              <a:t> qui </a:t>
            </a:r>
            <a:r>
              <a:rPr dirty="0" err="1"/>
              <a:t>transforme</a:t>
            </a:r>
            <a:r>
              <a:rPr dirty="0"/>
              <a:t> des chiffres de SLA </a:t>
            </a:r>
            <a:r>
              <a:rPr dirty="0" err="1"/>
              <a:t>en</a:t>
            </a:r>
            <a:r>
              <a:rPr dirty="0"/>
              <a:t> </a:t>
            </a:r>
            <a:r>
              <a:rPr dirty="0" err="1"/>
              <a:t>garanties</a:t>
            </a:r>
            <a:r>
              <a:rPr dirty="0"/>
              <a:t> </a:t>
            </a:r>
            <a:r>
              <a:rPr dirty="0" err="1"/>
              <a:t>réellement</a:t>
            </a:r>
            <a:r>
              <a:rPr dirty="0"/>
              <a:t> tenues.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En </a:t>
            </a:r>
            <a:r>
              <a:rPr dirty="0" err="1"/>
              <a:t>synthèse</a:t>
            </a:r>
            <a:r>
              <a:rPr dirty="0"/>
              <a:t>, </a:t>
            </a:r>
            <a:r>
              <a:rPr dirty="0" err="1"/>
              <a:t>cette</a:t>
            </a:r>
            <a:r>
              <a:rPr dirty="0"/>
              <a:t> architecture </a:t>
            </a:r>
            <a:r>
              <a:rPr dirty="0" err="1"/>
              <a:t>répond</a:t>
            </a:r>
            <a:r>
              <a:rPr dirty="0"/>
              <a:t> aux </a:t>
            </a:r>
            <a:r>
              <a:rPr dirty="0" err="1"/>
              <a:t>contraintes</a:t>
            </a:r>
            <a:r>
              <a:rPr dirty="0"/>
              <a:t> d'un </a:t>
            </a:r>
            <a:r>
              <a:rPr dirty="0" err="1"/>
              <a:t>système</a:t>
            </a:r>
            <a:r>
              <a:rPr dirty="0"/>
              <a:t> financier critique — </a:t>
            </a:r>
            <a:r>
              <a:rPr dirty="0" err="1"/>
              <a:t>fiabilité</a:t>
            </a:r>
            <a:r>
              <a:rPr dirty="0"/>
              <a:t>, performance et </a:t>
            </a:r>
            <a:r>
              <a:rPr dirty="0" err="1"/>
              <a:t>conformité</a:t>
            </a:r>
            <a:r>
              <a:rPr dirty="0"/>
              <a:t> — sans </a:t>
            </a:r>
            <a:r>
              <a:rPr dirty="0" err="1"/>
              <a:t>sacrifier</a:t>
            </a:r>
            <a:r>
              <a:rPr dirty="0"/>
              <a:t> la </a:t>
            </a:r>
            <a:r>
              <a:rPr dirty="0" err="1"/>
              <a:t>capacité</a:t>
            </a:r>
            <a:r>
              <a:rPr dirty="0"/>
              <a:t> à </a:t>
            </a:r>
            <a:r>
              <a:rPr dirty="0" err="1"/>
              <a:t>évoluer</a:t>
            </a:r>
            <a:r>
              <a:rPr dirty="0"/>
              <a:t>. Elle </a:t>
            </a:r>
            <a:r>
              <a:rPr dirty="0" err="1"/>
              <a:t>illustre</a:t>
            </a:r>
            <a:r>
              <a:rPr dirty="0"/>
              <a:t> un </a:t>
            </a:r>
            <a:r>
              <a:rPr dirty="0" err="1"/>
              <a:t>principe</a:t>
            </a:r>
            <a:r>
              <a:rPr dirty="0"/>
              <a:t> central de </a:t>
            </a:r>
            <a:r>
              <a:rPr dirty="0" err="1"/>
              <a:t>l'architecture</a:t>
            </a:r>
            <a:r>
              <a:rPr dirty="0"/>
              <a:t> de données pour </a:t>
            </a:r>
            <a:r>
              <a:rPr dirty="0" err="1"/>
              <a:t>l'IA</a:t>
            </a:r>
            <a:r>
              <a:rPr dirty="0"/>
              <a:t> : </a:t>
            </a:r>
            <a:r>
              <a:rPr dirty="0" err="1"/>
              <a:t>choisir</a:t>
            </a:r>
            <a:r>
              <a:rPr dirty="0"/>
              <a:t> la bonne </a:t>
            </a:r>
            <a:r>
              <a:rPr dirty="0" err="1"/>
              <a:t>technologie</a:t>
            </a:r>
            <a:r>
              <a:rPr dirty="0"/>
              <a:t> pour </a:t>
            </a:r>
            <a:r>
              <a:rPr dirty="0" err="1"/>
              <a:t>chaque</a:t>
            </a:r>
            <a:r>
              <a:rPr dirty="0"/>
              <a:t> usage </a:t>
            </a:r>
            <a:r>
              <a:rPr dirty="0" err="1"/>
              <a:t>plutôt</a:t>
            </a:r>
            <a:r>
              <a:rPr dirty="0"/>
              <a:t> </a:t>
            </a:r>
            <a:r>
              <a:rPr dirty="0" err="1"/>
              <a:t>qu'un</a:t>
            </a:r>
            <a:r>
              <a:rPr dirty="0"/>
              <a:t> </a:t>
            </a:r>
            <a:r>
              <a:rPr dirty="0" err="1"/>
              <a:t>système</a:t>
            </a:r>
            <a:r>
              <a:rPr dirty="0"/>
              <a:t> unique polyvalent, et les </a:t>
            </a:r>
            <a:r>
              <a:rPr dirty="0" err="1"/>
              <a:t>synchroniser</a:t>
            </a:r>
            <a:r>
              <a:rPr dirty="0"/>
              <a:t> par un pipeline de données </a:t>
            </a:r>
            <a:r>
              <a:rPr dirty="0" err="1"/>
              <a:t>robuste</a:t>
            </a:r>
            <a:r>
              <a:rPr dirty="0"/>
              <a:t> </a:t>
            </a:r>
            <a:r>
              <a:rPr dirty="0" err="1"/>
              <a:t>plutôt</a:t>
            </a:r>
            <a:r>
              <a:rPr dirty="0"/>
              <a:t> </a:t>
            </a:r>
            <a:r>
              <a:rPr dirty="0" err="1"/>
              <a:t>que</a:t>
            </a:r>
            <a:r>
              <a:rPr dirty="0"/>
              <a:t> par des </a:t>
            </a:r>
            <a:r>
              <a:rPr dirty="0" err="1"/>
              <a:t>accès</a:t>
            </a:r>
            <a:r>
              <a:rPr dirty="0"/>
              <a:t> directs multiples à la </a:t>
            </a:r>
            <a:r>
              <a:rPr dirty="0" err="1"/>
              <a:t>même</a:t>
            </a:r>
            <a:r>
              <a:rPr dirty="0"/>
              <a:t> base. Je suis prêt à </a:t>
            </a:r>
            <a:r>
              <a:rPr dirty="0" err="1"/>
              <a:t>répondre</a:t>
            </a:r>
            <a:r>
              <a:rPr dirty="0"/>
              <a:t> à </a:t>
            </a:r>
            <a:r>
              <a:rPr dirty="0" err="1"/>
              <a:t>vos</a:t>
            </a:r>
            <a:r>
              <a:rPr dirty="0"/>
              <a:t> questions.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La </a:t>
            </a:r>
            <a:r>
              <a:rPr dirty="0" err="1"/>
              <a:t>fraude</a:t>
            </a:r>
            <a:r>
              <a:rPr dirty="0"/>
              <a:t> par carte </a:t>
            </a:r>
            <a:r>
              <a:rPr dirty="0" err="1"/>
              <a:t>bancaire</a:t>
            </a:r>
            <a:r>
              <a:rPr dirty="0"/>
              <a:t> </a:t>
            </a:r>
            <a:r>
              <a:rPr dirty="0" err="1"/>
              <a:t>représente</a:t>
            </a:r>
            <a:r>
              <a:rPr dirty="0"/>
              <a:t> plus d'un milliard </a:t>
            </a:r>
            <a:r>
              <a:rPr dirty="0" err="1"/>
              <a:t>d'euros</a:t>
            </a:r>
            <a:r>
              <a:rPr dirty="0"/>
              <a:t> de </a:t>
            </a:r>
            <a:r>
              <a:rPr dirty="0" err="1"/>
              <a:t>pertes</a:t>
            </a:r>
            <a:r>
              <a:rPr dirty="0"/>
              <a:t> </a:t>
            </a:r>
            <a:r>
              <a:rPr dirty="0" err="1"/>
              <a:t>annuelles</a:t>
            </a:r>
            <a:r>
              <a:rPr dirty="0"/>
              <a:t> dans </a:t>
            </a:r>
            <a:r>
              <a:rPr dirty="0" err="1"/>
              <a:t>l'Union</a:t>
            </a:r>
            <a:r>
              <a:rPr dirty="0"/>
              <a:t> </a:t>
            </a:r>
            <a:r>
              <a:rPr dirty="0" err="1"/>
              <a:t>européenne</a:t>
            </a:r>
            <a:r>
              <a:rPr dirty="0"/>
              <a:t>. Le cahier des charges </a:t>
            </a:r>
            <a:r>
              <a:rPr dirty="0" err="1"/>
              <a:t>exprime</a:t>
            </a:r>
            <a:r>
              <a:rPr dirty="0"/>
              <a:t> un </a:t>
            </a:r>
            <a:r>
              <a:rPr dirty="0" err="1"/>
              <a:t>besoin</a:t>
            </a:r>
            <a:r>
              <a:rPr dirty="0"/>
              <a:t> double : </a:t>
            </a:r>
            <a:r>
              <a:rPr dirty="0" err="1"/>
              <a:t>être</a:t>
            </a:r>
            <a:r>
              <a:rPr dirty="0"/>
              <a:t> </a:t>
            </a:r>
            <a:r>
              <a:rPr dirty="0" err="1"/>
              <a:t>notifié</a:t>
            </a:r>
            <a:r>
              <a:rPr dirty="0"/>
              <a:t> </a:t>
            </a:r>
            <a:r>
              <a:rPr dirty="0" err="1"/>
              <a:t>dès</a:t>
            </a:r>
            <a:r>
              <a:rPr dirty="0"/>
              <a:t> </a:t>
            </a:r>
            <a:r>
              <a:rPr dirty="0" err="1"/>
              <a:t>qu'une</a:t>
            </a:r>
            <a:r>
              <a:rPr dirty="0"/>
              <a:t> </a:t>
            </a:r>
            <a:r>
              <a:rPr dirty="0" err="1"/>
              <a:t>fraude</a:t>
            </a:r>
            <a:r>
              <a:rPr dirty="0"/>
              <a:t> est </a:t>
            </a:r>
            <a:r>
              <a:rPr dirty="0" err="1"/>
              <a:t>détectée</a:t>
            </a:r>
            <a:r>
              <a:rPr dirty="0"/>
              <a:t>, et </a:t>
            </a:r>
            <a:r>
              <a:rPr dirty="0" err="1"/>
              <a:t>pouvoir</a:t>
            </a:r>
            <a:r>
              <a:rPr dirty="0"/>
              <a:t> </a:t>
            </a:r>
            <a:r>
              <a:rPr dirty="0" err="1"/>
              <a:t>vérifier</a:t>
            </a:r>
            <a:r>
              <a:rPr dirty="0"/>
              <a:t> </a:t>
            </a:r>
            <a:r>
              <a:rPr dirty="0" err="1"/>
              <a:t>chaque</a:t>
            </a:r>
            <a:r>
              <a:rPr dirty="0"/>
              <a:t> matin </a:t>
            </a:r>
            <a:r>
              <a:rPr dirty="0" err="1"/>
              <a:t>l'ensemble</a:t>
            </a:r>
            <a:r>
              <a:rPr dirty="0"/>
              <a:t> des </a:t>
            </a:r>
            <a:r>
              <a:rPr dirty="0" err="1"/>
              <a:t>paiements</a:t>
            </a:r>
            <a:r>
              <a:rPr dirty="0"/>
              <a:t> de la </a:t>
            </a:r>
            <a:r>
              <a:rPr dirty="0" err="1"/>
              <a:t>veille</a:t>
            </a:r>
            <a:r>
              <a:rPr dirty="0"/>
              <a:t>. Point important à rappeler au jury : </a:t>
            </a:r>
            <a:r>
              <a:rPr dirty="0" err="1"/>
              <a:t>c'est</a:t>
            </a:r>
            <a:r>
              <a:rPr dirty="0"/>
              <a:t> le pipeline de données qui est </a:t>
            </a:r>
            <a:r>
              <a:rPr dirty="0" err="1"/>
              <a:t>évalué</a:t>
            </a:r>
            <a:r>
              <a:rPr dirty="0"/>
              <a:t> </a:t>
            </a:r>
            <a:r>
              <a:rPr dirty="0" err="1"/>
              <a:t>ici</a:t>
            </a:r>
            <a:r>
              <a:rPr dirty="0"/>
              <a:t>, pas la performance de </a:t>
            </a:r>
            <a:r>
              <a:rPr dirty="0" err="1"/>
              <a:t>l'algorithme</a:t>
            </a:r>
            <a:r>
              <a:rPr dirty="0"/>
              <a:t> de scoring </a:t>
            </a:r>
            <a:r>
              <a:rPr dirty="0" err="1"/>
              <a:t>lui-même</a:t>
            </a:r>
            <a:r>
              <a:rPr dirty="0"/>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J'ai</a:t>
            </a:r>
            <a:r>
              <a:rPr dirty="0"/>
              <a:t> </a:t>
            </a:r>
            <a:r>
              <a:rPr dirty="0" err="1"/>
              <a:t>choisi</a:t>
            </a:r>
            <a:r>
              <a:rPr dirty="0"/>
              <a:t> </a:t>
            </a:r>
            <a:r>
              <a:rPr dirty="0" err="1"/>
              <a:t>une</a:t>
            </a:r>
            <a:r>
              <a:rPr dirty="0"/>
              <a:t> architecture </a:t>
            </a:r>
            <a:r>
              <a:rPr dirty="0" err="1"/>
              <a:t>volontairement</a:t>
            </a:r>
            <a:r>
              <a:rPr dirty="0"/>
              <a:t> simple : Node-RED </a:t>
            </a:r>
            <a:r>
              <a:rPr dirty="0" err="1"/>
              <a:t>collecte</a:t>
            </a:r>
            <a:r>
              <a:rPr dirty="0"/>
              <a:t> les transactions, </a:t>
            </a:r>
            <a:r>
              <a:rPr dirty="0" err="1"/>
              <a:t>Mosquitto</a:t>
            </a:r>
            <a:r>
              <a:rPr dirty="0"/>
              <a:t> (un broker MQTT) les fait </a:t>
            </a:r>
            <a:r>
              <a:rPr dirty="0" err="1"/>
              <a:t>circuler</a:t>
            </a:r>
            <a:r>
              <a:rPr dirty="0"/>
              <a:t>, un service Python les score avec un </a:t>
            </a:r>
            <a:r>
              <a:rPr dirty="0" err="1"/>
              <a:t>modèle</a:t>
            </a:r>
            <a:r>
              <a:rPr dirty="0"/>
              <a:t> chargé </a:t>
            </a:r>
            <a:r>
              <a:rPr dirty="0" err="1"/>
              <a:t>depuis</a:t>
            </a:r>
            <a:r>
              <a:rPr dirty="0"/>
              <a:t> </a:t>
            </a:r>
            <a:r>
              <a:rPr dirty="0" err="1"/>
              <a:t>MLflow</a:t>
            </a:r>
            <a:r>
              <a:rPr dirty="0"/>
              <a:t>. Pas de Kafka, pas de Flink, pas </a:t>
            </a:r>
            <a:r>
              <a:rPr dirty="0" err="1"/>
              <a:t>d'Airflow</a:t>
            </a:r>
            <a:r>
              <a:rPr dirty="0"/>
              <a:t>. Le cahier des charges </a:t>
            </a:r>
            <a:r>
              <a:rPr dirty="0" err="1"/>
              <a:t>autorise</a:t>
            </a:r>
            <a:r>
              <a:rPr dirty="0"/>
              <a:t> </a:t>
            </a:r>
            <a:r>
              <a:rPr dirty="0" err="1"/>
              <a:t>explicitement</a:t>
            </a:r>
            <a:r>
              <a:rPr dirty="0"/>
              <a:t> à </a:t>
            </a:r>
            <a:r>
              <a:rPr dirty="0" err="1"/>
              <a:t>s'écarter</a:t>
            </a:r>
            <a:r>
              <a:rPr dirty="0"/>
              <a:t> de </a:t>
            </a:r>
            <a:r>
              <a:rPr dirty="0" err="1"/>
              <a:t>l'infrastructure</a:t>
            </a:r>
            <a:r>
              <a:rPr dirty="0"/>
              <a:t> </a:t>
            </a:r>
            <a:r>
              <a:rPr dirty="0" err="1"/>
              <a:t>d'exemple</a:t>
            </a:r>
            <a:r>
              <a:rPr dirty="0"/>
              <a:t> </a:t>
            </a:r>
            <a:r>
              <a:rPr dirty="0" err="1"/>
              <a:t>qu'il</a:t>
            </a:r>
            <a:r>
              <a:rPr dirty="0"/>
              <a:t> propose, à condition de </a:t>
            </a:r>
            <a:r>
              <a:rPr dirty="0" err="1"/>
              <a:t>garder</a:t>
            </a:r>
            <a:r>
              <a:rPr dirty="0"/>
              <a:t> le minimum : un </a:t>
            </a:r>
            <a:r>
              <a:rPr dirty="0" err="1"/>
              <a:t>élément</a:t>
            </a:r>
            <a:r>
              <a:rPr dirty="0"/>
              <a:t> qui </a:t>
            </a:r>
            <a:r>
              <a:rPr dirty="0" err="1"/>
              <a:t>collecte</a:t>
            </a:r>
            <a:r>
              <a:rPr dirty="0"/>
              <a:t>, un qui </a:t>
            </a:r>
            <a:r>
              <a:rPr dirty="0" err="1"/>
              <a:t>consomme</a:t>
            </a:r>
            <a:r>
              <a:rPr dirty="0"/>
              <a:t>, un qui </a:t>
            </a:r>
            <a:r>
              <a:rPr dirty="0" err="1"/>
              <a:t>transforme</a:t>
            </a:r>
            <a:r>
              <a:rPr dirty="0"/>
              <a:t>. </a:t>
            </a:r>
            <a:r>
              <a:rPr dirty="0" err="1"/>
              <a:t>C'est</a:t>
            </a:r>
            <a:r>
              <a:rPr dirty="0"/>
              <a:t> </a:t>
            </a:r>
            <a:r>
              <a:rPr dirty="0" err="1"/>
              <a:t>exactement</a:t>
            </a:r>
            <a:r>
              <a:rPr dirty="0"/>
              <a:t> </a:t>
            </a:r>
            <a:r>
              <a:rPr dirty="0" err="1"/>
              <a:t>ce</a:t>
            </a:r>
            <a:r>
              <a:rPr dirty="0"/>
              <a:t> </a:t>
            </a:r>
            <a:r>
              <a:rPr dirty="0" err="1"/>
              <a:t>que</a:t>
            </a:r>
            <a:r>
              <a:rPr dirty="0"/>
              <a:t> fait </a:t>
            </a:r>
            <a:r>
              <a:rPr dirty="0" err="1"/>
              <a:t>ce</a:t>
            </a:r>
            <a:r>
              <a:rPr dirty="0"/>
              <a:t> pipeline, à </a:t>
            </a:r>
            <a:r>
              <a:rPr dirty="0" err="1"/>
              <a:t>coût</a:t>
            </a:r>
            <a:r>
              <a:rPr dirty="0"/>
              <a:t> </a:t>
            </a:r>
            <a:r>
              <a:rPr dirty="0" err="1"/>
              <a:t>zéro</a:t>
            </a:r>
            <a:r>
              <a:rPr dirty="0"/>
              <a:t> et </a:t>
            </a:r>
            <a:r>
              <a:rPr dirty="0" err="1"/>
              <a:t>entièrement</a:t>
            </a:r>
            <a:r>
              <a:rPr dirty="0"/>
              <a:t> reproductible </a:t>
            </a:r>
            <a:r>
              <a:rPr dirty="0" err="1"/>
              <a:t>en</a:t>
            </a:r>
            <a:r>
              <a:rPr dirty="0"/>
              <a:t> local. Si le jury </a:t>
            </a:r>
            <a:r>
              <a:rPr dirty="0" err="1"/>
              <a:t>pousse</a:t>
            </a:r>
            <a:r>
              <a:rPr dirty="0"/>
              <a:t> sur </a:t>
            </a:r>
            <a:r>
              <a:rPr dirty="0" err="1"/>
              <a:t>ce</a:t>
            </a:r>
            <a:r>
              <a:rPr dirty="0"/>
              <a:t> choix, </a:t>
            </a:r>
            <a:r>
              <a:rPr dirty="0" err="1"/>
              <a:t>j'assume</a:t>
            </a:r>
            <a:r>
              <a:rPr dirty="0"/>
              <a:t> : </a:t>
            </a:r>
            <a:r>
              <a:rPr dirty="0" err="1"/>
              <a:t>c'est</a:t>
            </a:r>
            <a:r>
              <a:rPr dirty="0"/>
              <a:t> un </a:t>
            </a:r>
            <a:r>
              <a:rPr dirty="0" err="1"/>
              <a:t>compromis</a:t>
            </a:r>
            <a:r>
              <a:rPr dirty="0"/>
              <a:t> </a:t>
            </a:r>
            <a:r>
              <a:rPr dirty="0" err="1"/>
              <a:t>délibéré</a:t>
            </a:r>
            <a:r>
              <a:rPr dirty="0"/>
              <a:t>, pas un </a:t>
            </a:r>
            <a:r>
              <a:rPr dirty="0" err="1"/>
              <a:t>raccourci</a:t>
            </a:r>
            <a:r>
              <a:rPr dirty="0"/>
              <a:t> </a:t>
            </a:r>
            <a:r>
              <a:rPr dirty="0" err="1"/>
              <a:t>subi</a:t>
            </a:r>
            <a:r>
              <a:rPr dirty="0"/>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Toutes</a:t>
            </a:r>
            <a:r>
              <a:rPr dirty="0"/>
              <a:t> les 5 </a:t>
            </a:r>
            <a:r>
              <a:rPr dirty="0" err="1"/>
              <a:t>secondes</a:t>
            </a:r>
            <a:r>
              <a:rPr dirty="0"/>
              <a:t>, Node-RED </a:t>
            </a:r>
            <a:r>
              <a:rPr dirty="0" err="1"/>
              <a:t>interroge</a:t>
            </a:r>
            <a:r>
              <a:rPr dirty="0"/>
              <a:t> </a:t>
            </a:r>
            <a:r>
              <a:rPr dirty="0" err="1"/>
              <a:t>l'API</a:t>
            </a:r>
            <a:r>
              <a:rPr dirty="0"/>
              <a:t> de transactions et </a:t>
            </a:r>
            <a:r>
              <a:rPr dirty="0" err="1"/>
              <a:t>publie</a:t>
            </a:r>
            <a:r>
              <a:rPr dirty="0"/>
              <a:t> sur </a:t>
            </a:r>
            <a:r>
              <a:rPr dirty="0" err="1"/>
              <a:t>Mosquitto</a:t>
            </a:r>
            <a:r>
              <a:rPr dirty="0"/>
              <a:t>. Le consumer Python </a:t>
            </a:r>
            <a:r>
              <a:rPr dirty="0" err="1"/>
              <a:t>reçoit</a:t>
            </a:r>
            <a:r>
              <a:rPr dirty="0"/>
              <a:t> </a:t>
            </a:r>
            <a:r>
              <a:rPr dirty="0" err="1"/>
              <a:t>chaque</a:t>
            </a:r>
            <a:r>
              <a:rPr dirty="0"/>
              <a:t> message, </a:t>
            </a:r>
            <a:r>
              <a:rPr dirty="0" err="1"/>
              <a:t>nettoie</a:t>
            </a:r>
            <a:r>
              <a:rPr dirty="0"/>
              <a:t> la transaction, la score avec le </a:t>
            </a:r>
            <a:r>
              <a:rPr dirty="0" err="1"/>
              <a:t>modèle</a:t>
            </a:r>
            <a:r>
              <a:rPr dirty="0"/>
              <a:t> </a:t>
            </a:r>
            <a:r>
              <a:rPr dirty="0" err="1"/>
              <a:t>actuellement</a:t>
            </a:r>
            <a:r>
              <a:rPr dirty="0"/>
              <a:t> chargé, </a:t>
            </a:r>
            <a:r>
              <a:rPr dirty="0" err="1"/>
              <a:t>écrit</a:t>
            </a:r>
            <a:r>
              <a:rPr dirty="0"/>
              <a:t> le </a:t>
            </a:r>
            <a:r>
              <a:rPr dirty="0" err="1"/>
              <a:t>résultat</a:t>
            </a:r>
            <a:r>
              <a:rPr dirty="0"/>
              <a:t> dans PostgreSQL, et </a:t>
            </a:r>
            <a:r>
              <a:rPr dirty="0" err="1"/>
              <a:t>envoie</a:t>
            </a:r>
            <a:r>
              <a:rPr dirty="0"/>
              <a:t> un e-mail </a:t>
            </a:r>
            <a:r>
              <a:rPr dirty="0" err="1"/>
              <a:t>d'alerte</a:t>
            </a:r>
            <a:r>
              <a:rPr dirty="0"/>
              <a:t> </a:t>
            </a:r>
            <a:r>
              <a:rPr dirty="0" err="1"/>
              <a:t>si</a:t>
            </a:r>
            <a:r>
              <a:rPr dirty="0"/>
              <a:t> le score </a:t>
            </a:r>
            <a:r>
              <a:rPr dirty="0" err="1"/>
              <a:t>dépasse</a:t>
            </a:r>
            <a:r>
              <a:rPr dirty="0"/>
              <a:t> le </a:t>
            </a:r>
            <a:r>
              <a:rPr dirty="0" err="1"/>
              <a:t>seuil</a:t>
            </a:r>
            <a:r>
              <a:rPr dirty="0"/>
              <a:t>. Point à assumer </a:t>
            </a:r>
            <a:r>
              <a:rPr dirty="0" err="1"/>
              <a:t>directement</a:t>
            </a:r>
            <a:r>
              <a:rPr dirty="0"/>
              <a:t> : il </a:t>
            </a:r>
            <a:r>
              <a:rPr dirty="0" err="1"/>
              <a:t>n'y</a:t>
            </a:r>
            <a:r>
              <a:rPr dirty="0"/>
              <a:t> a </a:t>
            </a:r>
            <a:r>
              <a:rPr dirty="0" err="1"/>
              <a:t>aucun</a:t>
            </a:r>
            <a:r>
              <a:rPr dirty="0"/>
              <a:t> budget de </a:t>
            </a:r>
            <a:r>
              <a:rPr dirty="0" err="1"/>
              <a:t>latence</a:t>
            </a:r>
            <a:r>
              <a:rPr dirty="0"/>
              <a:t> </a:t>
            </a:r>
            <a:r>
              <a:rPr dirty="0" err="1"/>
              <a:t>mesuré</a:t>
            </a:r>
            <a:r>
              <a:rPr dirty="0"/>
              <a:t> dans </a:t>
            </a:r>
            <a:r>
              <a:rPr dirty="0" err="1"/>
              <a:t>cette</a:t>
            </a:r>
            <a:r>
              <a:rPr dirty="0"/>
              <a:t> version — </a:t>
            </a:r>
            <a:r>
              <a:rPr dirty="0" err="1"/>
              <a:t>l'API</a:t>
            </a:r>
            <a:r>
              <a:rPr dirty="0"/>
              <a:t> livre </a:t>
            </a:r>
            <a:r>
              <a:rPr dirty="0" err="1"/>
              <a:t>une</a:t>
            </a:r>
            <a:r>
              <a:rPr dirty="0"/>
              <a:t> transaction à la </a:t>
            </a:r>
            <a:r>
              <a:rPr dirty="0" err="1"/>
              <a:t>fois</a:t>
            </a:r>
            <a:r>
              <a:rPr dirty="0"/>
              <a:t>, </a:t>
            </a:r>
            <a:r>
              <a:rPr dirty="0" err="1"/>
              <a:t>l'enjeu</a:t>
            </a:r>
            <a:r>
              <a:rPr dirty="0"/>
              <a:t> de </a:t>
            </a:r>
            <a:r>
              <a:rPr dirty="0" err="1"/>
              <a:t>débit</a:t>
            </a:r>
            <a:r>
              <a:rPr dirty="0"/>
              <a:t> qui </a:t>
            </a:r>
            <a:r>
              <a:rPr dirty="0" err="1"/>
              <a:t>justifierait</a:t>
            </a:r>
            <a:r>
              <a:rPr dirty="0"/>
              <a:t> un </a:t>
            </a:r>
            <a:r>
              <a:rPr dirty="0" err="1"/>
              <a:t>tel</a:t>
            </a:r>
            <a:r>
              <a:rPr dirty="0"/>
              <a:t> budget ne se pose pas à </a:t>
            </a:r>
            <a:r>
              <a:rPr dirty="0" err="1"/>
              <a:t>ce</a:t>
            </a:r>
            <a:r>
              <a:rPr dirty="0"/>
              <a:t> volume. Et </a:t>
            </a:r>
            <a:r>
              <a:rPr dirty="0" err="1"/>
              <a:t>si</a:t>
            </a:r>
            <a:r>
              <a:rPr dirty="0"/>
              <a:t> </a:t>
            </a:r>
            <a:r>
              <a:rPr dirty="0" err="1"/>
              <a:t>aucun</a:t>
            </a:r>
            <a:r>
              <a:rPr dirty="0"/>
              <a:t> </a:t>
            </a:r>
            <a:r>
              <a:rPr dirty="0" err="1"/>
              <a:t>modèle</a:t>
            </a:r>
            <a:r>
              <a:rPr dirty="0"/>
              <a:t> </a:t>
            </a:r>
            <a:r>
              <a:rPr dirty="0" err="1"/>
              <a:t>n'a</a:t>
            </a:r>
            <a:r>
              <a:rPr dirty="0"/>
              <a:t> encore </a:t>
            </a:r>
            <a:r>
              <a:rPr dirty="0" err="1"/>
              <a:t>été</a:t>
            </a:r>
            <a:r>
              <a:rPr dirty="0"/>
              <a:t> chargé, le consumer ignore la transaction </a:t>
            </a:r>
            <a:r>
              <a:rPr dirty="0" err="1"/>
              <a:t>plutôt</a:t>
            </a:r>
            <a:r>
              <a:rPr dirty="0"/>
              <a:t> </a:t>
            </a:r>
            <a:r>
              <a:rPr dirty="0" err="1"/>
              <a:t>que</a:t>
            </a:r>
            <a:r>
              <a:rPr dirty="0"/>
              <a:t> </a:t>
            </a:r>
            <a:r>
              <a:rPr dirty="0" err="1"/>
              <a:t>d'inventer</a:t>
            </a:r>
            <a:r>
              <a:rPr dirty="0"/>
              <a:t> un score.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Deux </a:t>
            </a:r>
            <a:r>
              <a:rPr dirty="0" err="1"/>
              <a:t>boucles</a:t>
            </a:r>
            <a:r>
              <a:rPr dirty="0"/>
              <a:t> se </a:t>
            </a:r>
            <a:r>
              <a:rPr dirty="0" err="1"/>
              <a:t>rejoignent</a:t>
            </a:r>
            <a:r>
              <a:rPr dirty="0"/>
              <a:t> au </a:t>
            </a:r>
            <a:r>
              <a:rPr dirty="0" err="1"/>
              <a:t>même</a:t>
            </a:r>
            <a:r>
              <a:rPr dirty="0"/>
              <a:t> </a:t>
            </a:r>
            <a:r>
              <a:rPr dirty="0" err="1"/>
              <a:t>endroit</a:t>
            </a:r>
            <a:r>
              <a:rPr dirty="0"/>
              <a:t> : la boucle de données, un </a:t>
            </a:r>
            <a:r>
              <a:rPr dirty="0" err="1"/>
              <a:t>paiement</a:t>
            </a:r>
            <a:r>
              <a:rPr dirty="0"/>
              <a:t> qui traverse le </a:t>
            </a:r>
            <a:r>
              <a:rPr dirty="0" err="1"/>
              <a:t>système</a:t>
            </a:r>
            <a:r>
              <a:rPr dirty="0"/>
              <a:t> </a:t>
            </a:r>
            <a:r>
              <a:rPr dirty="0" err="1"/>
              <a:t>en</a:t>
            </a:r>
            <a:r>
              <a:rPr dirty="0"/>
              <a:t> </a:t>
            </a:r>
            <a:r>
              <a:rPr dirty="0" err="1"/>
              <a:t>continu</a:t>
            </a:r>
            <a:r>
              <a:rPr dirty="0"/>
              <a:t>, et la boucle de </a:t>
            </a:r>
            <a:r>
              <a:rPr dirty="0" err="1"/>
              <a:t>modèle</a:t>
            </a:r>
            <a:r>
              <a:rPr dirty="0"/>
              <a:t>, un </a:t>
            </a:r>
            <a:r>
              <a:rPr dirty="0" err="1"/>
              <a:t>nouvel</a:t>
            </a:r>
            <a:r>
              <a:rPr dirty="0"/>
              <a:t> </a:t>
            </a:r>
            <a:r>
              <a:rPr dirty="0" err="1"/>
              <a:t>entraînement</a:t>
            </a:r>
            <a:r>
              <a:rPr dirty="0"/>
              <a:t> qui </a:t>
            </a:r>
            <a:r>
              <a:rPr dirty="0" err="1"/>
              <a:t>vient</a:t>
            </a:r>
            <a:r>
              <a:rPr dirty="0"/>
              <a:t> </a:t>
            </a:r>
            <a:r>
              <a:rPr dirty="0" err="1"/>
              <a:t>remplacer</a:t>
            </a:r>
            <a:r>
              <a:rPr dirty="0"/>
              <a:t> le </a:t>
            </a:r>
            <a:r>
              <a:rPr dirty="0" err="1"/>
              <a:t>modèle</a:t>
            </a:r>
            <a:r>
              <a:rPr dirty="0"/>
              <a:t> </a:t>
            </a:r>
            <a:r>
              <a:rPr dirty="0" err="1"/>
              <a:t>actif</a:t>
            </a:r>
            <a:r>
              <a:rPr dirty="0"/>
              <a:t>. Le consumer Python est le seul point </a:t>
            </a:r>
            <a:r>
              <a:rPr dirty="0" err="1"/>
              <a:t>où</a:t>
            </a:r>
            <a:r>
              <a:rPr dirty="0"/>
              <a:t> les deux se </a:t>
            </a:r>
            <a:r>
              <a:rPr dirty="0" err="1"/>
              <a:t>croisent</a:t>
            </a:r>
            <a:r>
              <a:rPr dirty="0"/>
              <a:t> — il ne charge jamais de </a:t>
            </a:r>
            <a:r>
              <a:rPr dirty="0" err="1"/>
              <a:t>modèle</a:t>
            </a:r>
            <a:r>
              <a:rPr dirty="0"/>
              <a:t> seul, il attend un signal MQTT model/updated </a:t>
            </a:r>
            <a:r>
              <a:rPr dirty="0" err="1"/>
              <a:t>que</a:t>
            </a:r>
            <a:r>
              <a:rPr dirty="0"/>
              <a:t> </a:t>
            </a:r>
            <a:r>
              <a:rPr dirty="0" err="1"/>
              <a:t>Gitea</a:t>
            </a:r>
            <a:r>
              <a:rPr dirty="0"/>
              <a:t> Actions </a:t>
            </a:r>
            <a:r>
              <a:rPr dirty="0" err="1"/>
              <a:t>publie</a:t>
            </a:r>
            <a:r>
              <a:rPr dirty="0"/>
              <a:t> </a:t>
            </a:r>
            <a:r>
              <a:rPr dirty="0" err="1"/>
              <a:t>lui-même</a:t>
            </a:r>
            <a:r>
              <a:rPr dirty="0"/>
              <a:t>, pas </a:t>
            </a:r>
            <a:r>
              <a:rPr dirty="0" err="1"/>
              <a:t>MLflow</a:t>
            </a:r>
            <a:r>
              <a:rPr dirty="0"/>
              <a:t>. Un seul broker </a:t>
            </a:r>
            <a:r>
              <a:rPr dirty="0" err="1"/>
              <a:t>Mosquitto</a:t>
            </a:r>
            <a:r>
              <a:rPr dirty="0"/>
              <a:t> </a:t>
            </a:r>
            <a:r>
              <a:rPr dirty="0" err="1"/>
              <a:t>porte</a:t>
            </a:r>
            <a:r>
              <a:rPr dirty="0"/>
              <a:t> les deux topics : payments/incoming et model/updated.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D47AD-0982-C614-1C10-9585BA704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28EFB-EE8C-9C9B-9CE0-7EC1A4739E50}"/>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2AD43020-3B52-1B10-82D1-672467EEBCA4}"/>
              </a:ext>
            </a:extLst>
          </p:cNvPr>
          <p:cNvSpPr>
            <a:spLocks noGrp="1"/>
          </p:cNvSpPr>
          <p:nvPr>
            <p:ph type="body" idx="1"/>
          </p:nvPr>
        </p:nvSpPr>
        <p:spPr/>
        <p:txBody>
          <a:bodyPr/>
          <a:lstStyle/>
          <a:p>
            <a:r>
              <a:rPr dirty="0"/>
              <a:t>Il </a:t>
            </a:r>
            <a:r>
              <a:rPr dirty="0" err="1"/>
              <a:t>n'y</a:t>
            </a:r>
            <a:r>
              <a:rPr dirty="0"/>
              <a:t> a pas de </a:t>
            </a:r>
            <a:r>
              <a:rPr dirty="0" err="1"/>
              <a:t>traitement</a:t>
            </a:r>
            <a:r>
              <a:rPr dirty="0"/>
              <a:t> de nuit </a:t>
            </a:r>
            <a:r>
              <a:rPr dirty="0" err="1"/>
              <a:t>planifié</a:t>
            </a:r>
            <a:r>
              <a:rPr dirty="0"/>
              <a:t> : </a:t>
            </a:r>
            <a:r>
              <a:rPr dirty="0" err="1"/>
              <a:t>c'est</a:t>
            </a:r>
            <a:r>
              <a:rPr dirty="0"/>
              <a:t> un push de code sur le </a:t>
            </a:r>
            <a:r>
              <a:rPr dirty="0" err="1"/>
              <a:t>dépôt</a:t>
            </a:r>
            <a:r>
              <a:rPr dirty="0"/>
              <a:t> </a:t>
            </a:r>
            <a:r>
              <a:rPr dirty="0" err="1"/>
              <a:t>Gitea</a:t>
            </a:r>
            <a:r>
              <a:rPr dirty="0"/>
              <a:t> local qui </a:t>
            </a:r>
            <a:r>
              <a:rPr dirty="0" err="1"/>
              <a:t>déclenche</a:t>
            </a:r>
            <a:r>
              <a:rPr dirty="0"/>
              <a:t> </a:t>
            </a:r>
            <a:r>
              <a:rPr dirty="0" err="1"/>
              <a:t>l'entraînement</a:t>
            </a:r>
            <a:r>
              <a:rPr dirty="0"/>
              <a:t> — un pipeline </a:t>
            </a:r>
            <a:r>
              <a:rPr dirty="0" err="1"/>
              <a:t>en</a:t>
            </a:r>
            <a:r>
              <a:rPr dirty="0"/>
              <a:t> </a:t>
            </a:r>
            <a:r>
              <a:rPr dirty="0" err="1"/>
              <a:t>huit</a:t>
            </a:r>
            <a:r>
              <a:rPr dirty="0"/>
              <a:t> étapes qui charge les données, les </a:t>
            </a:r>
            <a:r>
              <a:rPr dirty="0" err="1"/>
              <a:t>valide</a:t>
            </a:r>
            <a:r>
              <a:rPr dirty="0"/>
              <a:t>, les </a:t>
            </a:r>
            <a:r>
              <a:rPr dirty="0" err="1"/>
              <a:t>transforme</a:t>
            </a:r>
            <a:r>
              <a:rPr dirty="0"/>
              <a:t>, </a:t>
            </a:r>
            <a:r>
              <a:rPr dirty="0" err="1"/>
              <a:t>entraîne</a:t>
            </a:r>
            <a:r>
              <a:rPr dirty="0"/>
              <a:t> un </a:t>
            </a:r>
            <a:r>
              <a:rPr dirty="0" err="1"/>
              <a:t>modèle</a:t>
            </a:r>
            <a:r>
              <a:rPr dirty="0"/>
              <a:t> </a:t>
            </a:r>
            <a:r>
              <a:rPr dirty="0" err="1"/>
              <a:t>AutoGluon</a:t>
            </a:r>
            <a:r>
              <a:rPr dirty="0"/>
              <a:t>, </a:t>
            </a:r>
            <a:r>
              <a:rPr dirty="0" err="1"/>
              <a:t>l'évalue</a:t>
            </a:r>
            <a:r>
              <a:rPr dirty="0"/>
              <a:t>, </a:t>
            </a:r>
            <a:r>
              <a:rPr dirty="0" err="1"/>
              <a:t>détecte</a:t>
            </a:r>
            <a:r>
              <a:rPr dirty="0"/>
              <a:t> </a:t>
            </a:r>
            <a:r>
              <a:rPr dirty="0" err="1"/>
              <a:t>une</a:t>
            </a:r>
            <a:r>
              <a:rPr dirty="0"/>
              <a:t> </a:t>
            </a:r>
            <a:r>
              <a:rPr dirty="0" err="1"/>
              <a:t>éventuelle</a:t>
            </a:r>
            <a:r>
              <a:rPr dirty="0"/>
              <a:t> </a:t>
            </a:r>
            <a:r>
              <a:rPr dirty="0" err="1"/>
              <a:t>dérive</a:t>
            </a:r>
            <a:r>
              <a:rPr dirty="0"/>
              <a:t>, </a:t>
            </a:r>
            <a:r>
              <a:rPr dirty="0" err="1"/>
              <a:t>logue</a:t>
            </a:r>
            <a:r>
              <a:rPr dirty="0"/>
              <a:t> tout dans </a:t>
            </a:r>
            <a:r>
              <a:rPr dirty="0" err="1"/>
              <a:t>MLflow</a:t>
            </a:r>
            <a:r>
              <a:rPr dirty="0"/>
              <a:t>, et le </a:t>
            </a:r>
            <a:r>
              <a:rPr dirty="0" err="1"/>
              <a:t>promeut</a:t>
            </a:r>
            <a:r>
              <a:rPr dirty="0"/>
              <a:t> </a:t>
            </a:r>
            <a:r>
              <a:rPr dirty="0" err="1"/>
              <a:t>en</a:t>
            </a:r>
            <a:r>
              <a:rPr dirty="0"/>
              <a:t> production </a:t>
            </a:r>
            <a:r>
              <a:rPr dirty="0" err="1"/>
              <a:t>seulement</a:t>
            </a:r>
            <a:r>
              <a:rPr dirty="0"/>
              <a:t> </a:t>
            </a:r>
            <a:r>
              <a:rPr dirty="0" err="1"/>
              <a:t>s'il</a:t>
            </a:r>
            <a:r>
              <a:rPr dirty="0"/>
              <a:t> est </a:t>
            </a:r>
            <a:r>
              <a:rPr dirty="0" err="1"/>
              <a:t>meilleur</a:t>
            </a:r>
            <a:r>
              <a:rPr dirty="0"/>
              <a:t> </a:t>
            </a:r>
            <a:r>
              <a:rPr dirty="0" err="1"/>
              <a:t>que</a:t>
            </a:r>
            <a:r>
              <a:rPr dirty="0"/>
              <a:t> le </a:t>
            </a:r>
            <a:r>
              <a:rPr dirty="0" err="1"/>
              <a:t>précédent</a:t>
            </a:r>
            <a:r>
              <a:rPr dirty="0"/>
              <a:t> sur la </a:t>
            </a:r>
            <a:r>
              <a:rPr dirty="0" err="1"/>
              <a:t>métrique</a:t>
            </a:r>
            <a:r>
              <a:rPr dirty="0"/>
              <a:t> F1 </a:t>
            </a:r>
            <a:r>
              <a:rPr dirty="0" err="1"/>
              <a:t>en</a:t>
            </a:r>
            <a:r>
              <a:rPr dirty="0"/>
              <a:t> </a:t>
            </a:r>
            <a:r>
              <a:rPr dirty="0" err="1"/>
              <a:t>priorité</a:t>
            </a:r>
            <a:r>
              <a:rPr dirty="0"/>
              <a:t>. Un signal MQTT </a:t>
            </a:r>
            <a:r>
              <a:rPr dirty="0" err="1"/>
              <a:t>prévient</a:t>
            </a:r>
            <a:r>
              <a:rPr dirty="0"/>
              <a:t> </a:t>
            </a:r>
            <a:r>
              <a:rPr dirty="0" err="1"/>
              <a:t>alors</a:t>
            </a:r>
            <a:r>
              <a:rPr dirty="0"/>
              <a:t> le consumer, qui recharge le nouveau </a:t>
            </a:r>
            <a:r>
              <a:rPr dirty="0" err="1"/>
              <a:t>modèle</a:t>
            </a:r>
            <a:r>
              <a:rPr dirty="0"/>
              <a:t> sans jamais </a:t>
            </a:r>
            <a:r>
              <a:rPr dirty="0" err="1"/>
              <a:t>redémarrer</a:t>
            </a:r>
            <a:r>
              <a:rPr dirty="0"/>
              <a:t>.</a:t>
            </a:r>
          </a:p>
        </p:txBody>
      </p:sp>
    </p:spTree>
    <p:extLst>
      <p:ext uri="{BB962C8B-B14F-4D97-AF65-F5344CB8AC3E}">
        <p14:creationId xmlns:p14="http://schemas.microsoft.com/office/powerpoint/2010/main" val="942357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Il </a:t>
            </a:r>
            <a:r>
              <a:rPr dirty="0" err="1"/>
              <a:t>n'y</a:t>
            </a:r>
            <a:r>
              <a:rPr dirty="0"/>
              <a:t> a pas de </a:t>
            </a:r>
            <a:r>
              <a:rPr dirty="0" err="1"/>
              <a:t>traitement</a:t>
            </a:r>
            <a:r>
              <a:rPr dirty="0"/>
              <a:t> de nuit </a:t>
            </a:r>
            <a:r>
              <a:rPr dirty="0" err="1"/>
              <a:t>planifié</a:t>
            </a:r>
            <a:r>
              <a:rPr dirty="0"/>
              <a:t> : </a:t>
            </a:r>
            <a:r>
              <a:rPr dirty="0" err="1"/>
              <a:t>c'est</a:t>
            </a:r>
            <a:r>
              <a:rPr dirty="0"/>
              <a:t> un push de code sur le </a:t>
            </a:r>
            <a:r>
              <a:rPr dirty="0" err="1"/>
              <a:t>dépôt</a:t>
            </a:r>
            <a:r>
              <a:rPr dirty="0"/>
              <a:t> </a:t>
            </a:r>
            <a:r>
              <a:rPr dirty="0" err="1"/>
              <a:t>Gitea</a:t>
            </a:r>
            <a:r>
              <a:rPr dirty="0"/>
              <a:t> local qui </a:t>
            </a:r>
            <a:r>
              <a:rPr dirty="0" err="1"/>
              <a:t>déclenche</a:t>
            </a:r>
            <a:r>
              <a:rPr dirty="0"/>
              <a:t> </a:t>
            </a:r>
            <a:r>
              <a:rPr dirty="0" err="1"/>
              <a:t>l'entraînement</a:t>
            </a:r>
            <a:r>
              <a:rPr dirty="0"/>
              <a:t> — un pipeline </a:t>
            </a:r>
            <a:r>
              <a:rPr dirty="0" err="1"/>
              <a:t>en</a:t>
            </a:r>
            <a:r>
              <a:rPr dirty="0"/>
              <a:t> </a:t>
            </a:r>
            <a:r>
              <a:rPr dirty="0" err="1"/>
              <a:t>huit</a:t>
            </a:r>
            <a:r>
              <a:rPr dirty="0"/>
              <a:t> étapes qui charge les données, les </a:t>
            </a:r>
            <a:r>
              <a:rPr dirty="0" err="1"/>
              <a:t>valide</a:t>
            </a:r>
            <a:r>
              <a:rPr dirty="0"/>
              <a:t>, les </a:t>
            </a:r>
            <a:r>
              <a:rPr dirty="0" err="1"/>
              <a:t>transforme</a:t>
            </a:r>
            <a:r>
              <a:rPr dirty="0"/>
              <a:t>, </a:t>
            </a:r>
            <a:r>
              <a:rPr dirty="0" err="1"/>
              <a:t>entraîne</a:t>
            </a:r>
            <a:r>
              <a:rPr dirty="0"/>
              <a:t> un </a:t>
            </a:r>
            <a:r>
              <a:rPr dirty="0" err="1"/>
              <a:t>modèle</a:t>
            </a:r>
            <a:r>
              <a:rPr dirty="0"/>
              <a:t> </a:t>
            </a:r>
            <a:r>
              <a:rPr dirty="0" err="1"/>
              <a:t>AutoGluon</a:t>
            </a:r>
            <a:r>
              <a:rPr dirty="0"/>
              <a:t>, </a:t>
            </a:r>
            <a:r>
              <a:rPr dirty="0" err="1"/>
              <a:t>l'évalue</a:t>
            </a:r>
            <a:r>
              <a:rPr dirty="0"/>
              <a:t>, </a:t>
            </a:r>
            <a:r>
              <a:rPr dirty="0" err="1"/>
              <a:t>détecte</a:t>
            </a:r>
            <a:r>
              <a:rPr dirty="0"/>
              <a:t> </a:t>
            </a:r>
            <a:r>
              <a:rPr dirty="0" err="1"/>
              <a:t>une</a:t>
            </a:r>
            <a:r>
              <a:rPr dirty="0"/>
              <a:t> </a:t>
            </a:r>
            <a:r>
              <a:rPr dirty="0" err="1"/>
              <a:t>éventuelle</a:t>
            </a:r>
            <a:r>
              <a:rPr dirty="0"/>
              <a:t> </a:t>
            </a:r>
            <a:r>
              <a:rPr dirty="0" err="1"/>
              <a:t>dérive</a:t>
            </a:r>
            <a:r>
              <a:rPr dirty="0"/>
              <a:t>, </a:t>
            </a:r>
            <a:r>
              <a:rPr dirty="0" err="1"/>
              <a:t>logue</a:t>
            </a:r>
            <a:r>
              <a:rPr dirty="0"/>
              <a:t> tout dans </a:t>
            </a:r>
            <a:r>
              <a:rPr dirty="0" err="1"/>
              <a:t>MLflow</a:t>
            </a:r>
            <a:r>
              <a:rPr dirty="0"/>
              <a:t>, et le </a:t>
            </a:r>
            <a:r>
              <a:rPr dirty="0" err="1"/>
              <a:t>promeut</a:t>
            </a:r>
            <a:r>
              <a:rPr dirty="0"/>
              <a:t> </a:t>
            </a:r>
            <a:r>
              <a:rPr dirty="0" err="1"/>
              <a:t>en</a:t>
            </a:r>
            <a:r>
              <a:rPr dirty="0"/>
              <a:t> production </a:t>
            </a:r>
            <a:r>
              <a:rPr dirty="0" err="1"/>
              <a:t>seulement</a:t>
            </a:r>
            <a:r>
              <a:rPr dirty="0"/>
              <a:t> </a:t>
            </a:r>
            <a:r>
              <a:rPr dirty="0" err="1"/>
              <a:t>s'il</a:t>
            </a:r>
            <a:r>
              <a:rPr dirty="0"/>
              <a:t> est </a:t>
            </a:r>
            <a:r>
              <a:rPr dirty="0" err="1"/>
              <a:t>meilleur</a:t>
            </a:r>
            <a:r>
              <a:rPr dirty="0"/>
              <a:t> </a:t>
            </a:r>
            <a:r>
              <a:rPr dirty="0" err="1"/>
              <a:t>que</a:t>
            </a:r>
            <a:r>
              <a:rPr dirty="0"/>
              <a:t> le </a:t>
            </a:r>
            <a:r>
              <a:rPr dirty="0" err="1"/>
              <a:t>précédent</a:t>
            </a:r>
            <a:r>
              <a:rPr dirty="0"/>
              <a:t> sur la </a:t>
            </a:r>
            <a:r>
              <a:rPr dirty="0" err="1"/>
              <a:t>métrique</a:t>
            </a:r>
            <a:r>
              <a:rPr dirty="0"/>
              <a:t> F1 </a:t>
            </a:r>
            <a:r>
              <a:rPr dirty="0" err="1"/>
              <a:t>en</a:t>
            </a:r>
            <a:r>
              <a:rPr dirty="0"/>
              <a:t> </a:t>
            </a:r>
            <a:r>
              <a:rPr dirty="0" err="1"/>
              <a:t>priorité</a:t>
            </a:r>
            <a:r>
              <a:rPr dirty="0"/>
              <a:t>. Un signal MQTT </a:t>
            </a:r>
            <a:r>
              <a:rPr dirty="0" err="1"/>
              <a:t>prévient</a:t>
            </a:r>
            <a:r>
              <a:rPr dirty="0"/>
              <a:t> </a:t>
            </a:r>
            <a:r>
              <a:rPr dirty="0" err="1"/>
              <a:t>alors</a:t>
            </a:r>
            <a:r>
              <a:rPr dirty="0"/>
              <a:t> le consumer, qui recharge le nouveau </a:t>
            </a:r>
            <a:r>
              <a:rPr dirty="0" err="1"/>
              <a:t>modèle</a:t>
            </a:r>
            <a:r>
              <a:rPr dirty="0"/>
              <a:t> sans jamais </a:t>
            </a:r>
            <a:r>
              <a:rPr dirty="0" err="1"/>
              <a:t>redémarrer</a:t>
            </a:r>
            <a:r>
              <a:rPr dirty="0"/>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 jeu de données </a:t>
            </a:r>
            <a:r>
              <a:rPr dirty="0" err="1"/>
              <a:t>utilisé</a:t>
            </a:r>
            <a:r>
              <a:rPr dirty="0"/>
              <a:t>, fraudTest.csv, est un dataset public Kaggle de </a:t>
            </a:r>
            <a:r>
              <a:rPr dirty="0" err="1"/>
              <a:t>démonstration</a:t>
            </a:r>
            <a:r>
              <a:rPr dirty="0"/>
              <a:t> — </a:t>
            </a:r>
            <a:r>
              <a:rPr dirty="0" err="1"/>
              <a:t>aucune</a:t>
            </a:r>
            <a:r>
              <a:rPr dirty="0"/>
              <a:t> donnée client </a:t>
            </a:r>
            <a:r>
              <a:rPr dirty="0" err="1"/>
              <a:t>réelle</a:t>
            </a:r>
            <a:r>
              <a:rPr dirty="0"/>
              <a:t> </a:t>
            </a:r>
            <a:r>
              <a:rPr dirty="0" err="1"/>
              <a:t>n'entre</a:t>
            </a:r>
            <a:r>
              <a:rPr dirty="0"/>
              <a:t> dans </a:t>
            </a:r>
            <a:r>
              <a:rPr dirty="0" err="1"/>
              <a:t>ce</a:t>
            </a:r>
            <a:r>
              <a:rPr dirty="0"/>
              <a:t> pipeline. Cela </a:t>
            </a:r>
            <a:r>
              <a:rPr dirty="0" err="1"/>
              <a:t>dit</a:t>
            </a:r>
            <a:r>
              <a:rPr dirty="0"/>
              <a:t>, je suis transparent sur </a:t>
            </a:r>
            <a:r>
              <a:rPr dirty="0" err="1"/>
              <a:t>une</a:t>
            </a:r>
            <a:r>
              <a:rPr dirty="0"/>
              <a:t> </a:t>
            </a:r>
            <a:r>
              <a:rPr dirty="0" err="1"/>
              <a:t>limite</a:t>
            </a:r>
            <a:r>
              <a:rPr dirty="0"/>
              <a:t> technique </a:t>
            </a:r>
            <a:r>
              <a:rPr dirty="0" err="1"/>
              <a:t>réelle</a:t>
            </a:r>
            <a:r>
              <a:rPr dirty="0"/>
              <a:t> : le </a:t>
            </a:r>
            <a:r>
              <a:rPr dirty="0" err="1"/>
              <a:t>numéro</a:t>
            </a:r>
            <a:r>
              <a:rPr dirty="0"/>
              <a:t> de carte (</a:t>
            </a:r>
            <a:r>
              <a:rPr dirty="0" err="1"/>
              <a:t>cc_num</a:t>
            </a:r>
            <a:r>
              <a:rPr dirty="0"/>
              <a:t>) est </a:t>
            </a:r>
            <a:r>
              <a:rPr dirty="0" err="1"/>
              <a:t>aujourd'hui</a:t>
            </a:r>
            <a:r>
              <a:rPr dirty="0"/>
              <a:t> </a:t>
            </a:r>
            <a:r>
              <a:rPr dirty="0" err="1"/>
              <a:t>stocké</a:t>
            </a:r>
            <a:r>
              <a:rPr dirty="0"/>
              <a:t> </a:t>
            </a:r>
            <a:r>
              <a:rPr dirty="0" err="1"/>
              <a:t>en</a:t>
            </a:r>
            <a:r>
              <a:rPr dirty="0"/>
              <a:t> </a:t>
            </a:r>
            <a:r>
              <a:rPr dirty="0" err="1"/>
              <a:t>clair</a:t>
            </a:r>
            <a:r>
              <a:rPr dirty="0"/>
              <a:t> dans la table predictions. La </a:t>
            </a:r>
            <a:r>
              <a:rPr dirty="0" err="1"/>
              <a:t>pseudonymisation</a:t>
            </a:r>
            <a:r>
              <a:rPr dirty="0"/>
              <a:t> est </a:t>
            </a:r>
            <a:r>
              <a:rPr dirty="0" err="1"/>
              <a:t>conçue</a:t>
            </a:r>
            <a:r>
              <a:rPr dirty="0"/>
              <a:t> </a:t>
            </a:r>
            <a:r>
              <a:rPr dirty="0" err="1"/>
              <a:t>mais</a:t>
            </a:r>
            <a:r>
              <a:rPr dirty="0"/>
              <a:t> pas encore </a:t>
            </a:r>
            <a:r>
              <a:rPr dirty="0" err="1"/>
              <a:t>codée</a:t>
            </a:r>
            <a:r>
              <a:rPr dirty="0"/>
              <a:t> — </a:t>
            </a:r>
            <a:r>
              <a:rPr dirty="0" err="1"/>
              <a:t>c'est</a:t>
            </a:r>
            <a:r>
              <a:rPr dirty="0"/>
              <a:t> </a:t>
            </a:r>
            <a:r>
              <a:rPr dirty="0" err="1"/>
              <a:t>explicitement</a:t>
            </a:r>
            <a:r>
              <a:rPr dirty="0"/>
              <a:t> la </a:t>
            </a:r>
            <a:r>
              <a:rPr dirty="0" err="1"/>
              <a:t>priorité</a:t>
            </a:r>
            <a:r>
              <a:rPr dirty="0"/>
              <a:t> </a:t>
            </a:r>
            <a:r>
              <a:rPr dirty="0" err="1"/>
              <a:t>numéro</a:t>
            </a:r>
            <a:r>
              <a:rPr dirty="0"/>
              <a:t> un avant tout usage au-</a:t>
            </a:r>
            <a:r>
              <a:rPr dirty="0" err="1"/>
              <a:t>delà</a:t>
            </a:r>
            <a:r>
              <a:rPr dirty="0"/>
              <a:t> </a:t>
            </a:r>
            <a:r>
              <a:rPr dirty="0" err="1"/>
              <a:t>d'une</a:t>
            </a:r>
            <a:r>
              <a:rPr dirty="0"/>
              <a:t> </a:t>
            </a:r>
            <a:r>
              <a:rPr dirty="0" err="1"/>
              <a:t>démonstration</a:t>
            </a:r>
            <a:r>
              <a:rPr dirty="0"/>
              <a:t> locale, et je le dis sans </a:t>
            </a:r>
            <a:r>
              <a:rPr dirty="0" err="1"/>
              <a:t>attendre</a:t>
            </a:r>
            <a:r>
              <a:rPr dirty="0"/>
              <a:t> la question du jury.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Je </a:t>
            </a:r>
            <a:r>
              <a:rPr dirty="0" err="1"/>
              <a:t>termine</a:t>
            </a:r>
            <a:r>
              <a:rPr dirty="0"/>
              <a:t> sur la </a:t>
            </a:r>
            <a:r>
              <a:rPr dirty="0" err="1"/>
              <a:t>qualité</a:t>
            </a:r>
            <a:r>
              <a:rPr dirty="0"/>
              <a:t> et le monitoring </a:t>
            </a:r>
            <a:r>
              <a:rPr dirty="0" err="1"/>
              <a:t>en</a:t>
            </a:r>
            <a:r>
              <a:rPr dirty="0"/>
              <a:t> </a:t>
            </a:r>
            <a:r>
              <a:rPr dirty="0" err="1"/>
              <a:t>étant</a:t>
            </a:r>
            <a:r>
              <a:rPr dirty="0"/>
              <a:t> </a:t>
            </a:r>
            <a:r>
              <a:rPr dirty="0" err="1"/>
              <a:t>honnête</a:t>
            </a:r>
            <a:r>
              <a:rPr dirty="0"/>
              <a:t> sur </a:t>
            </a:r>
            <a:r>
              <a:rPr dirty="0" err="1"/>
              <a:t>leurs</a:t>
            </a:r>
            <a:r>
              <a:rPr dirty="0"/>
              <a:t> </a:t>
            </a:r>
            <a:r>
              <a:rPr dirty="0" err="1"/>
              <a:t>limites</a:t>
            </a:r>
            <a:r>
              <a:rPr dirty="0"/>
              <a:t>. La validation des données ne </a:t>
            </a:r>
            <a:r>
              <a:rPr dirty="0" err="1"/>
              <a:t>bloque</a:t>
            </a:r>
            <a:r>
              <a:rPr dirty="0"/>
              <a:t> jamais le pipeline — un choix de </a:t>
            </a:r>
            <a:r>
              <a:rPr dirty="0" err="1"/>
              <a:t>simplicité</a:t>
            </a:r>
            <a:r>
              <a:rPr dirty="0"/>
              <a:t> </a:t>
            </a:r>
            <a:r>
              <a:rPr dirty="0" err="1"/>
              <a:t>assumé</a:t>
            </a:r>
            <a:r>
              <a:rPr dirty="0"/>
              <a:t>, pas </a:t>
            </a:r>
            <a:r>
              <a:rPr dirty="0" err="1"/>
              <a:t>une</a:t>
            </a:r>
            <a:r>
              <a:rPr dirty="0"/>
              <a:t> </a:t>
            </a:r>
            <a:r>
              <a:rPr dirty="0" err="1"/>
              <a:t>garantie</a:t>
            </a:r>
            <a:r>
              <a:rPr dirty="0"/>
              <a:t> de </a:t>
            </a:r>
            <a:r>
              <a:rPr dirty="0" err="1"/>
              <a:t>qualité</a:t>
            </a:r>
            <a:r>
              <a:rPr dirty="0"/>
              <a:t> au </a:t>
            </a:r>
            <a:r>
              <a:rPr dirty="0" err="1"/>
              <a:t>niveau</a:t>
            </a:r>
            <a:r>
              <a:rPr dirty="0"/>
              <a:t> d'un Great Expectations </a:t>
            </a:r>
            <a:r>
              <a:rPr dirty="0" err="1"/>
              <a:t>bloquant</a:t>
            </a:r>
            <a:r>
              <a:rPr dirty="0"/>
              <a:t>. Le tableau de bord Grafana lit </a:t>
            </a:r>
            <a:r>
              <a:rPr dirty="0" err="1"/>
              <a:t>directement</a:t>
            </a:r>
            <a:r>
              <a:rPr dirty="0"/>
              <a:t> PostgreSQL, sans </a:t>
            </a:r>
            <a:r>
              <a:rPr dirty="0" err="1"/>
              <a:t>métriques</a:t>
            </a:r>
            <a:r>
              <a:rPr dirty="0"/>
              <a:t> Prometheus </a:t>
            </a:r>
            <a:r>
              <a:rPr dirty="0" err="1"/>
              <a:t>ni</a:t>
            </a:r>
            <a:r>
              <a:rPr dirty="0"/>
              <a:t> </a:t>
            </a:r>
            <a:r>
              <a:rPr dirty="0" err="1"/>
              <a:t>alerte</a:t>
            </a:r>
            <a:r>
              <a:rPr dirty="0"/>
              <a:t> </a:t>
            </a:r>
            <a:r>
              <a:rPr dirty="0" err="1"/>
              <a:t>automatique</a:t>
            </a:r>
            <a:r>
              <a:rPr dirty="0"/>
              <a:t>. La </a:t>
            </a:r>
            <a:r>
              <a:rPr dirty="0" err="1"/>
              <a:t>dérive</a:t>
            </a:r>
            <a:r>
              <a:rPr dirty="0"/>
              <a:t> du </a:t>
            </a:r>
            <a:r>
              <a:rPr dirty="0" err="1"/>
              <a:t>modèle</a:t>
            </a:r>
            <a:r>
              <a:rPr dirty="0"/>
              <a:t> </a:t>
            </a:r>
            <a:r>
              <a:rPr dirty="0" err="1"/>
              <a:t>n'est</a:t>
            </a:r>
            <a:r>
              <a:rPr dirty="0"/>
              <a:t> </a:t>
            </a:r>
            <a:r>
              <a:rPr dirty="0" err="1"/>
              <a:t>calculée</a:t>
            </a:r>
            <a:r>
              <a:rPr dirty="0"/>
              <a:t> </a:t>
            </a:r>
            <a:r>
              <a:rPr dirty="0" err="1"/>
              <a:t>qu'au</a:t>
            </a:r>
            <a:r>
              <a:rPr dirty="0"/>
              <a:t> moment de </a:t>
            </a:r>
            <a:r>
              <a:rPr dirty="0" err="1"/>
              <a:t>l'entraînement</a:t>
            </a:r>
            <a:r>
              <a:rPr dirty="0"/>
              <a:t>, pas </a:t>
            </a:r>
            <a:r>
              <a:rPr dirty="0" err="1"/>
              <a:t>en</a:t>
            </a:r>
            <a:r>
              <a:rPr dirty="0"/>
              <a:t> </a:t>
            </a:r>
            <a:r>
              <a:rPr dirty="0" err="1"/>
              <a:t>continu</a:t>
            </a:r>
            <a:r>
              <a:rPr dirty="0"/>
              <a:t> </a:t>
            </a:r>
            <a:r>
              <a:rPr dirty="0" err="1"/>
              <a:t>en</a:t>
            </a:r>
            <a:r>
              <a:rPr dirty="0"/>
              <a:t> production — il </a:t>
            </a:r>
            <a:r>
              <a:rPr dirty="0" err="1"/>
              <a:t>n'y</a:t>
            </a:r>
            <a:r>
              <a:rPr dirty="0"/>
              <a:t> a pas de feature store dans </a:t>
            </a:r>
            <a:r>
              <a:rPr dirty="0" err="1"/>
              <a:t>cette</a:t>
            </a:r>
            <a:r>
              <a:rPr dirty="0"/>
              <a:t> version.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Ce </a:t>
            </a:r>
            <a:r>
              <a:rPr dirty="0" err="1"/>
              <a:t>projet</a:t>
            </a:r>
            <a:r>
              <a:rPr dirty="0"/>
              <a:t> a </a:t>
            </a:r>
            <a:r>
              <a:rPr dirty="0" err="1"/>
              <a:t>connu</a:t>
            </a:r>
            <a:r>
              <a:rPr dirty="0"/>
              <a:t> trois </a:t>
            </a:r>
            <a:r>
              <a:rPr dirty="0" err="1"/>
              <a:t>itérations</a:t>
            </a:r>
            <a:r>
              <a:rPr dirty="0"/>
              <a:t> </a:t>
            </a:r>
            <a:r>
              <a:rPr dirty="0" err="1"/>
              <a:t>distinctes</a:t>
            </a:r>
            <a:r>
              <a:rPr dirty="0"/>
              <a:t>, et je </a:t>
            </a:r>
            <a:r>
              <a:rPr dirty="0" err="1"/>
              <a:t>préfère</a:t>
            </a:r>
            <a:r>
              <a:rPr dirty="0"/>
              <a:t> </a:t>
            </a:r>
            <a:r>
              <a:rPr dirty="0" err="1"/>
              <a:t>l'expliquer</a:t>
            </a:r>
            <a:r>
              <a:rPr dirty="0"/>
              <a:t> moi-</a:t>
            </a:r>
            <a:r>
              <a:rPr dirty="0" err="1"/>
              <a:t>même</a:t>
            </a:r>
            <a:r>
              <a:rPr dirty="0"/>
              <a:t> </a:t>
            </a:r>
            <a:r>
              <a:rPr dirty="0" err="1"/>
              <a:t>plutôt</a:t>
            </a:r>
            <a:r>
              <a:rPr dirty="0"/>
              <a:t> </a:t>
            </a:r>
            <a:r>
              <a:rPr dirty="0" err="1"/>
              <a:t>que</a:t>
            </a:r>
            <a:r>
              <a:rPr dirty="0"/>
              <a:t> </a:t>
            </a:r>
            <a:r>
              <a:rPr dirty="0" err="1"/>
              <a:t>d'attendre</a:t>
            </a:r>
            <a:r>
              <a:rPr dirty="0"/>
              <a:t> la question. </a:t>
            </a:r>
            <a:r>
              <a:rPr dirty="0" err="1"/>
              <a:t>jefraudai</a:t>
            </a:r>
            <a:r>
              <a:rPr dirty="0"/>
              <a:t>, la première version, </a:t>
            </a:r>
            <a:r>
              <a:rPr dirty="0" err="1"/>
              <a:t>s'alignait</a:t>
            </a:r>
            <a:r>
              <a:rPr dirty="0"/>
              <a:t> sur la vision </a:t>
            </a:r>
            <a:r>
              <a:rPr dirty="0" err="1"/>
              <a:t>cible</a:t>
            </a:r>
            <a:r>
              <a:rPr dirty="0"/>
              <a:t> du cahier des charges : Kafka, </a:t>
            </a:r>
            <a:r>
              <a:rPr dirty="0" err="1"/>
              <a:t>entraînement</a:t>
            </a:r>
            <a:r>
              <a:rPr dirty="0"/>
              <a:t> </a:t>
            </a:r>
            <a:r>
              <a:rPr dirty="0" err="1"/>
              <a:t>en</a:t>
            </a:r>
            <a:r>
              <a:rPr dirty="0"/>
              <a:t> notebook, stockage cloud, </a:t>
            </a:r>
            <a:r>
              <a:rPr dirty="0" err="1"/>
              <a:t>alertes</a:t>
            </a:r>
            <a:r>
              <a:rPr dirty="0"/>
              <a:t> par un service tiers </a:t>
            </a:r>
            <a:r>
              <a:rPr dirty="0" err="1"/>
              <a:t>payant</a:t>
            </a:r>
            <a:r>
              <a:rPr dirty="0"/>
              <a:t>. </a:t>
            </a:r>
            <a:r>
              <a:rPr dirty="0" err="1"/>
              <a:t>jefraudai</a:t>
            </a:r>
            <a:r>
              <a:rPr dirty="0"/>
              <a:t>-local a </a:t>
            </a:r>
            <a:r>
              <a:rPr dirty="0" err="1"/>
              <a:t>porté</a:t>
            </a:r>
            <a:r>
              <a:rPr dirty="0"/>
              <a:t> tout </a:t>
            </a:r>
            <a:r>
              <a:rPr dirty="0" err="1"/>
              <a:t>cela</a:t>
            </a:r>
            <a:r>
              <a:rPr dirty="0"/>
              <a:t> </a:t>
            </a:r>
            <a:r>
              <a:rPr dirty="0" err="1"/>
              <a:t>en</a:t>
            </a:r>
            <a:r>
              <a:rPr dirty="0"/>
              <a:t> 100% local par choix </a:t>
            </a:r>
            <a:r>
              <a:rPr dirty="0" err="1"/>
              <a:t>explicite</a:t>
            </a:r>
            <a:r>
              <a:rPr dirty="0"/>
              <a:t> : </a:t>
            </a:r>
            <a:r>
              <a:rPr dirty="0" err="1"/>
              <a:t>zéro</a:t>
            </a:r>
            <a:r>
              <a:rPr dirty="0"/>
              <a:t> service tiers, </a:t>
            </a:r>
            <a:r>
              <a:rPr dirty="0" err="1"/>
              <a:t>Mosquitto</a:t>
            </a:r>
            <a:r>
              <a:rPr dirty="0"/>
              <a:t> et Node-RED à la place de Kafka, SMTP </a:t>
            </a:r>
            <a:r>
              <a:rPr dirty="0" err="1"/>
              <a:t>générique</a:t>
            </a:r>
            <a:r>
              <a:rPr dirty="0"/>
              <a:t> à la place du service </a:t>
            </a:r>
            <a:r>
              <a:rPr dirty="0" err="1"/>
              <a:t>payant</a:t>
            </a:r>
            <a:r>
              <a:rPr dirty="0"/>
              <a:t>. </a:t>
            </a:r>
            <a:r>
              <a:rPr dirty="0" err="1"/>
              <a:t>FraudHunter</a:t>
            </a:r>
            <a:r>
              <a:rPr dirty="0"/>
              <a:t>, la version </a:t>
            </a:r>
            <a:r>
              <a:rPr dirty="0" err="1"/>
              <a:t>présentée</a:t>
            </a:r>
            <a:r>
              <a:rPr dirty="0"/>
              <a:t> </a:t>
            </a:r>
            <a:r>
              <a:rPr dirty="0" err="1"/>
              <a:t>aujourd'hui</a:t>
            </a:r>
            <a:r>
              <a:rPr dirty="0"/>
              <a:t>, </a:t>
            </a:r>
            <a:r>
              <a:rPr dirty="0" err="1"/>
              <a:t>ajoute</a:t>
            </a:r>
            <a:r>
              <a:rPr dirty="0"/>
              <a:t> </a:t>
            </a:r>
            <a:r>
              <a:rPr dirty="0" err="1"/>
              <a:t>une</a:t>
            </a:r>
            <a:r>
              <a:rPr dirty="0"/>
              <a:t> CI/CD locale avec </a:t>
            </a:r>
            <a:r>
              <a:rPr dirty="0" err="1"/>
              <a:t>Gitea</a:t>
            </a:r>
            <a:r>
              <a:rPr dirty="0"/>
              <a:t> Actions qui </a:t>
            </a:r>
            <a:r>
              <a:rPr dirty="0" err="1"/>
              <a:t>automatise</a:t>
            </a:r>
            <a:r>
              <a:rPr dirty="0"/>
              <a:t> </a:t>
            </a:r>
            <a:r>
              <a:rPr dirty="0" err="1"/>
              <a:t>réellement</a:t>
            </a:r>
            <a:r>
              <a:rPr dirty="0"/>
              <a:t> le </a:t>
            </a:r>
            <a:r>
              <a:rPr dirty="0" err="1"/>
              <a:t>réentraînement</a:t>
            </a:r>
            <a:r>
              <a:rPr dirty="0"/>
              <a:t> et la promotion du </a:t>
            </a:r>
            <a:r>
              <a:rPr dirty="0" err="1"/>
              <a:t>modèle</a:t>
            </a:r>
            <a:r>
              <a:rPr dirty="0"/>
              <a:t>. Ce </a:t>
            </a:r>
            <a:r>
              <a:rPr dirty="0" err="1"/>
              <a:t>n'est</a:t>
            </a:r>
            <a:r>
              <a:rPr dirty="0"/>
              <a:t> pas un </a:t>
            </a:r>
            <a:r>
              <a:rPr dirty="0" err="1"/>
              <a:t>reniement</a:t>
            </a:r>
            <a:r>
              <a:rPr dirty="0"/>
              <a:t> de la vision </a:t>
            </a:r>
            <a:r>
              <a:rPr dirty="0" err="1"/>
              <a:t>cible</a:t>
            </a:r>
            <a:r>
              <a:rPr dirty="0"/>
              <a:t>, </a:t>
            </a:r>
            <a:r>
              <a:rPr dirty="0" err="1"/>
              <a:t>c'est</a:t>
            </a:r>
            <a:r>
              <a:rPr dirty="0"/>
              <a:t> </a:t>
            </a:r>
            <a:r>
              <a:rPr dirty="0" err="1"/>
              <a:t>une</a:t>
            </a:r>
            <a:r>
              <a:rPr dirty="0"/>
              <a:t> </a:t>
            </a:r>
            <a:r>
              <a:rPr dirty="0" err="1"/>
              <a:t>trajectoire</a:t>
            </a:r>
            <a:r>
              <a:rPr dirty="0"/>
              <a:t> de simplification </a:t>
            </a:r>
            <a:r>
              <a:rPr dirty="0" err="1"/>
              <a:t>assumée</a:t>
            </a:r>
            <a:r>
              <a:rPr dirty="0"/>
              <a:t> et </a:t>
            </a:r>
            <a:r>
              <a:rPr dirty="0" err="1"/>
              <a:t>tracée</a:t>
            </a:r>
            <a:r>
              <a:rPr dirty="0"/>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Neuf services </a:t>
            </a:r>
            <a:r>
              <a:rPr dirty="0" err="1"/>
              <a:t>tournent</a:t>
            </a:r>
            <a:r>
              <a:rPr dirty="0"/>
              <a:t> sur un unique réseau Docker bridge, </a:t>
            </a:r>
            <a:r>
              <a:rPr dirty="0" err="1"/>
              <a:t>fraudhunter</a:t>
            </a:r>
            <a:r>
              <a:rPr dirty="0"/>
              <a:t>-net. Seul le runner </a:t>
            </a:r>
            <a:r>
              <a:rPr dirty="0" err="1"/>
              <a:t>Gitea</a:t>
            </a:r>
            <a:r>
              <a:rPr dirty="0"/>
              <a:t> a un </a:t>
            </a:r>
            <a:r>
              <a:rPr dirty="0" err="1"/>
              <a:t>accès</a:t>
            </a:r>
            <a:r>
              <a:rPr dirty="0"/>
              <a:t> </a:t>
            </a:r>
            <a:r>
              <a:rPr dirty="0" err="1"/>
              <a:t>privilégié</a:t>
            </a:r>
            <a:r>
              <a:rPr dirty="0"/>
              <a:t> : le socket Docker de </a:t>
            </a:r>
            <a:r>
              <a:rPr dirty="0" err="1"/>
              <a:t>l'hôte</a:t>
            </a:r>
            <a:r>
              <a:rPr dirty="0"/>
              <a:t>, </a:t>
            </a:r>
            <a:r>
              <a:rPr dirty="0" err="1"/>
              <a:t>ce</a:t>
            </a:r>
            <a:r>
              <a:rPr dirty="0"/>
              <a:t> qui </a:t>
            </a:r>
            <a:r>
              <a:rPr dirty="0" err="1"/>
              <a:t>lui</a:t>
            </a:r>
            <a:r>
              <a:rPr dirty="0"/>
              <a:t> </a:t>
            </a:r>
            <a:r>
              <a:rPr dirty="0" err="1"/>
              <a:t>permet</a:t>
            </a:r>
            <a:r>
              <a:rPr dirty="0"/>
              <a:t> de lancer les jobs CI </a:t>
            </a:r>
            <a:r>
              <a:rPr dirty="0" err="1"/>
              <a:t>comme</a:t>
            </a:r>
            <a:r>
              <a:rPr dirty="0"/>
              <a:t> des </a:t>
            </a:r>
            <a:r>
              <a:rPr dirty="0" err="1"/>
              <a:t>conteneurs</a:t>
            </a:r>
            <a:r>
              <a:rPr dirty="0"/>
              <a:t> </a:t>
            </a:r>
            <a:r>
              <a:rPr dirty="0" err="1"/>
              <a:t>voisins</a:t>
            </a:r>
            <a:r>
              <a:rPr dirty="0"/>
              <a:t>, sans </a:t>
            </a:r>
            <a:r>
              <a:rPr dirty="0" err="1"/>
              <a:t>registre</a:t>
            </a:r>
            <a:r>
              <a:rPr dirty="0"/>
              <a:t> externe. </a:t>
            </a:r>
            <a:r>
              <a:rPr dirty="0" err="1"/>
              <a:t>L'ensemble</a:t>
            </a:r>
            <a:r>
              <a:rPr dirty="0"/>
              <a:t> — ingestion, ML, CI/CD, stockage, alerting — </a:t>
            </a:r>
            <a:r>
              <a:rPr dirty="0" err="1"/>
              <a:t>fonctionne</a:t>
            </a:r>
            <a:r>
              <a:rPr dirty="0"/>
              <a:t> sans </a:t>
            </a:r>
            <a:r>
              <a:rPr dirty="0" err="1"/>
              <a:t>dépendre</a:t>
            </a:r>
            <a:r>
              <a:rPr dirty="0"/>
              <a:t> </a:t>
            </a:r>
            <a:r>
              <a:rPr dirty="0" err="1"/>
              <a:t>d'aucun</a:t>
            </a:r>
            <a:r>
              <a:rPr dirty="0"/>
              <a:t> service cloud </a:t>
            </a:r>
            <a:r>
              <a:rPr dirty="0" err="1"/>
              <a:t>ou</a:t>
            </a:r>
            <a:r>
              <a:rPr dirty="0"/>
              <a:t> tiers </a:t>
            </a:r>
            <a:r>
              <a:rPr dirty="0" err="1"/>
              <a:t>payant</a:t>
            </a:r>
            <a:r>
              <a:rPr dirty="0"/>
              <a:t>, et se relance à </a:t>
            </a:r>
            <a:r>
              <a:rPr dirty="0" err="1"/>
              <a:t>l'identique</a:t>
            </a:r>
            <a:r>
              <a:rPr dirty="0"/>
              <a:t> sur </a:t>
            </a:r>
            <a:r>
              <a:rPr dirty="0" err="1"/>
              <a:t>n'importe</a:t>
            </a:r>
            <a:r>
              <a:rPr dirty="0"/>
              <a:t> quelle machine avec Docker Compose.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En </a:t>
            </a:r>
            <a:r>
              <a:rPr dirty="0" err="1"/>
              <a:t>synthèse</a:t>
            </a:r>
            <a:r>
              <a:rPr dirty="0"/>
              <a:t> : </a:t>
            </a:r>
            <a:r>
              <a:rPr dirty="0" err="1"/>
              <a:t>FraudHunter</a:t>
            </a:r>
            <a:r>
              <a:rPr dirty="0"/>
              <a:t> </a:t>
            </a:r>
            <a:r>
              <a:rPr dirty="0" err="1"/>
              <a:t>répond</a:t>
            </a:r>
            <a:r>
              <a:rPr dirty="0"/>
              <a:t> au </a:t>
            </a:r>
            <a:r>
              <a:rPr dirty="0" err="1"/>
              <a:t>besoin</a:t>
            </a:r>
            <a:r>
              <a:rPr dirty="0"/>
              <a:t> dual du cahier des charges avec des </a:t>
            </a:r>
            <a:r>
              <a:rPr dirty="0" err="1"/>
              <a:t>outils</a:t>
            </a:r>
            <a:r>
              <a:rPr dirty="0"/>
              <a:t> simples et </a:t>
            </a:r>
            <a:r>
              <a:rPr dirty="0" err="1"/>
              <a:t>locaux</a:t>
            </a:r>
            <a:r>
              <a:rPr dirty="0"/>
              <a:t> — MQTT, Node-RED, </a:t>
            </a:r>
            <a:r>
              <a:rPr dirty="0" err="1"/>
              <a:t>AutoGluon</a:t>
            </a:r>
            <a:r>
              <a:rPr dirty="0"/>
              <a:t>, </a:t>
            </a:r>
            <a:r>
              <a:rPr dirty="0" err="1"/>
              <a:t>une</a:t>
            </a:r>
            <a:r>
              <a:rPr dirty="0"/>
              <a:t> CI/CD </a:t>
            </a:r>
            <a:r>
              <a:rPr dirty="0" err="1"/>
              <a:t>Gitea</a:t>
            </a:r>
            <a:r>
              <a:rPr dirty="0"/>
              <a:t> qui </a:t>
            </a:r>
            <a:r>
              <a:rPr dirty="0" err="1"/>
              <a:t>automatise</a:t>
            </a:r>
            <a:r>
              <a:rPr dirty="0"/>
              <a:t> </a:t>
            </a:r>
            <a:r>
              <a:rPr dirty="0" err="1"/>
              <a:t>réellement</a:t>
            </a:r>
            <a:r>
              <a:rPr dirty="0"/>
              <a:t> le </a:t>
            </a:r>
            <a:r>
              <a:rPr dirty="0" err="1"/>
              <a:t>réentraînement</a:t>
            </a:r>
            <a:r>
              <a:rPr dirty="0"/>
              <a:t>. </a:t>
            </a:r>
            <a:r>
              <a:rPr dirty="0" err="1"/>
              <a:t>J'assume</a:t>
            </a:r>
            <a:r>
              <a:rPr dirty="0"/>
              <a:t> </a:t>
            </a:r>
            <a:r>
              <a:rPr dirty="0" err="1"/>
              <a:t>ses</a:t>
            </a:r>
            <a:r>
              <a:rPr dirty="0"/>
              <a:t> </a:t>
            </a:r>
            <a:r>
              <a:rPr dirty="0" err="1"/>
              <a:t>limites</a:t>
            </a:r>
            <a:r>
              <a:rPr dirty="0"/>
              <a:t> </a:t>
            </a:r>
            <a:r>
              <a:rPr dirty="0" err="1"/>
              <a:t>autant</a:t>
            </a:r>
            <a:r>
              <a:rPr dirty="0"/>
              <a:t> </a:t>
            </a:r>
            <a:r>
              <a:rPr dirty="0" err="1"/>
              <a:t>que</a:t>
            </a:r>
            <a:r>
              <a:rPr dirty="0"/>
              <a:t> </a:t>
            </a:r>
            <a:r>
              <a:rPr dirty="0" err="1"/>
              <a:t>ses</a:t>
            </a:r>
            <a:r>
              <a:rPr dirty="0"/>
              <a:t> choix : pas de </a:t>
            </a:r>
            <a:r>
              <a:rPr dirty="0" err="1"/>
              <a:t>pseudonymisation</a:t>
            </a:r>
            <a:r>
              <a:rPr dirty="0"/>
              <a:t> encore </a:t>
            </a:r>
            <a:r>
              <a:rPr dirty="0" err="1"/>
              <a:t>codée</a:t>
            </a:r>
            <a:r>
              <a:rPr dirty="0"/>
              <a:t> pour </a:t>
            </a:r>
            <a:r>
              <a:rPr dirty="0" err="1"/>
              <a:t>cc_num</a:t>
            </a:r>
            <a:r>
              <a:rPr dirty="0"/>
              <a:t>, pas de feature store, un </a:t>
            </a:r>
            <a:r>
              <a:rPr dirty="0" err="1"/>
              <a:t>seuil</a:t>
            </a:r>
            <a:r>
              <a:rPr dirty="0"/>
              <a:t> de </a:t>
            </a:r>
            <a:r>
              <a:rPr dirty="0" err="1"/>
              <a:t>décision</a:t>
            </a:r>
            <a:r>
              <a:rPr dirty="0"/>
              <a:t> à </a:t>
            </a:r>
            <a:r>
              <a:rPr dirty="0" err="1"/>
              <a:t>ajuster</a:t>
            </a: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Trois principes </a:t>
            </a:r>
            <a:r>
              <a:rPr dirty="0" err="1"/>
              <a:t>ont</a:t>
            </a:r>
            <a:r>
              <a:rPr dirty="0"/>
              <a:t> </a:t>
            </a:r>
            <a:r>
              <a:rPr dirty="0" err="1"/>
              <a:t>guidé</a:t>
            </a:r>
            <a:r>
              <a:rPr dirty="0"/>
              <a:t> le </a:t>
            </a:r>
            <a:r>
              <a:rPr dirty="0" err="1"/>
              <a:t>projet</a:t>
            </a:r>
            <a:r>
              <a:rPr dirty="0"/>
              <a:t> : </a:t>
            </a:r>
            <a:r>
              <a:rPr dirty="0" err="1"/>
              <a:t>couvrir</a:t>
            </a:r>
            <a:r>
              <a:rPr dirty="0"/>
              <a:t> </a:t>
            </a:r>
            <a:r>
              <a:rPr dirty="0" err="1"/>
              <a:t>chaque</a:t>
            </a:r>
            <a:r>
              <a:rPr dirty="0"/>
              <a:t> point du cahier des charges sans </a:t>
            </a:r>
            <a:r>
              <a:rPr dirty="0" err="1"/>
              <a:t>en</a:t>
            </a:r>
            <a:r>
              <a:rPr dirty="0"/>
              <a:t> </a:t>
            </a:r>
            <a:r>
              <a:rPr dirty="0" err="1"/>
              <a:t>rajouter</a:t>
            </a:r>
            <a:r>
              <a:rPr dirty="0"/>
              <a:t>, </a:t>
            </a:r>
            <a:r>
              <a:rPr dirty="0" err="1"/>
              <a:t>s'appuyer</a:t>
            </a:r>
            <a:r>
              <a:rPr dirty="0"/>
              <a:t> sur des </a:t>
            </a:r>
            <a:r>
              <a:rPr dirty="0" err="1"/>
              <a:t>outils</a:t>
            </a:r>
            <a:r>
              <a:rPr dirty="0"/>
              <a:t> déjà </a:t>
            </a:r>
            <a:r>
              <a:rPr dirty="0" err="1"/>
              <a:t>maîtrisés</a:t>
            </a:r>
            <a:r>
              <a:rPr dirty="0"/>
              <a:t> (Python, Docker, SQL, MQTT), et </a:t>
            </a:r>
            <a:r>
              <a:rPr dirty="0" err="1"/>
              <a:t>garder</a:t>
            </a:r>
            <a:r>
              <a:rPr dirty="0"/>
              <a:t> un service = un </a:t>
            </a:r>
            <a:r>
              <a:rPr dirty="0" err="1"/>
              <a:t>rôle</a:t>
            </a:r>
            <a:r>
              <a:rPr dirty="0"/>
              <a:t>. </a:t>
            </a:r>
            <a:r>
              <a:rPr dirty="0" err="1"/>
              <a:t>L'enjeu</a:t>
            </a:r>
            <a:r>
              <a:rPr dirty="0"/>
              <a:t> métier : sans </a:t>
            </a:r>
            <a:r>
              <a:rPr dirty="0" err="1"/>
              <a:t>prévision</a:t>
            </a:r>
            <a:r>
              <a:rPr dirty="0"/>
              <a:t>, un pic de </a:t>
            </a:r>
            <a:r>
              <a:rPr dirty="0" err="1"/>
              <a:t>consommation</a:t>
            </a:r>
            <a:r>
              <a:rPr dirty="0"/>
              <a:t> oblige à </a:t>
            </a:r>
            <a:r>
              <a:rPr dirty="0" err="1"/>
              <a:t>acheter</a:t>
            </a:r>
            <a:r>
              <a:rPr dirty="0"/>
              <a:t> de </a:t>
            </a:r>
            <a:r>
              <a:rPr dirty="0" err="1"/>
              <a:t>l'électricité</a:t>
            </a:r>
            <a:r>
              <a:rPr dirty="0"/>
              <a:t> </a:t>
            </a:r>
            <a:r>
              <a:rPr dirty="0" err="1"/>
              <a:t>en</a:t>
            </a:r>
            <a:r>
              <a:rPr dirty="0"/>
              <a:t> urgence sur le </a:t>
            </a:r>
            <a:r>
              <a:rPr dirty="0" err="1"/>
              <a:t>marché</a:t>
            </a:r>
            <a:r>
              <a:rPr dirty="0"/>
              <a:t> spot, à un prix </a:t>
            </a:r>
            <a:r>
              <a:rPr dirty="0" err="1"/>
              <a:t>dégradé</a:t>
            </a:r>
            <a:r>
              <a:rPr dirty="0"/>
              <a:t>. Avec </a:t>
            </a:r>
            <a:r>
              <a:rPr dirty="0" err="1"/>
              <a:t>une</a:t>
            </a:r>
            <a:r>
              <a:rPr dirty="0"/>
              <a:t> </a:t>
            </a:r>
            <a:r>
              <a:rPr dirty="0" err="1"/>
              <a:t>prédiction</a:t>
            </a:r>
            <a:r>
              <a:rPr dirty="0"/>
              <a:t> à 5 </a:t>
            </a:r>
            <a:r>
              <a:rPr dirty="0" err="1"/>
              <a:t>jours</a:t>
            </a:r>
            <a:r>
              <a:rPr dirty="0"/>
              <a:t>, </a:t>
            </a:r>
            <a:r>
              <a:rPr dirty="0" err="1"/>
              <a:t>l'achat</a:t>
            </a:r>
            <a:r>
              <a:rPr dirty="0"/>
              <a:t> </a:t>
            </a:r>
            <a:r>
              <a:rPr dirty="0" err="1"/>
              <a:t>peut</a:t>
            </a:r>
            <a:r>
              <a:rPr dirty="0"/>
              <a:t> </a:t>
            </a:r>
            <a:r>
              <a:rPr dirty="0" err="1"/>
              <a:t>être</a:t>
            </a:r>
            <a:r>
              <a:rPr dirty="0"/>
              <a:t> </a:t>
            </a:r>
            <a:r>
              <a:rPr dirty="0" err="1"/>
              <a:t>anticipé</a:t>
            </a:r>
            <a:r>
              <a:rPr dirty="0"/>
              <a:t>, </a:t>
            </a:r>
            <a:r>
              <a:rPr dirty="0" err="1"/>
              <a:t>ce</a:t>
            </a:r>
            <a:r>
              <a:rPr dirty="0"/>
              <a:t> qui laisse le temps </a:t>
            </a:r>
            <a:r>
              <a:rPr dirty="0" err="1"/>
              <a:t>d'ajuster</a:t>
            </a:r>
            <a:r>
              <a:rPr dirty="0"/>
              <a:t> les volumes et </a:t>
            </a:r>
            <a:r>
              <a:rPr dirty="0" err="1"/>
              <a:t>réduit</a:t>
            </a:r>
            <a:r>
              <a:rPr dirty="0"/>
              <a:t> les </a:t>
            </a:r>
            <a:r>
              <a:rPr dirty="0" err="1"/>
              <a:t>coûts</a:t>
            </a:r>
            <a:r>
              <a:rPr dirty="0"/>
              <a:t>. </a:t>
            </a:r>
            <a:r>
              <a:rPr dirty="0" err="1"/>
              <a:t>C'est</a:t>
            </a:r>
            <a:r>
              <a:rPr dirty="0"/>
              <a:t> </a:t>
            </a:r>
            <a:r>
              <a:rPr dirty="0" err="1"/>
              <a:t>ce</a:t>
            </a:r>
            <a:r>
              <a:rPr dirty="0"/>
              <a:t> </a:t>
            </a:r>
            <a:r>
              <a:rPr dirty="0" err="1"/>
              <a:t>besoin</a:t>
            </a:r>
            <a:r>
              <a:rPr dirty="0"/>
              <a:t> qui </a:t>
            </a:r>
            <a:r>
              <a:rPr dirty="0" err="1"/>
              <a:t>justifie</a:t>
            </a:r>
            <a:r>
              <a:rPr dirty="0"/>
              <a:t> </a:t>
            </a:r>
            <a:r>
              <a:rPr dirty="0" err="1"/>
              <a:t>l'horizon</a:t>
            </a:r>
            <a:r>
              <a:rPr dirty="0"/>
              <a:t> de </a:t>
            </a:r>
            <a:r>
              <a:rPr dirty="0" err="1"/>
              <a:t>prédiction</a:t>
            </a:r>
            <a:r>
              <a:rPr dirty="0"/>
              <a:t> </a:t>
            </a:r>
            <a:r>
              <a:rPr dirty="0" err="1"/>
              <a:t>retenu</a:t>
            </a:r>
            <a:r>
              <a:rPr dirty="0"/>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Quatre </a:t>
            </a:r>
            <a:r>
              <a:rPr dirty="0" err="1"/>
              <a:t>objectifs</a:t>
            </a:r>
            <a:r>
              <a:rPr dirty="0"/>
              <a:t> </a:t>
            </a:r>
            <a:r>
              <a:rPr dirty="0" err="1"/>
              <a:t>chiffrés</a:t>
            </a:r>
            <a:r>
              <a:rPr dirty="0"/>
              <a:t> </a:t>
            </a:r>
            <a:r>
              <a:rPr dirty="0" err="1"/>
              <a:t>cadrent</a:t>
            </a:r>
            <a:r>
              <a:rPr dirty="0"/>
              <a:t> le </a:t>
            </a:r>
            <a:r>
              <a:rPr dirty="0" err="1"/>
              <a:t>projet</a:t>
            </a:r>
            <a:r>
              <a:rPr dirty="0"/>
              <a:t> : un horizon de </a:t>
            </a:r>
            <a:r>
              <a:rPr dirty="0" err="1"/>
              <a:t>prédiction</a:t>
            </a:r>
            <a:r>
              <a:rPr dirty="0"/>
              <a:t> de 5 </a:t>
            </a:r>
            <a:r>
              <a:rPr dirty="0" err="1"/>
              <a:t>jours</a:t>
            </a:r>
            <a:r>
              <a:rPr dirty="0"/>
              <a:t>, un </a:t>
            </a:r>
            <a:r>
              <a:rPr dirty="0" err="1"/>
              <a:t>seuil</a:t>
            </a:r>
            <a:r>
              <a:rPr dirty="0"/>
              <a:t> </a:t>
            </a:r>
            <a:r>
              <a:rPr dirty="0" err="1"/>
              <a:t>d'erreur</a:t>
            </a:r>
            <a:r>
              <a:rPr dirty="0"/>
              <a:t> (MAPE) </a:t>
            </a:r>
            <a:r>
              <a:rPr dirty="0" err="1"/>
              <a:t>fixé</a:t>
            </a:r>
            <a:r>
              <a:rPr dirty="0"/>
              <a:t> à 15% au-</a:t>
            </a:r>
            <a:r>
              <a:rPr dirty="0" err="1"/>
              <a:t>delà</a:t>
            </a:r>
            <a:r>
              <a:rPr dirty="0"/>
              <a:t> </a:t>
            </a:r>
            <a:r>
              <a:rPr dirty="0" err="1"/>
              <a:t>duquel</a:t>
            </a:r>
            <a:r>
              <a:rPr dirty="0"/>
              <a:t> le </a:t>
            </a:r>
            <a:r>
              <a:rPr dirty="0" err="1"/>
              <a:t>modèle</a:t>
            </a:r>
            <a:r>
              <a:rPr dirty="0"/>
              <a:t> est </a:t>
            </a:r>
            <a:r>
              <a:rPr dirty="0" err="1"/>
              <a:t>considéré</a:t>
            </a:r>
            <a:r>
              <a:rPr dirty="0"/>
              <a:t> </a:t>
            </a:r>
            <a:r>
              <a:rPr dirty="0" err="1"/>
              <a:t>en</a:t>
            </a:r>
            <a:r>
              <a:rPr dirty="0"/>
              <a:t> </a:t>
            </a:r>
            <a:r>
              <a:rPr dirty="0" err="1"/>
              <a:t>dérive</a:t>
            </a:r>
            <a:r>
              <a:rPr dirty="0"/>
              <a:t>, </a:t>
            </a:r>
            <a:r>
              <a:rPr dirty="0" err="1"/>
              <a:t>zéro</a:t>
            </a:r>
            <a:r>
              <a:rPr dirty="0"/>
              <a:t> interruption du service de </a:t>
            </a:r>
            <a:r>
              <a:rPr dirty="0" err="1"/>
              <a:t>prédiction</a:t>
            </a:r>
            <a:r>
              <a:rPr dirty="0"/>
              <a:t> </a:t>
            </a:r>
            <a:r>
              <a:rPr dirty="0" err="1"/>
              <a:t>même</a:t>
            </a:r>
            <a:r>
              <a:rPr dirty="0"/>
              <a:t> pendant un </a:t>
            </a:r>
            <a:r>
              <a:rPr dirty="0" err="1"/>
              <a:t>réentraînement</a:t>
            </a:r>
            <a:r>
              <a:rPr dirty="0"/>
              <a:t>, et </a:t>
            </a:r>
            <a:r>
              <a:rPr dirty="0" err="1"/>
              <a:t>une</a:t>
            </a:r>
            <a:r>
              <a:rPr dirty="0"/>
              <a:t> </a:t>
            </a:r>
            <a:r>
              <a:rPr dirty="0" err="1"/>
              <a:t>autonomie</a:t>
            </a:r>
            <a:r>
              <a:rPr dirty="0"/>
              <a:t> </a:t>
            </a:r>
            <a:r>
              <a:rPr dirty="0" err="1"/>
              <a:t>totale</a:t>
            </a:r>
            <a:r>
              <a:rPr dirty="0"/>
              <a:t> — tout </a:t>
            </a:r>
            <a:r>
              <a:rPr dirty="0" err="1"/>
              <a:t>tourne</a:t>
            </a:r>
            <a:r>
              <a:rPr dirty="0"/>
              <a:t> </a:t>
            </a:r>
            <a:r>
              <a:rPr dirty="0" err="1"/>
              <a:t>en</a:t>
            </a:r>
            <a:r>
              <a:rPr dirty="0"/>
              <a:t> local via Docker Compose, sans </a:t>
            </a:r>
            <a:r>
              <a:rPr dirty="0" err="1"/>
              <a:t>dépendance</a:t>
            </a:r>
            <a:r>
              <a:rPr dirty="0"/>
              <a:t> à un service tiers </a:t>
            </a:r>
            <a:r>
              <a:rPr dirty="0" err="1"/>
              <a:t>payant</a:t>
            </a:r>
            <a:r>
              <a:rPr dirty="0"/>
              <a:t>. </a:t>
            </a:r>
            <a:r>
              <a:rPr dirty="0" err="1"/>
              <a:t>Ces</a:t>
            </a:r>
            <a:r>
              <a:rPr dirty="0"/>
              <a:t> </a:t>
            </a:r>
            <a:r>
              <a:rPr dirty="0" err="1"/>
              <a:t>objectifs</a:t>
            </a:r>
            <a:r>
              <a:rPr dirty="0"/>
              <a:t> </a:t>
            </a:r>
            <a:r>
              <a:rPr dirty="0" err="1"/>
              <a:t>ont</a:t>
            </a:r>
            <a:r>
              <a:rPr dirty="0"/>
              <a:t> ensuite </a:t>
            </a:r>
            <a:r>
              <a:rPr dirty="0" err="1"/>
              <a:t>servi</a:t>
            </a:r>
            <a:r>
              <a:rPr dirty="0"/>
              <a:t> de grille de validation </a:t>
            </a:r>
            <a:r>
              <a:rPr dirty="0" err="1"/>
              <a:t>lors</a:t>
            </a:r>
            <a:r>
              <a:rPr dirty="0"/>
              <a:t> des tests </a:t>
            </a:r>
            <a:r>
              <a:rPr dirty="0" err="1"/>
              <a:t>réels</a:t>
            </a:r>
            <a:r>
              <a:rPr dirty="0"/>
              <a:t> du pipeline.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Les données </a:t>
            </a:r>
            <a:r>
              <a:rPr dirty="0" err="1"/>
              <a:t>combinent</a:t>
            </a:r>
            <a:r>
              <a:rPr dirty="0"/>
              <a:t> deux sources </a:t>
            </a:r>
            <a:r>
              <a:rPr dirty="0" err="1"/>
              <a:t>réelles</a:t>
            </a:r>
            <a:r>
              <a:rPr dirty="0"/>
              <a:t> : la </a:t>
            </a:r>
            <a:r>
              <a:rPr dirty="0" err="1"/>
              <a:t>météo</a:t>
            </a:r>
            <a:r>
              <a:rPr dirty="0"/>
              <a:t> et le </a:t>
            </a:r>
            <a:r>
              <a:rPr dirty="0" err="1"/>
              <a:t>calendrier</a:t>
            </a:r>
            <a:r>
              <a:rPr dirty="0"/>
              <a:t> des </a:t>
            </a:r>
            <a:r>
              <a:rPr dirty="0" err="1"/>
              <a:t>vacances</a:t>
            </a:r>
            <a:r>
              <a:rPr dirty="0"/>
              <a:t> </a:t>
            </a:r>
            <a:r>
              <a:rPr dirty="0" err="1"/>
              <a:t>scolaires</a:t>
            </a:r>
            <a:r>
              <a:rPr dirty="0"/>
              <a:t> par </a:t>
            </a:r>
            <a:r>
              <a:rPr dirty="0" err="1"/>
              <a:t>région</a:t>
            </a:r>
            <a:r>
              <a:rPr dirty="0"/>
              <a:t>, et </a:t>
            </a:r>
            <a:r>
              <a:rPr dirty="0" err="1"/>
              <a:t>l'export</a:t>
            </a:r>
            <a:r>
              <a:rPr dirty="0"/>
              <a:t> de </a:t>
            </a:r>
            <a:r>
              <a:rPr dirty="0" err="1"/>
              <a:t>consommation</a:t>
            </a:r>
            <a:r>
              <a:rPr dirty="0"/>
              <a:t> </a:t>
            </a:r>
            <a:r>
              <a:rPr dirty="0" err="1"/>
              <a:t>électrique</a:t>
            </a:r>
            <a:r>
              <a:rPr dirty="0"/>
              <a:t> </a:t>
            </a:r>
            <a:r>
              <a:rPr dirty="0" err="1"/>
              <a:t>d'Enedis</a:t>
            </a:r>
            <a:r>
              <a:rPr dirty="0"/>
              <a:t> (28,7 millions de </a:t>
            </a:r>
            <a:r>
              <a:rPr dirty="0" err="1"/>
              <a:t>lignes</a:t>
            </a:r>
            <a:r>
              <a:rPr dirty="0"/>
              <a:t>). Après jointure sur la date et agrégation au </a:t>
            </a:r>
            <a:r>
              <a:rPr dirty="0" err="1"/>
              <a:t>niveau</a:t>
            </a:r>
            <a:r>
              <a:rPr dirty="0"/>
              <a:t> national, on </a:t>
            </a:r>
            <a:r>
              <a:rPr dirty="0" err="1"/>
              <a:t>obtient</a:t>
            </a:r>
            <a:r>
              <a:rPr dirty="0"/>
              <a:t> un jeu de données </a:t>
            </a:r>
            <a:r>
              <a:rPr dirty="0" err="1"/>
              <a:t>quotidien</a:t>
            </a:r>
            <a:r>
              <a:rPr dirty="0"/>
              <a:t> de 915 </a:t>
            </a:r>
            <a:r>
              <a:rPr dirty="0" err="1"/>
              <a:t>jours</a:t>
            </a:r>
            <a:r>
              <a:rPr dirty="0"/>
              <a:t>. Le </a:t>
            </a:r>
            <a:r>
              <a:rPr dirty="0" err="1"/>
              <a:t>découpage</a:t>
            </a:r>
            <a:r>
              <a:rPr dirty="0"/>
              <a:t> </a:t>
            </a:r>
            <a:r>
              <a:rPr dirty="0" err="1"/>
              <a:t>en</a:t>
            </a:r>
            <a:r>
              <a:rPr dirty="0"/>
              <a:t> trois </a:t>
            </a:r>
            <a:r>
              <a:rPr dirty="0" err="1"/>
              <a:t>groupes</a:t>
            </a:r>
            <a:r>
              <a:rPr dirty="0"/>
              <a:t> est </a:t>
            </a:r>
            <a:r>
              <a:rPr dirty="0" err="1"/>
              <a:t>chronologique</a:t>
            </a:r>
            <a:r>
              <a:rPr dirty="0"/>
              <a:t> et non </a:t>
            </a:r>
            <a:r>
              <a:rPr dirty="0" err="1"/>
              <a:t>aléatoire</a:t>
            </a:r>
            <a:r>
              <a:rPr dirty="0"/>
              <a:t> : G1 </a:t>
            </a:r>
            <a:r>
              <a:rPr dirty="0" err="1"/>
              <a:t>sert</a:t>
            </a:r>
            <a:r>
              <a:rPr dirty="0"/>
              <a:t> à </a:t>
            </a:r>
            <a:r>
              <a:rPr dirty="0" err="1"/>
              <a:t>l'entraînement</a:t>
            </a:r>
            <a:r>
              <a:rPr dirty="0"/>
              <a:t>, G2 — jamais vu pendant </a:t>
            </a:r>
            <a:r>
              <a:rPr dirty="0" err="1"/>
              <a:t>l'entraînement</a:t>
            </a:r>
            <a:r>
              <a:rPr dirty="0"/>
              <a:t> — </a:t>
            </a:r>
            <a:r>
              <a:rPr dirty="0" err="1"/>
              <a:t>sert</a:t>
            </a:r>
            <a:r>
              <a:rPr dirty="0"/>
              <a:t> à comparer les versions de </a:t>
            </a:r>
            <a:r>
              <a:rPr dirty="0" err="1"/>
              <a:t>modèle</a:t>
            </a:r>
            <a:r>
              <a:rPr dirty="0"/>
              <a:t>, et G3 est </a:t>
            </a:r>
            <a:r>
              <a:rPr dirty="0" err="1"/>
              <a:t>rejoué</a:t>
            </a:r>
            <a:r>
              <a:rPr dirty="0"/>
              <a:t> jour par jour pour </a:t>
            </a:r>
            <a:r>
              <a:rPr dirty="0" err="1"/>
              <a:t>simuler</a:t>
            </a:r>
            <a:r>
              <a:rPr dirty="0"/>
              <a:t> le </a:t>
            </a:r>
            <a:r>
              <a:rPr dirty="0" err="1"/>
              <a:t>fonctionnement</a:t>
            </a:r>
            <a:r>
              <a:rPr dirty="0"/>
              <a:t> </a:t>
            </a:r>
            <a:r>
              <a:rPr dirty="0" err="1"/>
              <a:t>en</a:t>
            </a:r>
            <a:r>
              <a:rPr dirty="0"/>
              <a:t> production.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Cette diapositive fait le lien direct entre </a:t>
            </a:r>
            <a:r>
              <a:rPr dirty="0" err="1"/>
              <a:t>chaque</a:t>
            </a:r>
            <a:r>
              <a:rPr dirty="0"/>
              <a:t> exigence du cahier des charges et son </a:t>
            </a:r>
            <a:r>
              <a:rPr dirty="0" err="1"/>
              <a:t>implémentation</a:t>
            </a:r>
            <a:r>
              <a:rPr dirty="0"/>
              <a:t> concrète. Point notable : la </a:t>
            </a:r>
            <a:r>
              <a:rPr dirty="0" err="1"/>
              <a:t>contrainte</a:t>
            </a:r>
            <a:r>
              <a:rPr dirty="0"/>
              <a:t> de flux « temps </a:t>
            </a:r>
            <a:r>
              <a:rPr dirty="0" err="1"/>
              <a:t>réel</a:t>
            </a:r>
            <a:r>
              <a:rPr dirty="0"/>
              <a:t> » est </a:t>
            </a:r>
            <a:r>
              <a:rPr dirty="0" err="1"/>
              <a:t>traduite</a:t>
            </a:r>
            <a:r>
              <a:rPr dirty="0"/>
              <a:t> par un endpoint de simulation </a:t>
            </a:r>
            <a:r>
              <a:rPr dirty="0" err="1"/>
              <a:t>piloté</a:t>
            </a:r>
            <a:r>
              <a:rPr dirty="0"/>
              <a:t> (POST /simulation/advance) </a:t>
            </a:r>
            <a:r>
              <a:rPr dirty="0" err="1"/>
              <a:t>plutôt</a:t>
            </a:r>
            <a:r>
              <a:rPr dirty="0"/>
              <a:t> </a:t>
            </a:r>
            <a:r>
              <a:rPr dirty="0" err="1"/>
              <a:t>que</a:t>
            </a:r>
            <a:r>
              <a:rPr dirty="0"/>
              <a:t> par un </a:t>
            </a:r>
            <a:r>
              <a:rPr dirty="0" err="1"/>
              <a:t>vrai</a:t>
            </a:r>
            <a:r>
              <a:rPr dirty="0"/>
              <a:t> flux </a:t>
            </a:r>
            <a:r>
              <a:rPr dirty="0" err="1"/>
              <a:t>continu</a:t>
            </a:r>
            <a:r>
              <a:rPr dirty="0"/>
              <a:t>, un choix </a:t>
            </a:r>
            <a:r>
              <a:rPr dirty="0" err="1"/>
              <a:t>assumé</a:t>
            </a:r>
            <a:r>
              <a:rPr dirty="0"/>
              <a:t> pour </a:t>
            </a:r>
            <a:r>
              <a:rPr dirty="0" err="1"/>
              <a:t>rester</a:t>
            </a:r>
            <a:r>
              <a:rPr dirty="0"/>
              <a:t> testable et reproductible. Le </a:t>
            </a:r>
            <a:r>
              <a:rPr dirty="0" err="1"/>
              <a:t>réentraînement</a:t>
            </a:r>
            <a:r>
              <a:rPr dirty="0"/>
              <a:t> non </a:t>
            </a:r>
            <a:r>
              <a:rPr dirty="0" err="1"/>
              <a:t>bloquant</a:t>
            </a:r>
            <a:r>
              <a:rPr dirty="0"/>
              <a:t> passe par un message MQTT vers un service trainer </a:t>
            </a:r>
            <a:r>
              <a:rPr dirty="0" err="1"/>
              <a:t>dédié</a:t>
            </a:r>
            <a:r>
              <a:rPr dirty="0"/>
              <a:t>, </a:t>
            </a:r>
            <a:r>
              <a:rPr dirty="0" err="1"/>
              <a:t>séparé</a:t>
            </a:r>
            <a:r>
              <a:rPr dirty="0"/>
              <a:t> du service de </a:t>
            </a:r>
            <a:r>
              <a:rPr dirty="0" err="1"/>
              <a:t>prédiction</a:t>
            </a:r>
            <a:r>
              <a:rPr dirty="0"/>
              <a:t>, pour </a:t>
            </a:r>
            <a:r>
              <a:rPr dirty="0" err="1"/>
              <a:t>garantir</a:t>
            </a:r>
            <a:r>
              <a:rPr dirty="0"/>
              <a:t> </a:t>
            </a:r>
            <a:r>
              <a:rPr dirty="0" err="1"/>
              <a:t>que</a:t>
            </a:r>
            <a:r>
              <a:rPr dirty="0"/>
              <a:t> </a:t>
            </a:r>
            <a:r>
              <a:rPr dirty="0" err="1"/>
              <a:t>l'API</a:t>
            </a:r>
            <a:r>
              <a:rPr dirty="0"/>
              <a:t> ne </a:t>
            </a:r>
            <a:r>
              <a:rPr dirty="0" err="1"/>
              <a:t>s'arrête</a:t>
            </a:r>
            <a:r>
              <a:rPr dirty="0"/>
              <a:t> jamais pendant un </a:t>
            </a:r>
            <a:r>
              <a:rPr dirty="0" err="1"/>
              <a:t>entraînement</a:t>
            </a:r>
            <a:r>
              <a:rPr dirty="0"/>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Le pipeline s'articule en cinq étapes chronologiques : collecte et préparation des données, entraînement du modèle, simulateur de consommation et de prévision, détection de dérive, et CI/CD. PostgreSQL est le socle de données partagé par les cinq étapes ; MLflow et MQTT ne servent qu'à certaines d'entre elles. Deux boucles de rétroaction ramènent vers l'entraînement : une dérive détectée en étape 4 (via MQTT) et un push de code en étape 5 (via Gitea Actions), qui appellent tous deux la même fonction d'entraînement.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Deux sources indépendantes : la météo et le calendrier des vacances scolaires (Open-Meteo Archive + data.gouv.fr, 13 régions), collectés une fois hors du pipeline live ; et la consommation Enedis, seule partie réellement automatisée — un flow Node-RED pagine l'API opendata.enedis.fr au premier démarrage et dépose le résultat dans MinIO. ml/dataset.py agrège les régions au niveau national, joint les deux sources sur la date, et découpe chronologiquement en G1 (entraînement), G2 (comparaison) et G3 (simulation), chargés dans PostgreSQL.</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Deux phases distinctes dans le temps. Phase A, au premier démarrage du conteneur Node-RED : pagination de l'API Enedis (pages de 5000 lignes), accumulation en clair dans un fichier brut, puis compression en une seule passe avant l'envoi vers MinIO. Phase B, un script lancé manuellement une fois : agrégation nationale de la météo, agrégation de la consommation Enedis depuis MinIO, jointure, découpage G1/G2/G3, puis chargement dans la table dataset_daily (915 lignes).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Un seul code d'entraînement, ml.train.train_and_register, appelé indifféremment par le job Gitea Actions (push de code) ou par le service trainer (dérive détectée). Le modèle LightGBM est unique et à horizon direct : horizon (1 à 5) fait partie des features, une seule inférence à J produit les 5 prédictions J+1 à J+5. Entraînement sur G1, évaluation sur G2 jamais vu à l'entraînement, et promotion de l'alias MLflow « prod » uniquement si le nouveau modèle fait mieux que l'actuel.</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Chargement des splits G1 et G2 depuis PostgreSQL, construction des lignes multi-horizon, entraînement LightGBM avec early stopping sur G2, puis enregistrement dans MLflow (paramètres, métriques, modèle). Le MAPE du nouveau modèle est comparé à celui du modèle actuellement en production ; l'alias « prod » n'est réassigné que si le nouveau modèle est meilleur — sinon l'ancien modèle reste en place, sans aucune interruption de service.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Le simulateur orchestre le cycle via l'API FastAPI : POST /simulation/advance révèle jour après jour la consommation réelle de G3, GET /predict produit une nouvelle prévision à 5 jours. Chaque évènement est publié sur MQTT (Mosquitto) — jour révélé, comparaison, prédiction émise — suivi par Node-RED (bouton « jour suivant ») et consulté directement en SQL par Grafana. Deux cadences possibles : avancée automatique périodique, ou strictement manuelle.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Un cycle complet : révélation du jour suivant de G3, mise à jour des prédictions passées dont la date cible vient d'être révélée (comparaison réel/prévu), nouvelle prédiction à 5 jours stockée en base, puis calcul du MAPE glissant sur la fenêtre configurée. Si ce MAPE dépasse le seuil avec assez d'échantillons, une demande de réentraînement est publiée sur MQTT — c'est l'entrée de l'étape 4.</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Le réentraînement déclenché par dérive passe par un service dédié, trainer, abonné MQTT — jamais par Gitea, dont la version installée (1.22) n'expose aucune API pour déclencher un workflow à distance. Pendant toute la durée de l'entraînement, l'API continue de répondre aux requêtes /predict avec le modèle actuellement chargé. Ce n'est qu'en cas de promotion que l'alias MLflow change et qu'un signal MQTT informe l'API de recharger le modèle, sans redémarrage.</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Le service trainer reçoit la demande de réentraînement, exécute le même code qu'à l'étape 2 (trigger = drift), puis journalise le run. Si le nouveau modèle est promu, un signal MQTT watt/model/updated est publié ; l'API, abonnée dans un thread séparé, programme un rechargement qui s'effectue au prochain appel /predict. Toute requête reçue pendant l'entraînement est servie normalement avec le modèle alors en production.</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À chaque push sur la branche principale, deux jobs Gitea Actions s'exécutent : un job qualité (tests unitaires sur le feature engineering et le découpage G1/G2/G3) et un job d'entraînement, qui appelle le même code que l'étape 2 avec trigger = push. Un déclenchement manuel reste possible depuis l'interface Gitea (workflow_dispatch), mais Gitea 1.22 n'expose pas d'API pour l'invoquer à distance — d'où le service trainer dédié pour le chemin dérive.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Le push déclenche les deux jobs en parallèle sur le runner Gitea Actions. Le job qualité exécute les tests unitaires et rapporte son statut. Le job d'entraînement exécute train_and_publish.py, qui appelle train_and_register, journalise le run dans PostgreSQL, et publie le signal MQTT model_updated si le modèle est promu — déclenchant le rechargement de l'API sans interruption, exactement comme pour le chemin dérive.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Cinq entités, une par module fonctionnel du schéma PostgreSQL : JOUR_DATASET (étape 1), ETAT_SIMULATION et PREDICTION (étape 3), EVENEMENT_DERIVE (étape 4), RUN_ENTRAINEMENT (étapes 2 et 5). Le schéma SQL réel ne déclare aucune contrainte de clé étrangère : les associations représentées ici (révèle, concerne, évalue) sont des liens logiques par date, appliqués côté application — chaque table est alimentée par un service indépendant, sans dépendance d'écriture croisée.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Le dashboard Grafana ne possède pas de table propre : chaque panneau lit directement les tables du modèle de données ci-dessus, en SQL brut. Le panneau principal superpose la consommation réelle, la prédiction à 5 jours et le MAPE glissant ; un second panneau vérifie les features d'entrée (température, vacances scolaires par zone) ; un panneau table liste les 30 dernières évaluations de dérive et les réentraînements effectivement déclenchés.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L'ensemble</a:t>
            </a:r>
            <a:r>
              <a:rPr dirty="0"/>
              <a:t> de la stack </a:t>
            </a:r>
            <a:r>
              <a:rPr dirty="0" err="1"/>
              <a:t>tient</a:t>
            </a:r>
            <a:r>
              <a:rPr dirty="0"/>
              <a:t> dans Docker Compose et </a:t>
            </a:r>
            <a:r>
              <a:rPr dirty="0" err="1"/>
              <a:t>fonctionne</a:t>
            </a:r>
            <a:r>
              <a:rPr dirty="0"/>
              <a:t> </a:t>
            </a:r>
            <a:r>
              <a:rPr dirty="0" err="1"/>
              <a:t>en</a:t>
            </a:r>
            <a:r>
              <a:rPr dirty="0"/>
              <a:t> local, sans </a:t>
            </a:r>
            <a:r>
              <a:rPr dirty="0" err="1"/>
              <a:t>aucun</a:t>
            </a:r>
            <a:r>
              <a:rPr dirty="0"/>
              <a:t> service cloud </a:t>
            </a:r>
            <a:r>
              <a:rPr dirty="0" err="1"/>
              <a:t>payant</a:t>
            </a:r>
            <a:r>
              <a:rPr dirty="0"/>
              <a:t> : Node-RED pour le </a:t>
            </a:r>
            <a:r>
              <a:rPr dirty="0" err="1"/>
              <a:t>déclenchement</a:t>
            </a:r>
            <a:r>
              <a:rPr dirty="0"/>
              <a:t> </a:t>
            </a:r>
            <a:r>
              <a:rPr dirty="0" err="1"/>
              <a:t>manuel</a:t>
            </a:r>
            <a:r>
              <a:rPr dirty="0"/>
              <a:t>, PostgreSQL </a:t>
            </a:r>
            <a:r>
              <a:rPr dirty="0" err="1"/>
              <a:t>comme</a:t>
            </a:r>
            <a:r>
              <a:rPr dirty="0"/>
              <a:t> unique base de données, </a:t>
            </a:r>
            <a:r>
              <a:rPr dirty="0" err="1"/>
              <a:t>Mosquitto</a:t>
            </a:r>
            <a:r>
              <a:rPr dirty="0"/>
              <a:t> pour la </a:t>
            </a:r>
            <a:r>
              <a:rPr dirty="0" err="1"/>
              <a:t>messagerie</a:t>
            </a:r>
            <a:r>
              <a:rPr dirty="0"/>
              <a:t> MQTT </a:t>
            </a:r>
            <a:r>
              <a:rPr dirty="0" err="1"/>
              <a:t>événementielle</a:t>
            </a:r>
            <a:r>
              <a:rPr dirty="0"/>
              <a:t>, </a:t>
            </a:r>
            <a:r>
              <a:rPr dirty="0" err="1"/>
              <a:t>LightGBM</a:t>
            </a:r>
            <a:r>
              <a:rPr dirty="0"/>
              <a:t> pour le </a:t>
            </a:r>
            <a:r>
              <a:rPr dirty="0" err="1"/>
              <a:t>modèle</a:t>
            </a:r>
            <a:r>
              <a:rPr dirty="0"/>
              <a:t> avec </a:t>
            </a:r>
            <a:r>
              <a:rPr dirty="0" err="1"/>
              <a:t>MLflow</a:t>
            </a:r>
            <a:r>
              <a:rPr dirty="0"/>
              <a:t> </a:t>
            </a:r>
            <a:r>
              <a:rPr dirty="0" err="1"/>
              <a:t>comme</a:t>
            </a:r>
            <a:r>
              <a:rPr dirty="0"/>
              <a:t> </a:t>
            </a:r>
            <a:r>
              <a:rPr dirty="0" err="1"/>
              <a:t>registre</a:t>
            </a:r>
            <a:r>
              <a:rPr dirty="0"/>
              <a:t> </a:t>
            </a:r>
            <a:r>
              <a:rPr dirty="0" err="1"/>
              <a:t>versionné</a:t>
            </a:r>
            <a:r>
              <a:rPr dirty="0"/>
              <a:t>, </a:t>
            </a:r>
            <a:r>
              <a:rPr dirty="0" err="1"/>
              <a:t>FastAPI</a:t>
            </a:r>
            <a:r>
              <a:rPr dirty="0"/>
              <a:t> pour </a:t>
            </a:r>
            <a:r>
              <a:rPr dirty="0" err="1"/>
              <a:t>servir</a:t>
            </a:r>
            <a:r>
              <a:rPr dirty="0"/>
              <a:t> les </a:t>
            </a:r>
            <a:r>
              <a:rPr dirty="0" err="1"/>
              <a:t>prédictions</a:t>
            </a:r>
            <a:r>
              <a:rPr dirty="0"/>
              <a:t>, </a:t>
            </a:r>
            <a:r>
              <a:rPr dirty="0" err="1"/>
              <a:t>Gitea</a:t>
            </a:r>
            <a:r>
              <a:rPr dirty="0"/>
              <a:t> Actions pour </a:t>
            </a:r>
            <a:r>
              <a:rPr dirty="0" err="1"/>
              <a:t>l'intégration</a:t>
            </a:r>
            <a:r>
              <a:rPr dirty="0"/>
              <a:t> continue, et Grafana/Jupyter pour </a:t>
            </a:r>
            <a:r>
              <a:rPr dirty="0" err="1"/>
              <a:t>l'observabilité</a:t>
            </a:r>
            <a:r>
              <a:rPr dirty="0"/>
              <a:t> et </a:t>
            </a:r>
            <a:r>
              <a:rPr dirty="0" err="1"/>
              <a:t>l'exploration</a:t>
            </a:r>
            <a:r>
              <a:rPr dirty="0"/>
              <a:t>. Ce choix </a:t>
            </a:r>
            <a:r>
              <a:rPr dirty="0" err="1"/>
              <a:t>garantit</a:t>
            </a:r>
            <a:r>
              <a:rPr dirty="0"/>
              <a:t> </a:t>
            </a:r>
            <a:r>
              <a:rPr dirty="0" err="1"/>
              <a:t>l'autonomie</a:t>
            </a:r>
            <a:r>
              <a:rPr dirty="0"/>
              <a:t> </a:t>
            </a:r>
            <a:r>
              <a:rPr dirty="0" err="1"/>
              <a:t>totale</a:t>
            </a:r>
            <a:r>
              <a:rPr dirty="0"/>
              <a:t> </a:t>
            </a:r>
            <a:r>
              <a:rPr dirty="0" err="1"/>
              <a:t>exigée</a:t>
            </a:r>
            <a:r>
              <a:rPr dirty="0"/>
              <a:t> par le cahier des charges.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Quatre </a:t>
            </a:r>
            <a:r>
              <a:rPr dirty="0" err="1"/>
              <a:t>risques</a:t>
            </a:r>
            <a:r>
              <a:rPr dirty="0"/>
              <a:t> </a:t>
            </a:r>
            <a:r>
              <a:rPr dirty="0" err="1"/>
              <a:t>ont</a:t>
            </a:r>
            <a:r>
              <a:rPr dirty="0"/>
              <a:t> </a:t>
            </a:r>
            <a:r>
              <a:rPr dirty="0" err="1"/>
              <a:t>été</a:t>
            </a:r>
            <a:r>
              <a:rPr dirty="0"/>
              <a:t> </a:t>
            </a:r>
            <a:r>
              <a:rPr dirty="0" err="1"/>
              <a:t>identifiés</a:t>
            </a:r>
            <a:r>
              <a:rPr dirty="0"/>
              <a:t> et </a:t>
            </a:r>
            <a:r>
              <a:rPr dirty="0" err="1"/>
              <a:t>traités</a:t>
            </a:r>
            <a:r>
              <a:rPr dirty="0"/>
              <a:t>. La </a:t>
            </a:r>
            <a:r>
              <a:rPr dirty="0" err="1"/>
              <a:t>dérive</a:t>
            </a:r>
            <a:r>
              <a:rPr dirty="0"/>
              <a:t> du </a:t>
            </a:r>
            <a:r>
              <a:rPr dirty="0" err="1"/>
              <a:t>modèle</a:t>
            </a:r>
            <a:r>
              <a:rPr dirty="0"/>
              <a:t> est </a:t>
            </a:r>
            <a:r>
              <a:rPr dirty="0" err="1"/>
              <a:t>surveillée</a:t>
            </a:r>
            <a:r>
              <a:rPr dirty="0"/>
              <a:t> </a:t>
            </a:r>
            <a:r>
              <a:rPr dirty="0" err="1"/>
              <a:t>en</a:t>
            </a:r>
            <a:r>
              <a:rPr dirty="0"/>
              <a:t> </a:t>
            </a:r>
            <a:r>
              <a:rPr dirty="0" err="1"/>
              <a:t>continu</a:t>
            </a:r>
            <a:r>
              <a:rPr dirty="0"/>
              <a:t> par le MAPE </a:t>
            </a:r>
            <a:r>
              <a:rPr dirty="0" err="1"/>
              <a:t>glissant</a:t>
            </a:r>
            <a:r>
              <a:rPr dirty="0"/>
              <a:t>, avec </a:t>
            </a:r>
            <a:r>
              <a:rPr dirty="0" err="1"/>
              <a:t>réentraînement</a:t>
            </a:r>
            <a:r>
              <a:rPr dirty="0"/>
              <a:t> </a:t>
            </a:r>
            <a:r>
              <a:rPr dirty="0" err="1"/>
              <a:t>automatique</a:t>
            </a:r>
            <a:r>
              <a:rPr dirty="0"/>
              <a:t> </a:t>
            </a:r>
            <a:r>
              <a:rPr dirty="0" err="1"/>
              <a:t>en</a:t>
            </a:r>
            <a:r>
              <a:rPr dirty="0"/>
              <a:t> </a:t>
            </a:r>
            <a:r>
              <a:rPr dirty="0" err="1"/>
              <a:t>cas</a:t>
            </a:r>
            <a:r>
              <a:rPr dirty="0"/>
              <a:t> de </a:t>
            </a:r>
            <a:r>
              <a:rPr dirty="0" err="1"/>
              <a:t>dépassement</a:t>
            </a:r>
            <a:r>
              <a:rPr dirty="0"/>
              <a:t> de </a:t>
            </a:r>
            <a:r>
              <a:rPr dirty="0" err="1"/>
              <a:t>seuil</a:t>
            </a:r>
            <a:r>
              <a:rPr dirty="0"/>
              <a:t>. Une contention CPU pendant un </a:t>
            </a:r>
            <a:r>
              <a:rPr dirty="0" err="1"/>
              <a:t>entraînement</a:t>
            </a:r>
            <a:r>
              <a:rPr dirty="0"/>
              <a:t> </a:t>
            </a:r>
            <a:r>
              <a:rPr dirty="0" err="1"/>
              <a:t>peut</a:t>
            </a:r>
            <a:r>
              <a:rPr dirty="0"/>
              <a:t> </a:t>
            </a:r>
            <a:r>
              <a:rPr dirty="0" err="1"/>
              <a:t>ralentir</a:t>
            </a:r>
            <a:r>
              <a:rPr dirty="0"/>
              <a:t> </a:t>
            </a:r>
            <a:r>
              <a:rPr dirty="0" err="1"/>
              <a:t>l'API</a:t>
            </a:r>
            <a:r>
              <a:rPr dirty="0"/>
              <a:t> </a:t>
            </a:r>
            <a:r>
              <a:rPr dirty="0" err="1"/>
              <a:t>mais</a:t>
            </a:r>
            <a:r>
              <a:rPr dirty="0"/>
              <a:t> ne </a:t>
            </a:r>
            <a:r>
              <a:rPr dirty="0" err="1"/>
              <a:t>l'interrompt</a:t>
            </a:r>
            <a:r>
              <a:rPr dirty="0"/>
              <a:t> jamais, grâce à la </a:t>
            </a:r>
            <a:r>
              <a:rPr dirty="0" err="1"/>
              <a:t>séparation</a:t>
            </a:r>
            <a:r>
              <a:rPr dirty="0"/>
              <a:t> des </a:t>
            </a:r>
            <a:r>
              <a:rPr dirty="0" err="1"/>
              <a:t>conteneurs</a:t>
            </a:r>
            <a:r>
              <a:rPr dirty="0"/>
              <a:t>. La </a:t>
            </a:r>
            <a:r>
              <a:rPr dirty="0" err="1"/>
              <a:t>limite</a:t>
            </a:r>
            <a:r>
              <a:rPr dirty="0"/>
              <a:t> technique de </a:t>
            </a:r>
            <a:r>
              <a:rPr dirty="0" err="1"/>
              <a:t>Gitea</a:t>
            </a:r>
            <a:r>
              <a:rPr dirty="0"/>
              <a:t> 1.22 a </a:t>
            </a:r>
            <a:r>
              <a:rPr dirty="0" err="1"/>
              <a:t>été</a:t>
            </a:r>
            <a:r>
              <a:rPr dirty="0"/>
              <a:t> </a:t>
            </a:r>
            <a:r>
              <a:rPr dirty="0" err="1"/>
              <a:t>contournée</a:t>
            </a:r>
            <a:r>
              <a:rPr dirty="0"/>
              <a:t> par le service trainer. </a:t>
            </a:r>
            <a:r>
              <a:rPr dirty="0" err="1"/>
              <a:t>Enfin</a:t>
            </a:r>
            <a:r>
              <a:rPr dirty="0"/>
              <a:t>, la </a:t>
            </a:r>
            <a:r>
              <a:rPr dirty="0" err="1"/>
              <a:t>météo</a:t>
            </a:r>
            <a:r>
              <a:rPr dirty="0"/>
              <a:t> </a:t>
            </a:r>
            <a:r>
              <a:rPr dirty="0" err="1"/>
              <a:t>réelle</a:t>
            </a:r>
            <a:r>
              <a:rPr dirty="0"/>
              <a:t> du jour J+5 </a:t>
            </a:r>
            <a:r>
              <a:rPr dirty="0" err="1"/>
              <a:t>n'étant</a:t>
            </a:r>
            <a:r>
              <a:rPr dirty="0"/>
              <a:t> pas </a:t>
            </a:r>
            <a:r>
              <a:rPr dirty="0" err="1"/>
              <a:t>connue</a:t>
            </a:r>
            <a:r>
              <a:rPr dirty="0"/>
              <a:t> à </a:t>
            </a:r>
            <a:r>
              <a:rPr dirty="0" err="1"/>
              <a:t>l'avance</a:t>
            </a:r>
            <a:r>
              <a:rPr dirty="0"/>
              <a:t>, le </a:t>
            </a:r>
            <a:r>
              <a:rPr dirty="0" err="1"/>
              <a:t>modèle</a:t>
            </a:r>
            <a:r>
              <a:rPr dirty="0"/>
              <a:t> </a:t>
            </a:r>
            <a:r>
              <a:rPr dirty="0" err="1"/>
              <a:t>utilise</a:t>
            </a:r>
            <a:r>
              <a:rPr dirty="0"/>
              <a:t> </a:t>
            </a:r>
            <a:r>
              <a:rPr dirty="0" err="1"/>
              <a:t>en</a:t>
            </a:r>
            <a:r>
              <a:rPr dirty="0"/>
              <a:t> </a:t>
            </a:r>
            <a:r>
              <a:rPr dirty="0" err="1"/>
              <a:t>substitut</a:t>
            </a:r>
            <a:r>
              <a:rPr dirty="0"/>
              <a:t> la </a:t>
            </a:r>
            <a:r>
              <a:rPr dirty="0" err="1"/>
              <a:t>météo</a:t>
            </a:r>
            <a:r>
              <a:rPr dirty="0"/>
              <a:t> du jour de la </a:t>
            </a:r>
            <a:r>
              <a:rPr dirty="0" err="1"/>
              <a:t>prédiction</a:t>
            </a:r>
            <a:r>
              <a:rPr dirty="0"/>
              <a:t> — </a:t>
            </a:r>
            <a:r>
              <a:rPr dirty="0" err="1"/>
              <a:t>une</a:t>
            </a:r>
            <a:r>
              <a:rPr dirty="0"/>
              <a:t> approximation </a:t>
            </a:r>
            <a:r>
              <a:rPr dirty="0" err="1"/>
              <a:t>documentée</a:t>
            </a:r>
            <a:r>
              <a:rPr dirty="0"/>
              <a:t>. </a:t>
            </a:r>
            <a:r>
              <a:rPr dirty="0" err="1"/>
              <a:t>Aucune</a:t>
            </a:r>
            <a:r>
              <a:rPr dirty="0"/>
              <a:t> donnée </a:t>
            </a:r>
            <a:r>
              <a:rPr dirty="0" err="1"/>
              <a:t>personnelle</a:t>
            </a:r>
            <a:r>
              <a:rPr dirty="0"/>
              <a:t> </a:t>
            </a:r>
            <a:r>
              <a:rPr dirty="0" err="1"/>
              <a:t>n'est</a:t>
            </a:r>
            <a:r>
              <a:rPr dirty="0"/>
              <a:t> </a:t>
            </a:r>
            <a:r>
              <a:rPr dirty="0" err="1"/>
              <a:t>manipulée</a:t>
            </a:r>
            <a:r>
              <a:rPr dirty="0"/>
              <a:t>, </a:t>
            </a:r>
            <a:r>
              <a:rPr dirty="0" err="1"/>
              <a:t>uniquement</a:t>
            </a:r>
            <a:r>
              <a:rPr dirty="0"/>
              <a:t> des </a:t>
            </a:r>
            <a:r>
              <a:rPr dirty="0" err="1"/>
              <a:t>agrégats</a:t>
            </a:r>
            <a:r>
              <a:rPr dirty="0"/>
              <a:t> </a:t>
            </a:r>
            <a:r>
              <a:rPr dirty="0" err="1"/>
              <a:t>nationaux</a:t>
            </a:r>
            <a:r>
              <a:rPr dirty="0"/>
              <a:t> et </a:t>
            </a:r>
            <a:r>
              <a:rPr dirty="0" err="1"/>
              <a:t>régionaux</a:t>
            </a:r>
            <a:r>
              <a:rPr dirty="0"/>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Le </a:t>
            </a:r>
            <a:r>
              <a:rPr dirty="0" err="1"/>
              <a:t>bilan</a:t>
            </a:r>
            <a:r>
              <a:rPr dirty="0"/>
              <a:t> est </a:t>
            </a:r>
            <a:r>
              <a:rPr dirty="0" err="1"/>
              <a:t>volontairement</a:t>
            </a:r>
            <a:r>
              <a:rPr dirty="0"/>
              <a:t> </a:t>
            </a:r>
            <a:r>
              <a:rPr dirty="0" err="1"/>
              <a:t>honnête</a:t>
            </a:r>
            <a:r>
              <a:rPr dirty="0"/>
              <a:t> sur </a:t>
            </a:r>
            <a:r>
              <a:rPr dirty="0" err="1"/>
              <a:t>ce</a:t>
            </a:r>
            <a:r>
              <a:rPr dirty="0"/>
              <a:t> qui a </a:t>
            </a:r>
            <a:r>
              <a:rPr dirty="0" err="1"/>
              <a:t>été</a:t>
            </a:r>
            <a:r>
              <a:rPr dirty="0"/>
              <a:t> </a:t>
            </a:r>
            <a:r>
              <a:rPr dirty="0" err="1"/>
              <a:t>vérifié</a:t>
            </a:r>
            <a:r>
              <a:rPr dirty="0"/>
              <a:t> et </a:t>
            </a:r>
            <a:r>
              <a:rPr dirty="0" err="1"/>
              <a:t>ce</a:t>
            </a:r>
            <a:r>
              <a:rPr dirty="0"/>
              <a:t> qui ne </a:t>
            </a:r>
            <a:r>
              <a:rPr dirty="0" err="1"/>
              <a:t>l'a</a:t>
            </a:r>
            <a:r>
              <a:rPr dirty="0"/>
              <a:t> pas </a:t>
            </a:r>
            <a:r>
              <a:rPr dirty="0" err="1"/>
              <a:t>été</a:t>
            </a:r>
            <a:r>
              <a:rPr dirty="0"/>
              <a:t>. Ce qui est </a:t>
            </a:r>
            <a:r>
              <a:rPr dirty="0" err="1"/>
              <a:t>vérifié</a:t>
            </a:r>
            <a:r>
              <a:rPr dirty="0"/>
              <a:t> : le pipeline </a:t>
            </a:r>
            <a:r>
              <a:rPr dirty="0" err="1"/>
              <a:t>complet</a:t>
            </a:r>
            <a:r>
              <a:rPr dirty="0"/>
              <a:t> </a:t>
            </a:r>
            <a:r>
              <a:rPr dirty="0" err="1"/>
              <a:t>tourne</a:t>
            </a:r>
            <a:r>
              <a:rPr dirty="0"/>
              <a:t> de bout </a:t>
            </a:r>
            <a:r>
              <a:rPr dirty="0" err="1"/>
              <a:t>en</a:t>
            </a:r>
            <a:r>
              <a:rPr dirty="0"/>
              <a:t> bout sur des données </a:t>
            </a:r>
            <a:r>
              <a:rPr dirty="0" err="1"/>
              <a:t>réelles</a:t>
            </a:r>
            <a:r>
              <a:rPr dirty="0"/>
              <a:t>, les deux workflows </a:t>
            </a:r>
            <a:r>
              <a:rPr dirty="0" err="1"/>
              <a:t>Gitea</a:t>
            </a:r>
            <a:r>
              <a:rPr dirty="0"/>
              <a:t> </a:t>
            </a:r>
            <a:r>
              <a:rPr dirty="0" err="1"/>
              <a:t>sont</a:t>
            </a:r>
            <a:r>
              <a:rPr dirty="0"/>
              <a:t> </a:t>
            </a:r>
            <a:r>
              <a:rPr dirty="0" err="1"/>
              <a:t>passés</a:t>
            </a:r>
            <a:r>
              <a:rPr dirty="0"/>
              <a:t> </a:t>
            </a:r>
            <a:r>
              <a:rPr dirty="0" err="1"/>
              <a:t>en</a:t>
            </a:r>
            <a:r>
              <a:rPr dirty="0"/>
              <a:t> Success à </a:t>
            </a:r>
            <a:r>
              <a:rPr dirty="0" err="1"/>
              <a:t>plusieurs</a:t>
            </a:r>
            <a:r>
              <a:rPr dirty="0"/>
              <a:t> reprises, et la non-interruption de </a:t>
            </a:r>
            <a:r>
              <a:rPr dirty="0" err="1"/>
              <a:t>l'API</a:t>
            </a:r>
            <a:r>
              <a:rPr dirty="0"/>
              <a:t> pendant un </a:t>
            </a:r>
            <a:r>
              <a:rPr dirty="0" err="1"/>
              <a:t>réentraînement</a:t>
            </a:r>
            <a:r>
              <a:rPr dirty="0"/>
              <a:t> a </a:t>
            </a:r>
            <a:r>
              <a:rPr dirty="0" err="1"/>
              <a:t>été</a:t>
            </a:r>
            <a:r>
              <a:rPr dirty="0"/>
              <a:t> </a:t>
            </a:r>
            <a:r>
              <a:rPr dirty="0" err="1"/>
              <a:t>testée</a:t>
            </a:r>
            <a:r>
              <a:rPr dirty="0"/>
              <a:t> </a:t>
            </a:r>
            <a:r>
              <a:rPr dirty="0" err="1"/>
              <a:t>en</a:t>
            </a:r>
            <a:r>
              <a:rPr dirty="0"/>
              <a:t> conditions </a:t>
            </a:r>
            <a:r>
              <a:rPr dirty="0" err="1"/>
              <a:t>réelles</a:t>
            </a:r>
            <a:r>
              <a:rPr dirty="0"/>
              <a:t>. Ce qui </a:t>
            </a:r>
            <a:r>
              <a:rPr dirty="0" err="1"/>
              <a:t>reste</a:t>
            </a:r>
            <a:r>
              <a:rPr dirty="0"/>
              <a:t> </a:t>
            </a:r>
            <a:r>
              <a:rPr dirty="0" err="1"/>
              <a:t>une</a:t>
            </a:r>
            <a:r>
              <a:rPr dirty="0"/>
              <a:t> </a:t>
            </a:r>
            <a:r>
              <a:rPr dirty="0" err="1"/>
              <a:t>limite</a:t>
            </a:r>
            <a:r>
              <a:rPr dirty="0"/>
              <a:t> </a:t>
            </a:r>
            <a:r>
              <a:rPr dirty="0" err="1"/>
              <a:t>assumée</a:t>
            </a:r>
            <a:r>
              <a:rPr dirty="0"/>
              <a:t> : les </a:t>
            </a:r>
            <a:r>
              <a:rPr dirty="0" err="1"/>
              <a:t>hyperparamètres</a:t>
            </a:r>
            <a:r>
              <a:rPr dirty="0"/>
              <a:t> </a:t>
            </a:r>
            <a:r>
              <a:rPr dirty="0" err="1"/>
              <a:t>LightGBM</a:t>
            </a:r>
            <a:r>
              <a:rPr dirty="0"/>
              <a:t> </a:t>
            </a:r>
            <a:r>
              <a:rPr dirty="0" err="1"/>
              <a:t>ont</a:t>
            </a:r>
            <a:r>
              <a:rPr dirty="0"/>
              <a:t> </a:t>
            </a:r>
            <a:r>
              <a:rPr dirty="0" err="1"/>
              <a:t>été</a:t>
            </a:r>
            <a:r>
              <a:rPr dirty="0"/>
              <a:t> </a:t>
            </a:r>
            <a:r>
              <a:rPr dirty="0" err="1"/>
              <a:t>fixés</a:t>
            </a:r>
            <a:r>
              <a:rPr dirty="0"/>
              <a:t> à dire </a:t>
            </a:r>
            <a:r>
              <a:rPr dirty="0" err="1"/>
              <a:t>d'expert</a:t>
            </a:r>
            <a:r>
              <a:rPr dirty="0"/>
              <a:t> sans recherche </a:t>
            </a:r>
            <a:r>
              <a:rPr dirty="0" err="1"/>
              <a:t>automatique</a:t>
            </a:r>
            <a:r>
              <a:rPr dirty="0"/>
              <a:t>, et le mode 100% </a:t>
            </a:r>
            <a:r>
              <a:rPr dirty="0" err="1"/>
              <a:t>automatique</a:t>
            </a:r>
            <a:r>
              <a:rPr dirty="0"/>
              <a:t> </a:t>
            </a:r>
            <a:r>
              <a:rPr dirty="0" err="1"/>
              <a:t>n'a</a:t>
            </a:r>
            <a:r>
              <a:rPr dirty="0"/>
              <a:t> pas </a:t>
            </a:r>
            <a:r>
              <a:rPr dirty="0" err="1"/>
              <a:t>tourné</a:t>
            </a:r>
            <a:r>
              <a:rPr dirty="0"/>
              <a:t> </a:t>
            </a:r>
            <a:r>
              <a:rPr dirty="0" err="1"/>
              <a:t>en</a:t>
            </a:r>
            <a:r>
              <a:rPr dirty="0"/>
              <a:t> </a:t>
            </a:r>
            <a:r>
              <a:rPr dirty="0" err="1"/>
              <a:t>continu</a:t>
            </a:r>
            <a:r>
              <a:rPr dirty="0"/>
              <a:t> sur </a:t>
            </a:r>
            <a:r>
              <a:rPr dirty="0" err="1"/>
              <a:t>une</a:t>
            </a:r>
            <a:r>
              <a:rPr dirty="0"/>
              <a:t> longue durée — seul le </a:t>
            </a:r>
            <a:r>
              <a:rPr dirty="0" err="1"/>
              <a:t>déclenchement</a:t>
            </a:r>
            <a:r>
              <a:rPr dirty="0"/>
              <a:t> </a:t>
            </a:r>
            <a:r>
              <a:rPr dirty="0" err="1"/>
              <a:t>manuel</a:t>
            </a:r>
            <a:r>
              <a:rPr dirty="0"/>
              <a:t> a </a:t>
            </a:r>
            <a:r>
              <a:rPr dirty="0" err="1"/>
              <a:t>été</a:t>
            </a:r>
            <a:r>
              <a:rPr dirty="0"/>
              <a:t> </a:t>
            </a:r>
            <a:r>
              <a:rPr dirty="0" err="1"/>
              <a:t>répété</a:t>
            </a:r>
            <a:r>
              <a:rPr dirty="0"/>
              <a:t> </a:t>
            </a:r>
            <a:r>
              <a:rPr dirty="0" err="1"/>
              <a:t>plusieurs</a:t>
            </a:r>
            <a:r>
              <a:rPr dirty="0"/>
              <a:t> </a:t>
            </a:r>
            <a:r>
              <a:rPr dirty="0" err="1"/>
              <a:t>fois</a:t>
            </a:r>
            <a:r>
              <a:rPr dirty="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792464" y="955591"/>
            <a:ext cx="6827895" cy="792601"/>
          </a:xfrm>
        </p:spPr>
        <p:txBody>
          <a:bodyPr/>
          <a:lstStyle/>
          <a:p>
            <a:pPr algn="l"/>
            <a:r>
              <a:rPr sz="3400" b="1" i="0" dirty="0">
                <a:solidFill>
                  <a:srgbClr val="212121"/>
                </a:solidFill>
                <a:latin typeface="Arial"/>
              </a:rPr>
              <a:t>AIA – RNCP38777</a:t>
            </a:r>
          </a:p>
        </p:txBody>
      </p:sp>
      <p:sp>
        <p:nvSpPr>
          <p:cNvPr id="3" name="Subtitle 2"/>
          <p:cNvSpPr>
            <a:spLocks noGrp="1"/>
          </p:cNvSpPr>
          <p:nvPr>
            <p:ph type="subTitle" idx="1"/>
          </p:nvPr>
        </p:nvSpPr>
        <p:spPr>
          <a:xfrm>
            <a:off x="1709120" y="1748192"/>
            <a:ext cx="3497291" cy="897722"/>
          </a:xfrm>
        </p:spPr>
        <p:txBody>
          <a:bodyPr/>
          <a:lstStyle/>
          <a:p>
            <a:pPr algn="l"/>
            <a:r>
              <a:rPr lang="fr-FR" sz="1600" b="0" i="0" dirty="0">
                <a:solidFill>
                  <a:srgbClr val="595959"/>
                </a:solidFill>
                <a:latin typeface="Arial"/>
              </a:rPr>
              <a:t>Joel </a:t>
            </a:r>
            <a:r>
              <a:rPr lang="fr-FR" sz="1600" b="0" i="0" dirty="0" err="1">
                <a:solidFill>
                  <a:srgbClr val="595959"/>
                </a:solidFill>
                <a:latin typeface="Arial"/>
              </a:rPr>
              <a:t>Gloaguen</a:t>
            </a:r>
            <a:r>
              <a:rPr lang="fr-FR" sz="1600" b="0" i="0" dirty="0">
                <a:solidFill>
                  <a:srgbClr val="595959"/>
                </a:solidFill>
                <a:latin typeface="Arial"/>
              </a:rPr>
              <a:t>
</a:t>
            </a:r>
            <a:r>
              <a:rPr lang="fr-FR" sz="1600" b="0" i="0">
                <a:solidFill>
                  <a:srgbClr val="595959"/>
                </a:solidFill>
                <a:latin typeface="Arial"/>
              </a:rPr>
              <a:t>
</a:t>
            </a:r>
            <a:r>
              <a:rPr lang="fr-FR" sz="1600">
                <a:solidFill>
                  <a:srgbClr val="595959"/>
                </a:solidFill>
              </a:rPr>
              <a:t>22</a:t>
            </a:r>
            <a:r>
              <a:rPr lang="fr-FR" sz="1600" b="0" i="0">
                <a:solidFill>
                  <a:srgbClr val="595959"/>
                </a:solidFill>
                <a:latin typeface="Arial"/>
              </a:rPr>
              <a:t> </a:t>
            </a:r>
            <a:r>
              <a:rPr lang="fr-FR" sz="1600" b="0" i="0" dirty="0">
                <a:solidFill>
                  <a:srgbClr val="595959"/>
                </a:solidFill>
                <a:latin typeface="Arial"/>
              </a:rPr>
              <a:t>septembre 2026</a:t>
            </a:r>
          </a:p>
        </p:txBody>
      </p:sp>
      <p:pic>
        <p:nvPicPr>
          <p:cNvPr id="7" name="Google Shape;56;p13">
            <a:extLst>
              <a:ext uri="{FF2B5EF4-FFF2-40B4-BE49-F238E27FC236}">
                <a16:creationId xmlns:a16="http://schemas.microsoft.com/office/drawing/2014/main" id="{4EB075C6-9FAC-36D9-B042-3F8CA5BAC4F9}"/>
              </a:ext>
            </a:extLst>
          </p:cNvPr>
          <p:cNvPicPr preferRelativeResize="0"/>
          <p:nvPr/>
        </p:nvPicPr>
        <p:blipFill>
          <a:blip r:embed="rId2">
            <a:alphaModFix/>
          </a:blip>
          <a:stretch>
            <a:fillRect/>
          </a:stretch>
        </p:blipFill>
        <p:spPr>
          <a:xfrm>
            <a:off x="458486" y="1026366"/>
            <a:ext cx="973275" cy="651050"/>
          </a:xfrm>
          <a:prstGeom prst="rect">
            <a:avLst/>
          </a:prstGeom>
          <a:noFill/>
          <a:ln>
            <a:noFill/>
          </a:ln>
        </p:spPr>
      </p:pic>
      <p:pic>
        <p:nvPicPr>
          <p:cNvPr id="9" name="Google Shape;111;p19">
            <a:extLst>
              <a:ext uri="{FF2B5EF4-FFF2-40B4-BE49-F238E27FC236}">
                <a16:creationId xmlns:a16="http://schemas.microsoft.com/office/drawing/2014/main" id="{23A93D62-CC29-6BA8-CFB2-F215CF7F7020}"/>
              </a:ext>
            </a:extLst>
          </p:cNvPr>
          <p:cNvPicPr preferRelativeResize="0"/>
          <p:nvPr/>
        </p:nvPicPr>
        <p:blipFill>
          <a:blip r:embed="rId3">
            <a:alphaModFix/>
          </a:blip>
          <a:stretch>
            <a:fillRect/>
          </a:stretch>
        </p:blipFill>
        <p:spPr>
          <a:xfrm>
            <a:off x="3918625" y="3006624"/>
            <a:ext cx="4599299" cy="21368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4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Agenda</a:t>
            </a:r>
          </a:p>
        </p:txBody>
      </p:sp>
      <p:sp>
        <p:nvSpPr>
          <p:cNvPr id="3" name="Text Placeholder 2"/>
          <p:cNvSpPr>
            <a:spLocks noGrp="1"/>
          </p:cNvSpPr>
          <p:nvPr>
            <p:ph type="body" idx="1"/>
          </p:nvPr>
        </p:nvSpPr>
        <p:spPr/>
        <p:txBody>
          <a:bodyPr wrap="square"/>
          <a:lstStyle/>
          <a:p>
            <a:pPr>
              <a:spcAft>
                <a:spcPts val="1000"/>
              </a:spcAft>
            </a:pPr>
            <a:r>
              <a:rPr sz="1600" b="0" i="0">
                <a:solidFill>
                  <a:srgbClr val="595959"/>
                </a:solidFill>
                <a:latin typeface="Arial"/>
              </a:rPr>
              <a:t>Bloc 1 — Gouvernance des données Spotify</a:t>
            </a:r>
          </a:p>
          <a:p>
            <a:pPr>
              <a:spcAft>
                <a:spcPts val="1000"/>
              </a:spcAft>
            </a:pPr>
            <a:r>
              <a:rPr sz="1600" b="0" i="0">
                <a:solidFill>
                  <a:srgbClr val="595959"/>
                </a:solidFill>
                <a:latin typeface="Arial"/>
              </a:rPr>
              <a:t>Bloc 2 — Architecture de données — Affaire Stripe</a:t>
            </a:r>
          </a:p>
          <a:p>
            <a:pPr>
              <a:spcAft>
                <a:spcPts val="1000"/>
              </a:spcAft>
            </a:pPr>
            <a:r>
              <a:rPr sz="1600" b="0" i="0">
                <a:solidFill>
                  <a:srgbClr val="595959"/>
                </a:solidFill>
                <a:latin typeface="Arial"/>
              </a:rPr>
              <a:t>Bloc 3 — Détection automatique de fraude</a:t>
            </a:r>
          </a:p>
          <a:p>
            <a:pPr>
              <a:spcAft>
                <a:spcPts val="1000"/>
              </a:spcAft>
            </a:pPr>
            <a:r>
              <a:rPr sz="1600" b="0" i="0">
                <a:solidFill>
                  <a:srgbClr val="595959"/>
                </a:solidFill>
                <a:latin typeface="Arial"/>
              </a:rPr>
              <a:t>Bloc 4 — Projet final — Plateforme MLOps</a:t>
            </a:r>
          </a:p>
        </p:txBody>
      </p:sp>
      <p:sp>
        <p:nvSpPr>
          <p:cNvPr id="4" name="Espace réservé du numéro de diapositive 3">
            <a:extLst>
              <a:ext uri="{FF2B5EF4-FFF2-40B4-BE49-F238E27FC236}">
                <a16:creationId xmlns:a16="http://schemas.microsoft.com/office/drawing/2014/main" id="{FCCD3521-BD6E-2B67-17E4-0312594F7A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a:t>
            </a:fld>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17365" y="860910"/>
            <a:ext cx="8520600" cy="881289"/>
          </a:xfrm>
        </p:spPr>
        <p:txBody>
          <a:bodyPr/>
          <a:lstStyle/>
          <a:p>
            <a:pPr algn="ctr"/>
            <a:r>
              <a:rPr sz="3200" b="1" i="0" dirty="0" err="1">
                <a:solidFill>
                  <a:srgbClr val="212121"/>
                </a:solidFill>
                <a:latin typeface="Arial"/>
              </a:rPr>
              <a:t>Gouvernance</a:t>
            </a:r>
            <a:r>
              <a:rPr sz="3200" b="1" i="0" dirty="0">
                <a:solidFill>
                  <a:srgbClr val="212121"/>
                </a:solidFill>
                <a:latin typeface="Arial"/>
              </a:rPr>
              <a:t> des données Spotify</a:t>
            </a:r>
          </a:p>
        </p:txBody>
      </p:sp>
      <p:sp>
        <p:nvSpPr>
          <p:cNvPr id="3" name="Subtitle 2"/>
          <p:cNvSpPr>
            <a:spLocks noGrp="1"/>
          </p:cNvSpPr>
          <p:nvPr>
            <p:ph type="subTitle" idx="1"/>
          </p:nvPr>
        </p:nvSpPr>
        <p:spPr>
          <a:xfrm>
            <a:off x="217357" y="1779150"/>
            <a:ext cx="8520600" cy="792600"/>
          </a:xfrm>
        </p:spPr>
        <p:txBody>
          <a:bodyPr/>
          <a:lstStyle/>
          <a:p>
            <a:pPr algn="ctr"/>
            <a:r>
              <a:rPr sz="1500" b="0" i="0" dirty="0">
                <a:solidFill>
                  <a:srgbClr val="595959"/>
                </a:solidFill>
                <a:latin typeface="Arial"/>
              </a:rPr>
              <a:t>Bloc 1 — </a:t>
            </a:r>
            <a:r>
              <a:rPr sz="1500" b="0" i="0" dirty="0" err="1">
                <a:solidFill>
                  <a:srgbClr val="595959"/>
                </a:solidFill>
                <a:latin typeface="Arial"/>
              </a:rPr>
              <a:t>Concevoir</a:t>
            </a:r>
            <a:r>
              <a:rPr sz="1500" b="0" i="0" dirty="0">
                <a:solidFill>
                  <a:srgbClr val="595959"/>
                </a:solidFill>
                <a:latin typeface="Arial"/>
              </a:rPr>
              <a:t> et </a:t>
            </a:r>
            <a:r>
              <a:rPr sz="1500" b="0" i="0" dirty="0" err="1">
                <a:solidFill>
                  <a:srgbClr val="595959"/>
                </a:solidFill>
                <a:latin typeface="Arial"/>
              </a:rPr>
              <a:t>piloter</a:t>
            </a:r>
            <a:r>
              <a:rPr sz="1500" b="0" i="0" dirty="0">
                <a:solidFill>
                  <a:srgbClr val="595959"/>
                </a:solidFill>
                <a:latin typeface="Arial"/>
              </a:rPr>
              <a:t> la </a:t>
            </a:r>
            <a:r>
              <a:rPr sz="1500" b="0" i="0" dirty="0" err="1">
                <a:solidFill>
                  <a:srgbClr val="595959"/>
                </a:solidFill>
                <a:latin typeface="Arial"/>
              </a:rPr>
              <a:t>gouvernance</a:t>
            </a:r>
            <a:r>
              <a:rPr sz="1500" b="0" i="0" dirty="0">
                <a:solidFill>
                  <a:srgbClr val="595959"/>
                </a:solidFill>
                <a:latin typeface="Arial"/>
              </a:rPr>
              <a:t> des données</a:t>
            </a:r>
          </a:p>
        </p:txBody>
      </p:sp>
      <p:sp>
        <p:nvSpPr>
          <p:cNvPr id="4" name="Rectangle 3"/>
          <p:cNvSpPr/>
          <p:nvPr/>
        </p:nvSpPr>
        <p:spPr>
          <a:xfrm>
            <a:off x="4023360" y="566928"/>
            <a:ext cx="109728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Google Shape;55;p13">
            <a:extLst>
              <a:ext uri="{FF2B5EF4-FFF2-40B4-BE49-F238E27FC236}">
                <a16:creationId xmlns:a16="http://schemas.microsoft.com/office/drawing/2014/main" id="{6A150E60-0421-B618-986D-7C6567B73E7C}"/>
              </a:ext>
            </a:extLst>
          </p:cNvPr>
          <p:cNvPicPr preferRelativeResize="0"/>
          <p:nvPr/>
        </p:nvPicPr>
        <p:blipFill>
          <a:blip r:embed="rId2">
            <a:alphaModFix/>
          </a:blip>
          <a:stretch>
            <a:fillRect/>
          </a:stretch>
        </p:blipFill>
        <p:spPr>
          <a:xfrm>
            <a:off x="4572000" y="2352850"/>
            <a:ext cx="3818450" cy="2547749"/>
          </a:xfrm>
          <a:prstGeom prst="rect">
            <a:avLst/>
          </a:prstGeom>
          <a:noFill/>
          <a:ln>
            <a:noFill/>
          </a:ln>
        </p:spPr>
      </p:pic>
      <p:pic>
        <p:nvPicPr>
          <p:cNvPr id="8" name="Google Shape;56;p13">
            <a:extLst>
              <a:ext uri="{FF2B5EF4-FFF2-40B4-BE49-F238E27FC236}">
                <a16:creationId xmlns:a16="http://schemas.microsoft.com/office/drawing/2014/main" id="{E540A475-D220-E9E5-B030-72C4103FD7C9}"/>
              </a:ext>
            </a:extLst>
          </p:cNvPr>
          <p:cNvPicPr preferRelativeResize="0"/>
          <p:nvPr/>
        </p:nvPicPr>
        <p:blipFill>
          <a:blip r:embed="rId3">
            <a:alphaModFix/>
          </a:blip>
          <a:stretch>
            <a:fillRect/>
          </a:stretch>
        </p:blipFill>
        <p:spPr>
          <a:xfrm>
            <a:off x="217358" y="1109625"/>
            <a:ext cx="704300" cy="55226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0103" y="481227"/>
            <a:ext cx="8520600" cy="572700"/>
          </a:xfrm>
        </p:spPr>
        <p:txBody>
          <a:bodyPr/>
          <a:lstStyle/>
          <a:p>
            <a:r>
              <a:rPr b="1" dirty="0" err="1">
                <a:solidFill>
                  <a:srgbClr val="212121"/>
                </a:solidFill>
                <a:latin typeface="Arial"/>
              </a:rPr>
              <a:t>Sommaire</a:t>
            </a:r>
            <a:endParaRPr b="1" dirty="0">
              <a:solidFill>
                <a:srgbClr val="212121"/>
              </a:solidFill>
              <a:latin typeface="Arial"/>
            </a:endParaRPr>
          </a:p>
        </p:txBody>
      </p:sp>
      <p:sp>
        <p:nvSpPr>
          <p:cNvPr id="3" name="Text Placeholder 2"/>
          <p:cNvSpPr>
            <a:spLocks noGrp="1"/>
          </p:cNvSpPr>
          <p:nvPr>
            <p:ph type="body" idx="1"/>
          </p:nvPr>
        </p:nvSpPr>
        <p:spPr>
          <a:xfrm>
            <a:off x="311700" y="1152475"/>
            <a:ext cx="8520600" cy="3746096"/>
          </a:xfrm>
        </p:spPr>
        <p:txBody>
          <a:bodyPr wrap="square"/>
          <a:lstStyle/>
          <a:p>
            <a:pPr>
              <a:spcAft>
                <a:spcPts val="1000"/>
              </a:spcAft>
            </a:pPr>
            <a:r>
              <a:rPr sz="1200" b="0" i="0" dirty="0">
                <a:solidFill>
                  <a:srgbClr val="595959"/>
                </a:solidFill>
                <a:latin typeface="Arial"/>
              </a:rPr>
              <a:t>Spotify </a:t>
            </a:r>
            <a:r>
              <a:rPr sz="1200" b="0" i="0" dirty="0" err="1">
                <a:solidFill>
                  <a:srgbClr val="595959"/>
                </a:solidFill>
                <a:latin typeface="Arial"/>
              </a:rPr>
              <a:t>en</a:t>
            </a:r>
            <a:r>
              <a:rPr sz="1200" b="0" i="0" dirty="0">
                <a:solidFill>
                  <a:srgbClr val="595959"/>
                </a:solidFill>
                <a:latin typeface="Arial"/>
              </a:rPr>
              <a:t> chiffres : </a:t>
            </a:r>
            <a:r>
              <a:rPr sz="1200" b="0" i="0" dirty="0" err="1">
                <a:solidFill>
                  <a:srgbClr val="595959"/>
                </a:solidFill>
                <a:latin typeface="Arial"/>
              </a:rPr>
              <a:t>l'échelle</a:t>
            </a:r>
            <a:r>
              <a:rPr sz="1200" b="0" i="0" dirty="0">
                <a:solidFill>
                  <a:srgbClr val="595959"/>
                </a:solidFill>
                <a:latin typeface="Arial"/>
              </a:rPr>
              <a:t> qui impose la </a:t>
            </a:r>
            <a:r>
              <a:rPr sz="1200" b="0" i="0" dirty="0" err="1">
                <a:solidFill>
                  <a:srgbClr val="595959"/>
                </a:solidFill>
                <a:latin typeface="Arial"/>
              </a:rPr>
              <a:t>gouvernance</a:t>
            </a:r>
            <a:endParaRPr sz="1200" b="0" i="0" dirty="0">
              <a:solidFill>
                <a:srgbClr val="595959"/>
              </a:solidFill>
              <a:latin typeface="Arial"/>
            </a:endParaRPr>
          </a:p>
          <a:p>
            <a:pPr>
              <a:spcAft>
                <a:spcPts val="1000"/>
              </a:spcAft>
            </a:pPr>
            <a:r>
              <a:rPr sz="1200" b="0" i="0" dirty="0">
                <a:solidFill>
                  <a:srgbClr val="595959"/>
                </a:solidFill>
                <a:latin typeface="Arial"/>
              </a:rPr>
              <a:t>Trois </a:t>
            </a:r>
            <a:r>
              <a:rPr sz="1200" b="0" i="0" dirty="0" err="1">
                <a:solidFill>
                  <a:srgbClr val="595959"/>
                </a:solidFill>
                <a:latin typeface="Arial"/>
              </a:rPr>
              <a:t>enjeux</a:t>
            </a:r>
            <a:r>
              <a:rPr sz="1200" b="0" i="0" dirty="0">
                <a:solidFill>
                  <a:srgbClr val="595959"/>
                </a:solidFill>
                <a:latin typeface="Arial"/>
              </a:rPr>
              <a:t> critiques</a:t>
            </a:r>
          </a:p>
          <a:p>
            <a:pPr>
              <a:spcAft>
                <a:spcPts val="1000"/>
              </a:spcAft>
            </a:pPr>
            <a:r>
              <a:rPr sz="1200" b="0" i="0" dirty="0" err="1">
                <a:solidFill>
                  <a:srgbClr val="595959"/>
                </a:solidFill>
                <a:latin typeface="Arial"/>
              </a:rPr>
              <a:t>Maturité</a:t>
            </a:r>
            <a:r>
              <a:rPr sz="1200" b="0" i="0" dirty="0">
                <a:solidFill>
                  <a:srgbClr val="595959"/>
                </a:solidFill>
                <a:latin typeface="Arial"/>
              </a:rPr>
              <a:t> data : </a:t>
            </a:r>
            <a:r>
              <a:rPr sz="1200" b="0" i="0" dirty="0" err="1">
                <a:solidFill>
                  <a:srgbClr val="595959"/>
                </a:solidFill>
                <a:latin typeface="Arial"/>
              </a:rPr>
              <a:t>niveau</a:t>
            </a:r>
            <a:r>
              <a:rPr sz="1200" b="0" i="0" dirty="0">
                <a:solidFill>
                  <a:srgbClr val="595959"/>
                </a:solidFill>
                <a:latin typeface="Arial"/>
              </a:rPr>
              <a:t> 3 sur </a:t>
            </a:r>
            <a:r>
              <a:rPr sz="1200" b="0" i="0" dirty="0" err="1">
                <a:solidFill>
                  <a:srgbClr val="595959"/>
                </a:solidFill>
                <a:latin typeface="Arial"/>
              </a:rPr>
              <a:t>l'échelle</a:t>
            </a:r>
            <a:r>
              <a:rPr sz="1200" b="0" i="0" dirty="0">
                <a:solidFill>
                  <a:srgbClr val="595959"/>
                </a:solidFill>
                <a:latin typeface="Arial"/>
              </a:rPr>
              <a:t> CMMI</a:t>
            </a:r>
          </a:p>
          <a:p>
            <a:pPr>
              <a:spcAft>
                <a:spcPts val="1000"/>
              </a:spcAft>
            </a:pPr>
            <a:r>
              <a:rPr sz="1200" b="0" i="0" dirty="0">
                <a:solidFill>
                  <a:srgbClr val="595959"/>
                </a:solidFill>
                <a:latin typeface="Arial"/>
              </a:rPr>
              <a:t>Un Centre </a:t>
            </a:r>
            <a:r>
              <a:rPr sz="1200" b="0" i="0" dirty="0" err="1">
                <a:solidFill>
                  <a:srgbClr val="595959"/>
                </a:solidFill>
                <a:latin typeface="Arial"/>
              </a:rPr>
              <a:t>d'Excellence</a:t>
            </a:r>
            <a:r>
              <a:rPr sz="1200" b="0" i="0" dirty="0">
                <a:solidFill>
                  <a:srgbClr val="595959"/>
                </a:solidFill>
                <a:latin typeface="Arial"/>
              </a:rPr>
              <a:t> </a:t>
            </a:r>
            <a:r>
              <a:rPr sz="1200" b="0" i="0" dirty="0" err="1">
                <a:solidFill>
                  <a:srgbClr val="595959"/>
                </a:solidFill>
                <a:latin typeface="Arial"/>
              </a:rPr>
              <a:t>hybride</a:t>
            </a:r>
            <a:endParaRPr sz="1200" b="0" i="0" dirty="0">
              <a:solidFill>
                <a:srgbClr val="595959"/>
              </a:solidFill>
              <a:latin typeface="Arial"/>
            </a:endParaRPr>
          </a:p>
          <a:p>
            <a:pPr>
              <a:spcAft>
                <a:spcPts val="1000"/>
              </a:spcAft>
            </a:pPr>
            <a:r>
              <a:rPr sz="1200" b="0" i="0" dirty="0">
                <a:solidFill>
                  <a:srgbClr val="595959"/>
                </a:solidFill>
                <a:latin typeface="Arial"/>
              </a:rPr>
              <a:t>Qui fait quoi sur les données</a:t>
            </a:r>
          </a:p>
          <a:p>
            <a:pPr>
              <a:spcAft>
                <a:spcPts val="1000"/>
              </a:spcAft>
            </a:pPr>
            <a:r>
              <a:rPr sz="1200" b="0" i="0" dirty="0">
                <a:solidFill>
                  <a:srgbClr val="595959"/>
                </a:solidFill>
                <a:latin typeface="Arial"/>
              </a:rPr>
              <a:t>Triple </a:t>
            </a:r>
            <a:r>
              <a:rPr sz="1200" b="0" i="0" dirty="0" err="1">
                <a:solidFill>
                  <a:srgbClr val="595959"/>
                </a:solidFill>
                <a:latin typeface="Arial"/>
              </a:rPr>
              <a:t>conformité</a:t>
            </a:r>
            <a:r>
              <a:rPr sz="1200" b="0" i="0" dirty="0">
                <a:solidFill>
                  <a:srgbClr val="595959"/>
                </a:solidFill>
                <a:latin typeface="Arial"/>
              </a:rPr>
              <a:t> : RGPD, CCPA, PCI-DSS</a:t>
            </a:r>
          </a:p>
          <a:p>
            <a:pPr>
              <a:spcAft>
                <a:spcPts val="1000"/>
              </a:spcAft>
            </a:pPr>
            <a:r>
              <a:rPr sz="1200" b="0" i="0" dirty="0">
                <a:solidFill>
                  <a:srgbClr val="595959"/>
                </a:solidFill>
                <a:latin typeface="Arial"/>
              </a:rPr>
              <a:t>Stack </a:t>
            </a:r>
            <a:r>
              <a:rPr sz="1200" b="0" i="0" dirty="0" err="1">
                <a:solidFill>
                  <a:srgbClr val="595959"/>
                </a:solidFill>
                <a:latin typeface="Arial"/>
              </a:rPr>
              <a:t>technologique</a:t>
            </a:r>
            <a:r>
              <a:rPr sz="1200" b="0" i="0" dirty="0">
                <a:solidFill>
                  <a:srgbClr val="595959"/>
                </a:solidFill>
                <a:latin typeface="Arial"/>
              </a:rPr>
              <a:t> de </a:t>
            </a:r>
            <a:r>
              <a:rPr sz="1200" b="0" i="0" dirty="0" err="1">
                <a:solidFill>
                  <a:srgbClr val="595959"/>
                </a:solidFill>
                <a:latin typeface="Arial"/>
              </a:rPr>
              <a:t>gouvernance</a:t>
            </a:r>
            <a:endParaRPr sz="1200" b="0" i="0" dirty="0">
              <a:solidFill>
                <a:srgbClr val="595959"/>
              </a:solidFill>
              <a:latin typeface="Arial"/>
            </a:endParaRPr>
          </a:p>
          <a:p>
            <a:pPr>
              <a:spcAft>
                <a:spcPts val="1000"/>
              </a:spcAft>
            </a:pPr>
            <a:r>
              <a:rPr sz="1200" b="0" i="0" dirty="0">
                <a:solidFill>
                  <a:srgbClr val="595959"/>
                </a:solidFill>
                <a:latin typeface="Arial"/>
              </a:rPr>
              <a:t>Roadmap : 18 </a:t>
            </a:r>
            <a:r>
              <a:rPr sz="1200" b="0" i="0" dirty="0" err="1">
                <a:solidFill>
                  <a:srgbClr val="595959"/>
                </a:solidFill>
                <a:latin typeface="Arial"/>
              </a:rPr>
              <a:t>mois</a:t>
            </a:r>
            <a:r>
              <a:rPr sz="1200" b="0" i="0" dirty="0">
                <a:solidFill>
                  <a:srgbClr val="595959"/>
                </a:solidFill>
                <a:latin typeface="Arial"/>
              </a:rPr>
              <a:t>, 4 phases</a:t>
            </a:r>
          </a:p>
          <a:p>
            <a:pPr>
              <a:spcAft>
                <a:spcPts val="1000"/>
              </a:spcAft>
            </a:pPr>
            <a:r>
              <a:rPr sz="1200" b="0" i="0" dirty="0" err="1">
                <a:solidFill>
                  <a:srgbClr val="595959"/>
                </a:solidFill>
                <a:latin typeface="Arial"/>
              </a:rPr>
              <a:t>Risques</a:t>
            </a:r>
            <a:r>
              <a:rPr sz="1200" b="0" i="0" dirty="0">
                <a:solidFill>
                  <a:srgbClr val="595959"/>
                </a:solidFill>
                <a:latin typeface="Arial"/>
              </a:rPr>
              <a:t> et mitigations</a:t>
            </a:r>
          </a:p>
          <a:p>
            <a:pPr>
              <a:spcAft>
                <a:spcPts val="1000"/>
              </a:spcAft>
            </a:pPr>
            <a:r>
              <a:rPr sz="1200" b="0" i="0" dirty="0">
                <a:solidFill>
                  <a:srgbClr val="595959"/>
                </a:solidFill>
                <a:latin typeface="Arial"/>
              </a:rPr>
              <a:t>ROI : un </a:t>
            </a:r>
            <a:r>
              <a:rPr sz="1200" b="0" i="0" dirty="0" err="1">
                <a:solidFill>
                  <a:srgbClr val="595959"/>
                </a:solidFill>
                <a:latin typeface="Arial"/>
              </a:rPr>
              <a:t>investissement</a:t>
            </a:r>
            <a:r>
              <a:rPr sz="1200" b="0" i="0" dirty="0">
                <a:solidFill>
                  <a:srgbClr val="595959"/>
                </a:solidFill>
                <a:latin typeface="Arial"/>
              </a:rPr>
              <a:t> qui </a:t>
            </a:r>
            <a:r>
              <a:rPr sz="1200" b="0" i="0" dirty="0" err="1">
                <a:solidFill>
                  <a:srgbClr val="595959"/>
                </a:solidFill>
                <a:latin typeface="Arial"/>
              </a:rPr>
              <a:t>s'impose</a:t>
            </a:r>
            <a:endParaRPr sz="1200" b="0" i="0" dirty="0">
              <a:solidFill>
                <a:srgbClr val="595959"/>
              </a:solidFill>
              <a:latin typeface="Arial"/>
            </a:endParaRPr>
          </a:p>
          <a:p>
            <a:pPr>
              <a:spcAft>
                <a:spcPts val="1000"/>
              </a:spcAft>
            </a:pPr>
            <a:r>
              <a:rPr lang="fr-FR" sz="1200" b="0" i="0" dirty="0">
                <a:solidFill>
                  <a:srgbClr val="595959"/>
                </a:solidFill>
                <a:latin typeface="Arial"/>
              </a:rPr>
              <a:t>Conclusion</a:t>
            </a:r>
            <a:endParaRPr sz="1200" b="0" i="0" dirty="0">
              <a:solidFill>
                <a:srgbClr val="595959"/>
              </a:solidFill>
              <a:latin typeface="Arial"/>
            </a:endParaRPr>
          </a:p>
        </p:txBody>
      </p:sp>
      <p:pic>
        <p:nvPicPr>
          <p:cNvPr id="5" name="Google Shape;113;p19">
            <a:extLst>
              <a:ext uri="{FF2B5EF4-FFF2-40B4-BE49-F238E27FC236}">
                <a16:creationId xmlns:a16="http://schemas.microsoft.com/office/drawing/2014/main" id="{C7F97662-5089-19A9-6EE3-1B43A4069DA6}"/>
              </a:ext>
            </a:extLst>
          </p:cNvPr>
          <p:cNvPicPr preferRelativeResize="0"/>
          <p:nvPr/>
        </p:nvPicPr>
        <p:blipFill>
          <a:blip r:embed="rId2">
            <a:alphaModFix/>
          </a:blip>
          <a:stretch>
            <a:fillRect/>
          </a:stretch>
        </p:blipFill>
        <p:spPr>
          <a:xfrm>
            <a:off x="311700" y="574625"/>
            <a:ext cx="576900" cy="385904"/>
          </a:xfrm>
          <a:prstGeom prst="rect">
            <a:avLst/>
          </a:prstGeom>
          <a:noFill/>
          <a:ln>
            <a:noFill/>
          </a:ln>
        </p:spPr>
      </p:pic>
      <p:sp>
        <p:nvSpPr>
          <p:cNvPr id="9" name="Google Shape;76;p15">
            <a:extLst>
              <a:ext uri="{FF2B5EF4-FFF2-40B4-BE49-F238E27FC236}">
                <a16:creationId xmlns:a16="http://schemas.microsoft.com/office/drawing/2014/main" id="{F5481CD5-07DE-1EB8-9E01-F7A3CA69E07A}"/>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2D701D72-EDA8-795C-1FDC-6B8BB3A2F9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a:t>
            </a:fld>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51947"/>
            <a:ext cx="7020984" cy="525293"/>
          </a:xfrm>
        </p:spPr>
        <p:txBody>
          <a:bodyPr/>
          <a:lstStyle/>
          <a:p>
            <a:r>
              <a:rPr sz="2000" b="1" dirty="0">
                <a:solidFill>
                  <a:srgbClr val="212121"/>
                </a:solidFill>
                <a:latin typeface="Arial"/>
              </a:rPr>
              <a:t>Spotify </a:t>
            </a:r>
            <a:r>
              <a:rPr sz="2000" b="1" dirty="0" err="1">
                <a:solidFill>
                  <a:srgbClr val="212121"/>
                </a:solidFill>
                <a:latin typeface="Arial"/>
              </a:rPr>
              <a:t>en</a:t>
            </a:r>
            <a:r>
              <a:rPr sz="2000" b="1" dirty="0">
                <a:solidFill>
                  <a:srgbClr val="212121"/>
                </a:solidFill>
                <a:latin typeface="Arial"/>
              </a:rPr>
              <a:t> chiffres : </a:t>
            </a:r>
            <a:r>
              <a:rPr sz="2000" b="1" dirty="0" err="1">
                <a:solidFill>
                  <a:srgbClr val="212121"/>
                </a:solidFill>
                <a:latin typeface="Arial"/>
              </a:rPr>
              <a:t>l'échelle</a:t>
            </a:r>
            <a:r>
              <a:rPr sz="2000" b="1" dirty="0">
                <a:solidFill>
                  <a:srgbClr val="212121"/>
                </a:solidFill>
                <a:latin typeface="Arial"/>
              </a:rPr>
              <a:t> qui impose la </a:t>
            </a:r>
            <a:r>
              <a:rPr sz="2000" b="1" dirty="0" err="1">
                <a:solidFill>
                  <a:srgbClr val="212121"/>
                </a:solidFill>
                <a:latin typeface="Arial"/>
              </a:rPr>
              <a:t>gouvernance</a:t>
            </a:r>
            <a:endParaRPr sz="2000" b="1" dirty="0">
              <a:solidFill>
                <a:srgbClr val="212121"/>
              </a:solidFill>
              <a:latin typeface="Arial"/>
            </a:endParaRPr>
          </a:p>
        </p:txBody>
      </p:sp>
      <p:sp>
        <p:nvSpPr>
          <p:cNvPr id="3" name="Rectangle 2"/>
          <p:cNvSpPr/>
          <p:nvPr/>
        </p:nvSpPr>
        <p:spPr>
          <a:xfrm>
            <a:off x="1411197" y="264813"/>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678M</a:t>
            </a:r>
          </a:p>
          <a:p>
            <a:pPr algn="ctr"/>
            <a:r>
              <a:rPr sz="1100" b="0" i="0">
                <a:solidFill>
                  <a:srgbClr val="595959"/>
                </a:solidFill>
                <a:latin typeface="Arial"/>
              </a:rPr>
              <a:t>utilisateurs actifs</a:t>
            </a:r>
          </a:p>
        </p:txBody>
      </p:sp>
      <p:sp>
        <p:nvSpPr>
          <p:cNvPr id="5" name="Rounded Rectangle 4"/>
          <p:cNvSpPr/>
          <p:nvPr/>
        </p:nvSpPr>
        <p:spPr>
          <a:xfrm>
            <a:off x="2526029"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500 To/jour</a:t>
            </a:r>
          </a:p>
          <a:p>
            <a:pPr algn="ctr"/>
            <a:r>
              <a:rPr sz="1100" b="0" i="0">
                <a:solidFill>
                  <a:srgbClr val="595959"/>
                </a:solidFill>
                <a:latin typeface="Arial"/>
              </a:rPr>
              <a:t>données comportementales</a:t>
            </a:r>
          </a:p>
        </p:txBody>
      </p:sp>
      <p:sp>
        <p:nvSpPr>
          <p:cNvPr id="6" name="Rounded Rectangle 5"/>
          <p:cNvSpPr/>
          <p:nvPr/>
        </p:nvSpPr>
        <p:spPr>
          <a:xfrm>
            <a:off x="468630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184</a:t>
            </a:r>
          </a:p>
          <a:p>
            <a:pPr algn="ctr"/>
            <a:r>
              <a:rPr sz="1100" b="0" i="0">
                <a:solidFill>
                  <a:srgbClr val="595959"/>
                </a:solidFill>
                <a:latin typeface="Arial"/>
              </a:rPr>
              <a:t>pays, 3 régimes légaux</a:t>
            </a:r>
          </a:p>
        </p:txBody>
      </p:sp>
      <p:sp>
        <p:nvSpPr>
          <p:cNvPr id="7" name="Rounded Rectangle 6"/>
          <p:cNvSpPr/>
          <p:nvPr/>
        </p:nvSpPr>
        <p:spPr>
          <a:xfrm>
            <a:off x="684657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~16 Md€</a:t>
            </a:r>
          </a:p>
          <a:p>
            <a:pPr algn="ctr"/>
            <a:r>
              <a:rPr sz="1100" b="0" i="0">
                <a:solidFill>
                  <a:srgbClr val="595959"/>
                </a:solidFill>
                <a:latin typeface="Arial"/>
              </a:rPr>
              <a:t>revenus annuels</a:t>
            </a:r>
          </a:p>
        </p:txBody>
      </p:sp>
      <p:sp>
        <p:nvSpPr>
          <p:cNvPr id="8" name="TextBox 7"/>
          <p:cNvSpPr txBox="1"/>
          <p:nvPr/>
        </p:nvSpPr>
        <p:spPr>
          <a:xfrm>
            <a:off x="365760"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678M utilisateurs actifs</a:t>
            </a:r>
          </a:p>
        </p:txBody>
      </p:sp>
      <p:sp>
        <p:nvSpPr>
          <p:cNvPr id="9" name="TextBox 8"/>
          <p:cNvSpPr txBox="1"/>
          <p:nvPr/>
        </p:nvSpPr>
        <p:spPr>
          <a:xfrm>
            <a:off x="2496312"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500 To de données/jour</a:t>
            </a:r>
          </a:p>
        </p:txBody>
      </p:sp>
      <p:sp>
        <p:nvSpPr>
          <p:cNvPr id="10" name="TextBox 9"/>
          <p:cNvSpPr txBox="1"/>
          <p:nvPr/>
        </p:nvSpPr>
        <p:spPr>
          <a:xfrm>
            <a:off x="4626864"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184 pays, 3 régimes légaux</a:t>
            </a:r>
          </a:p>
        </p:txBody>
      </p:sp>
      <p:sp>
        <p:nvSpPr>
          <p:cNvPr id="11" name="TextBox 10"/>
          <p:cNvSpPr txBox="1"/>
          <p:nvPr/>
        </p:nvSpPr>
        <p:spPr>
          <a:xfrm>
            <a:off x="6757416"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~16 Md€ de revenus annuels</a:t>
            </a:r>
          </a:p>
        </p:txBody>
      </p:sp>
      <p:sp>
        <p:nvSpPr>
          <p:cNvPr id="12" name="TextBox 11"/>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Une entreprise de données qui distribue de la musique</a:t>
            </a:r>
          </a:p>
        </p:txBody>
      </p:sp>
      <p:sp>
        <p:nvSpPr>
          <p:cNvPr id="14" name="Google Shape;76;p15">
            <a:extLst>
              <a:ext uri="{FF2B5EF4-FFF2-40B4-BE49-F238E27FC236}">
                <a16:creationId xmlns:a16="http://schemas.microsoft.com/office/drawing/2014/main" id="{EB36732C-EF8F-9D89-1255-70F8106A5FB9}"/>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56;p13">
            <a:extLst>
              <a:ext uri="{FF2B5EF4-FFF2-40B4-BE49-F238E27FC236}">
                <a16:creationId xmlns:a16="http://schemas.microsoft.com/office/drawing/2014/main" id="{911C6CE2-156D-5384-CBCC-A4DD864CAAED}"/>
              </a:ext>
            </a:extLst>
          </p:cNvPr>
          <p:cNvPicPr preferRelativeResize="0"/>
          <p:nvPr/>
        </p:nvPicPr>
        <p:blipFill>
          <a:blip r:embed="rId3">
            <a:alphaModFix/>
          </a:blip>
          <a:stretch>
            <a:fillRect/>
          </a:stretch>
        </p:blipFill>
        <p:spPr>
          <a:xfrm>
            <a:off x="75184" y="255307"/>
            <a:ext cx="973275" cy="651050"/>
          </a:xfrm>
          <a:prstGeom prst="rect">
            <a:avLst/>
          </a:prstGeom>
          <a:noFill/>
          <a:ln>
            <a:noFill/>
          </a:ln>
        </p:spPr>
      </p:pic>
      <p:sp>
        <p:nvSpPr>
          <p:cNvPr id="13" name="Espace réservé du numéro de diapositive 12">
            <a:extLst>
              <a:ext uri="{FF2B5EF4-FFF2-40B4-BE49-F238E27FC236}">
                <a16:creationId xmlns:a16="http://schemas.microsoft.com/office/drawing/2014/main" id="{26DC84FB-547A-0882-04DB-CFD3215A20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a:t>
            </a:fld>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1263" y="291082"/>
            <a:ext cx="5047085" cy="572700"/>
          </a:xfrm>
        </p:spPr>
        <p:txBody>
          <a:bodyPr/>
          <a:lstStyle/>
          <a:p>
            <a:r>
              <a:rPr b="1" dirty="0">
                <a:solidFill>
                  <a:srgbClr val="212121"/>
                </a:solidFill>
                <a:latin typeface="Arial"/>
              </a:rPr>
              <a:t>Trois </a:t>
            </a:r>
            <a:r>
              <a:rPr b="1" dirty="0" err="1">
                <a:solidFill>
                  <a:srgbClr val="212121"/>
                </a:solidFill>
                <a:latin typeface="Arial"/>
              </a:rPr>
              <a:t>enjeux</a:t>
            </a:r>
            <a:r>
              <a:rPr b="1" dirty="0">
                <a:solidFill>
                  <a:srgbClr val="212121"/>
                </a:solidFill>
                <a:latin typeface="Arial"/>
              </a:rPr>
              <a:t> critiques</a:t>
            </a:r>
          </a:p>
        </p:txBody>
      </p:sp>
      <p:sp>
        <p:nvSpPr>
          <p:cNvPr id="3" name="Rectangle 2"/>
          <p:cNvSpPr/>
          <p:nvPr/>
        </p:nvSpPr>
        <p:spPr>
          <a:xfrm>
            <a:off x="1414272" y="332842"/>
            <a:ext cx="45719"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554480" cy="862583"/>
          </a:xfrm>
          <a:prstGeom prst="rect">
            <a:avLst/>
          </a:prstGeom>
          <a:noFill/>
        </p:spPr>
        <p:txBody>
          <a:bodyPr wrap="square" lIns="0" tIns="0" rIns="0" bIns="0" anchor="ctr">
            <a:spAutoFit/>
          </a:bodyPr>
          <a:lstStyle/>
          <a:p>
            <a:pPr algn="l"/>
            <a:r>
              <a:rPr sz="1100" b="1" i="0">
                <a:solidFill>
                  <a:srgbClr val="212121"/>
                </a:solidFill>
                <a:latin typeface="Arial"/>
              </a:rPr>
              <a:t>Légal</a:t>
            </a:r>
          </a:p>
        </p:txBody>
      </p:sp>
      <p:sp>
        <p:nvSpPr>
          <p:cNvPr id="5" name="Rounded Rectangle 4"/>
          <p:cNvSpPr/>
          <p:nvPr/>
        </p:nvSpPr>
        <p:spPr>
          <a:xfrm>
            <a:off x="2011680" y="1170432"/>
            <a:ext cx="3328415"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Amende RGPD jusqu'à 640M€</a:t>
            </a:r>
          </a:p>
        </p:txBody>
      </p:sp>
      <p:sp>
        <p:nvSpPr>
          <p:cNvPr id="6" name="Rounded Rectangle 5"/>
          <p:cNvSpPr/>
          <p:nvPr/>
        </p:nvSpPr>
        <p:spPr>
          <a:xfrm>
            <a:off x="5449824" y="1170432"/>
            <a:ext cx="3328415"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4% du CA mondial</a:t>
            </a:r>
          </a:p>
        </p:txBody>
      </p:sp>
      <p:sp>
        <p:nvSpPr>
          <p:cNvPr id="7" name="TextBox 6"/>
          <p:cNvSpPr txBox="1"/>
          <p:nvPr/>
        </p:nvSpPr>
        <p:spPr>
          <a:xfrm>
            <a:off x="365760" y="2197608"/>
            <a:ext cx="1554480" cy="862583"/>
          </a:xfrm>
          <a:prstGeom prst="rect">
            <a:avLst/>
          </a:prstGeom>
          <a:noFill/>
        </p:spPr>
        <p:txBody>
          <a:bodyPr wrap="square" lIns="0" tIns="0" rIns="0" bIns="0" anchor="ctr">
            <a:spAutoFit/>
          </a:bodyPr>
          <a:lstStyle/>
          <a:p>
            <a:pPr algn="l"/>
            <a:r>
              <a:rPr sz="1100" b="1" i="0">
                <a:solidFill>
                  <a:srgbClr val="212121"/>
                </a:solidFill>
                <a:latin typeface="Arial"/>
              </a:rPr>
              <a:t>Qualité</a:t>
            </a:r>
          </a:p>
        </p:txBody>
      </p:sp>
      <p:sp>
        <p:nvSpPr>
          <p:cNvPr id="8" name="Rounded Rectangle 7"/>
          <p:cNvSpPr/>
          <p:nvPr/>
        </p:nvSpPr>
        <p:spPr>
          <a:xfrm>
            <a:off x="2011680" y="2197608"/>
            <a:ext cx="3328415"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Précision royalties à 0,1%</a:t>
            </a:r>
          </a:p>
        </p:txBody>
      </p:sp>
      <p:sp>
        <p:nvSpPr>
          <p:cNvPr id="9" name="Rounded Rectangle 8"/>
          <p:cNvSpPr/>
          <p:nvPr/>
        </p:nvSpPr>
        <p:spPr>
          <a:xfrm>
            <a:off x="5449824" y="2197608"/>
            <a:ext cx="3328415"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Litiges avec les labels</a:t>
            </a:r>
          </a:p>
        </p:txBody>
      </p:sp>
      <p:sp>
        <p:nvSpPr>
          <p:cNvPr id="10" name="TextBox 9"/>
          <p:cNvSpPr txBox="1"/>
          <p:nvPr/>
        </p:nvSpPr>
        <p:spPr>
          <a:xfrm>
            <a:off x="365760" y="3224783"/>
            <a:ext cx="1554480" cy="862583"/>
          </a:xfrm>
          <a:prstGeom prst="rect">
            <a:avLst/>
          </a:prstGeom>
          <a:noFill/>
        </p:spPr>
        <p:txBody>
          <a:bodyPr wrap="square" lIns="0" tIns="0" rIns="0" bIns="0" anchor="ctr">
            <a:spAutoFit/>
          </a:bodyPr>
          <a:lstStyle/>
          <a:p>
            <a:pPr algn="l"/>
            <a:r>
              <a:rPr sz="1100" b="1" i="0">
                <a:solidFill>
                  <a:srgbClr val="212121"/>
                </a:solidFill>
                <a:latin typeface="Arial"/>
              </a:rPr>
              <a:t>Business</a:t>
            </a:r>
          </a:p>
        </p:txBody>
      </p:sp>
      <p:sp>
        <p:nvSpPr>
          <p:cNvPr id="11" name="Rounded Rectangle 10"/>
          <p:cNvSpPr/>
          <p:nvPr/>
        </p:nvSpPr>
        <p:spPr>
          <a:xfrm>
            <a:off x="2011680" y="3224783"/>
            <a:ext cx="3328415"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Personnalisation = rétention</a:t>
            </a:r>
          </a:p>
        </p:txBody>
      </p:sp>
      <p:sp>
        <p:nvSpPr>
          <p:cNvPr id="12" name="Rounded Rectangle 11"/>
          <p:cNvSpPr/>
          <p:nvPr/>
        </p:nvSpPr>
        <p:spPr>
          <a:xfrm>
            <a:off x="5449824" y="3224783"/>
            <a:ext cx="3328415"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Dégradation si données pauvres</a:t>
            </a:r>
          </a:p>
        </p:txBody>
      </p:sp>
      <p:sp>
        <p:nvSpPr>
          <p:cNvPr id="13" name="TextBox 12"/>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Légal : amende RGPD jusqu'à 640M€</a:t>
            </a:r>
          </a:p>
        </p:txBody>
      </p:sp>
      <p:sp>
        <p:nvSpPr>
          <p:cNvPr id="14" name="TextBox 13"/>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Qualité : royalties précises à 0,1%</a:t>
            </a:r>
          </a:p>
        </p:txBody>
      </p:sp>
      <p:sp>
        <p:nvSpPr>
          <p:cNvPr id="15" name="TextBox 14"/>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Business : recommandation = rétention</a:t>
            </a:r>
          </a:p>
        </p:txBody>
      </p:sp>
      <p:sp>
        <p:nvSpPr>
          <p:cNvPr id="16" name="TextBox 15"/>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Une gouvernance défaillante n'est pas un risque théorique</a:t>
            </a:r>
          </a:p>
        </p:txBody>
      </p:sp>
      <p:sp>
        <p:nvSpPr>
          <p:cNvPr id="18" name="Google Shape;76;p15">
            <a:extLst>
              <a:ext uri="{FF2B5EF4-FFF2-40B4-BE49-F238E27FC236}">
                <a16:creationId xmlns:a16="http://schemas.microsoft.com/office/drawing/2014/main" id="{D81A5781-7560-A763-C7C2-487B41A581DD}"/>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oogle Shape;56;p13">
            <a:extLst>
              <a:ext uri="{FF2B5EF4-FFF2-40B4-BE49-F238E27FC236}">
                <a16:creationId xmlns:a16="http://schemas.microsoft.com/office/drawing/2014/main" id="{84CEB0FD-D94E-5E3E-C3D5-8B4A854D83F6}"/>
              </a:ext>
            </a:extLst>
          </p:cNvPr>
          <p:cNvPicPr preferRelativeResize="0"/>
          <p:nvPr/>
        </p:nvPicPr>
        <p:blipFill>
          <a:blip r:embed="rId3">
            <a:alphaModFix/>
          </a:blip>
          <a:stretch>
            <a:fillRect/>
          </a:stretch>
        </p:blipFill>
        <p:spPr>
          <a:xfrm>
            <a:off x="169725" y="304823"/>
            <a:ext cx="973275" cy="651050"/>
          </a:xfrm>
          <a:prstGeom prst="rect">
            <a:avLst/>
          </a:prstGeom>
          <a:noFill/>
          <a:ln>
            <a:noFill/>
          </a:ln>
        </p:spPr>
      </p:pic>
      <p:sp>
        <p:nvSpPr>
          <p:cNvPr id="17" name="Espace réservé du numéro de diapositive 16">
            <a:extLst>
              <a:ext uri="{FF2B5EF4-FFF2-40B4-BE49-F238E27FC236}">
                <a16:creationId xmlns:a16="http://schemas.microsoft.com/office/drawing/2014/main" id="{6AE6E4A0-00A7-5CB4-203A-A6D4ABB933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Maturité data : niveau 3 sur l'échelle CMMI</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2862254"/>
            <a:ext cx="1594713" cy="12251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1 - Initial</a:t>
            </a:r>
          </a:p>
          <a:p>
            <a:pPr algn="ctr"/>
            <a:r>
              <a:rPr sz="800" b="0" i="0">
                <a:solidFill>
                  <a:srgbClr val="595959"/>
                </a:solidFill>
                <a:latin typeface="Arial"/>
              </a:rPr>
              <a:t>Aucun processus formalisé</a:t>
            </a:r>
          </a:p>
        </p:txBody>
      </p:sp>
      <p:sp>
        <p:nvSpPr>
          <p:cNvPr id="5" name="Rounded Rectangle 4"/>
          <p:cNvSpPr/>
          <p:nvPr/>
        </p:nvSpPr>
        <p:spPr>
          <a:xfrm>
            <a:off x="2070201" y="2439299"/>
            <a:ext cx="1594713" cy="1648068"/>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2 - Géré</a:t>
            </a:r>
          </a:p>
          <a:p>
            <a:pPr algn="ctr"/>
            <a:r>
              <a:rPr sz="800" b="0" i="0">
                <a:solidFill>
                  <a:srgbClr val="595959"/>
                </a:solidFill>
                <a:latin typeface="Arial"/>
              </a:rPr>
              <a:t>Initiatives isolées</a:t>
            </a:r>
          </a:p>
        </p:txBody>
      </p:sp>
      <p:sp>
        <p:nvSpPr>
          <p:cNvPr id="6" name="Rounded Rectangle 5"/>
          <p:cNvSpPr/>
          <p:nvPr/>
        </p:nvSpPr>
        <p:spPr>
          <a:xfrm>
            <a:off x="3774643" y="2016343"/>
            <a:ext cx="1594713" cy="2071024"/>
          </a:xfrm>
          <a:prstGeom prst="roundRect">
            <a:avLst>
              <a:gd name="adj" fmla="val 8000"/>
            </a:avLst>
          </a:prstGeom>
          <a:solidFill>
            <a:srgbClr val="FFF3DF"/>
          </a:solidFill>
          <a:ln w="25400">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3 - Défini</a:t>
            </a:r>
          </a:p>
          <a:p>
            <a:pPr algn="ctr"/>
            <a:r>
              <a:rPr sz="800" b="0" i="0">
                <a:solidFill>
                  <a:srgbClr val="595959"/>
                </a:solidFill>
                <a:latin typeface="Arial"/>
              </a:rPr>
              <a:t>Processus documentés</a:t>
            </a:r>
          </a:p>
          <a:p>
            <a:pPr algn="ctr"/>
            <a:r>
              <a:rPr sz="800" b="0" i="0">
                <a:solidFill>
                  <a:srgbClr val="595959"/>
                </a:solidFill>
                <a:latin typeface="Arial"/>
              </a:rPr>
              <a:t>Backstage: proto-catalogue</a:t>
            </a:r>
          </a:p>
        </p:txBody>
      </p:sp>
      <p:sp>
        <p:nvSpPr>
          <p:cNvPr id="7" name="Rounded Rectangle 6"/>
          <p:cNvSpPr/>
          <p:nvPr/>
        </p:nvSpPr>
        <p:spPr>
          <a:xfrm>
            <a:off x="5479084" y="1593387"/>
            <a:ext cx="1594713" cy="249398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4 - Mesuré</a:t>
            </a:r>
          </a:p>
          <a:p>
            <a:pPr algn="ctr"/>
            <a:r>
              <a:rPr sz="800" b="0" i="0">
                <a:solidFill>
                  <a:srgbClr val="595959"/>
                </a:solidFill>
                <a:latin typeface="Arial"/>
              </a:rPr>
              <a:t>DQS transversal</a:t>
            </a:r>
          </a:p>
          <a:p>
            <a:pPr algn="ctr"/>
            <a:r>
              <a:rPr sz="800" b="0" i="0">
                <a:solidFill>
                  <a:srgbClr val="595959"/>
                </a:solidFill>
                <a:latin typeface="Arial"/>
              </a:rPr>
              <a:t>Lineage complet</a:t>
            </a:r>
          </a:p>
        </p:txBody>
      </p:sp>
      <p:sp>
        <p:nvSpPr>
          <p:cNvPr id="8" name="Rounded Rectangle 7"/>
          <p:cNvSpPr/>
          <p:nvPr/>
        </p:nvSpPr>
        <p:spPr>
          <a:xfrm>
            <a:off x="7183526" y="1170432"/>
            <a:ext cx="1594713" cy="291693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5 - Optimisé</a:t>
            </a:r>
          </a:p>
          <a:p>
            <a:pPr algn="ctr"/>
            <a:r>
              <a:rPr sz="800" b="0" i="0">
                <a:solidFill>
                  <a:srgbClr val="595959"/>
                </a:solidFill>
                <a:latin typeface="Arial"/>
              </a:rPr>
              <a:t>Amélioration continue</a:t>
            </a:r>
          </a:p>
        </p:txBody>
      </p:sp>
      <p:sp>
        <p:nvSpPr>
          <p:cNvPr id="9" name="TextBox 8"/>
          <p:cNvSpPr txBox="1"/>
          <p:nvPr/>
        </p:nvSpPr>
        <p:spPr>
          <a:xfrm>
            <a:off x="365760"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Niveau 3 'Défini' atteint</a:t>
            </a:r>
          </a:p>
        </p:txBody>
      </p:sp>
      <p:sp>
        <p:nvSpPr>
          <p:cNvPr id="10" name="TextBox 9"/>
          <p:cNvSpPr txBox="1"/>
          <p:nvPr/>
        </p:nvSpPr>
        <p:spPr>
          <a:xfrm>
            <a:off x="2496312"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Backstage = proto-catalogue data</a:t>
            </a:r>
          </a:p>
        </p:txBody>
      </p:sp>
      <p:sp>
        <p:nvSpPr>
          <p:cNvPr id="11" name="TextBox 10"/>
          <p:cNvSpPr txBox="1"/>
          <p:nvPr/>
        </p:nvSpPr>
        <p:spPr>
          <a:xfrm>
            <a:off x="4626864"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Gaps : lineage, silos, formation</a:t>
            </a:r>
          </a:p>
        </p:txBody>
      </p:sp>
      <p:sp>
        <p:nvSpPr>
          <p:cNvPr id="12" name="TextBox 11"/>
          <p:cNvSpPr txBox="1"/>
          <p:nvPr/>
        </p:nvSpPr>
        <p:spPr>
          <a:xfrm>
            <a:off x="6757416"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Cible : niveau 4 'Mesuré'</a:t>
            </a:r>
          </a:p>
        </p:txBody>
      </p:sp>
      <p:sp>
        <p:nvSpPr>
          <p:cNvPr id="13" name="TextBox 12"/>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Base solide, gaps critiques vers le niveau 4</a:t>
            </a:r>
          </a:p>
        </p:txBody>
      </p:sp>
      <p:sp>
        <p:nvSpPr>
          <p:cNvPr id="15" name="Google Shape;76;p15">
            <a:extLst>
              <a:ext uri="{FF2B5EF4-FFF2-40B4-BE49-F238E27FC236}">
                <a16:creationId xmlns:a16="http://schemas.microsoft.com/office/drawing/2014/main" id="{9F62A933-DA19-85AA-8C15-EB9304C43825}"/>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Espace réservé du numéro de diapositive 13">
            <a:extLst>
              <a:ext uri="{FF2B5EF4-FFF2-40B4-BE49-F238E27FC236}">
                <a16:creationId xmlns:a16="http://schemas.microsoft.com/office/drawing/2014/main" id="{C5BF835E-F2F6-CC84-E8C7-25ED37991F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a:t>
            </a:fld>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Un Centre d'Excellence hybride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200399" y="1170432"/>
            <a:ext cx="2743200" cy="816742"/>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300" b="1" i="0">
                <a:solidFill>
                  <a:srgbClr val="212121"/>
                </a:solidFill>
                <a:latin typeface="Arial"/>
              </a:rPr>
              <a:t>Comité de Gouvernance (CDO, DPO, CISO, CFO)</a:t>
            </a:r>
          </a:p>
        </p:txBody>
      </p:sp>
      <p:sp>
        <p:nvSpPr>
          <p:cNvPr id="5" name="Rectangle 4"/>
          <p:cNvSpPr/>
          <p:nvPr/>
        </p:nvSpPr>
        <p:spPr>
          <a:xfrm>
            <a:off x="3200399" y="1170432"/>
            <a:ext cx="2743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4572000" y="1987174"/>
            <a:ext cx="0" cy="228600"/>
          </a:xfrm>
          <a:prstGeom prst="line">
            <a:avLst/>
          </a:prstGeom>
          <a:ln w="15875">
            <a:solidFill>
              <a:srgbClr val="D9D9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2215774"/>
            <a:ext cx="0" cy="274320"/>
          </a:xfrm>
          <a:prstGeom prst="line">
            <a:avLst/>
          </a:prstGeom>
          <a:ln w="15875">
            <a:solidFill>
              <a:srgbClr val="D9D9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65760" y="2490094"/>
            <a:ext cx="8412480" cy="159727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CoE Hybride (10 experts)</a:t>
            </a:r>
          </a:p>
        </p:txBody>
      </p:sp>
      <p:sp>
        <p:nvSpPr>
          <p:cNvPr id="9" name="TextBox 8"/>
          <p:cNvSpPr txBox="1"/>
          <p:nvPr/>
        </p:nvSpPr>
        <p:spPr>
          <a:xfrm>
            <a:off x="365760"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Comité : décide et arbitre</a:t>
            </a:r>
          </a:p>
        </p:txBody>
      </p:sp>
      <p:sp>
        <p:nvSpPr>
          <p:cNvPr id="10" name="TextBox 9"/>
          <p:cNvSpPr txBox="1"/>
          <p:nvPr/>
        </p:nvSpPr>
        <p:spPr>
          <a:xfrm>
            <a:off x="2496312"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CoE : standards, outils, conformité</a:t>
            </a:r>
          </a:p>
        </p:txBody>
      </p:sp>
      <p:sp>
        <p:nvSpPr>
          <p:cNvPr id="11" name="TextBox 10"/>
          <p:cNvSpPr txBox="1"/>
          <p:nvPr/>
        </p:nvSpPr>
        <p:spPr>
          <a:xfrm>
            <a:off x="4626864"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7 domaines : Owner + Steward</a:t>
            </a:r>
          </a:p>
        </p:txBody>
      </p:sp>
      <p:sp>
        <p:nvSpPr>
          <p:cNvPr id="12" name="TextBox 11"/>
          <p:cNvSpPr txBox="1"/>
          <p:nvPr/>
        </p:nvSpPr>
        <p:spPr>
          <a:xfrm>
            <a:off x="6757416"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Respecte le modèle Tribes/Squads</a:t>
            </a:r>
          </a:p>
        </p:txBody>
      </p:sp>
      <p:sp>
        <p:nvSpPr>
          <p:cNvPr id="13" name="TextBox 12"/>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Standards centraux, exécution décentralisée</a:t>
            </a:r>
          </a:p>
        </p:txBody>
      </p:sp>
      <p:sp>
        <p:nvSpPr>
          <p:cNvPr id="15" name="Google Shape;76;p15">
            <a:extLst>
              <a:ext uri="{FF2B5EF4-FFF2-40B4-BE49-F238E27FC236}">
                <a16:creationId xmlns:a16="http://schemas.microsoft.com/office/drawing/2014/main" id="{C04D2741-05B2-0C5D-5C0A-4D95E0731B2D}"/>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Espace réservé du numéro de diapositive 13">
            <a:extLst>
              <a:ext uri="{FF2B5EF4-FFF2-40B4-BE49-F238E27FC236}">
                <a16:creationId xmlns:a16="http://schemas.microsoft.com/office/drawing/2014/main" id="{0779F713-5930-C351-CF60-5E040A6829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8</a:t>
            </a:fld>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64502"/>
            <a:ext cx="8520600" cy="734536"/>
          </a:xfrm>
        </p:spPr>
        <p:txBody>
          <a:bodyPr/>
          <a:lstStyle/>
          <a:p>
            <a:pPr algn="ctr"/>
            <a:r>
              <a:rPr b="1" dirty="0">
                <a:solidFill>
                  <a:srgbClr val="212121"/>
                </a:solidFill>
                <a:latin typeface="Arial"/>
              </a:rPr>
              <a:t>Qui fait quoi sur les données</a:t>
            </a:r>
            <a:r>
              <a:rPr lang="fr-FR" b="1" dirty="0">
                <a:solidFill>
                  <a:srgbClr val="212121"/>
                </a:solidFill>
                <a:latin typeface="Arial"/>
              </a:rPr>
              <a:t> </a:t>
            </a:r>
            <a:br>
              <a:rPr lang="fr-FR" b="1" dirty="0">
                <a:solidFill>
                  <a:srgbClr val="212121"/>
                </a:solidFill>
                <a:latin typeface="Arial"/>
              </a:rPr>
            </a:br>
            <a:r>
              <a:rPr lang="fr-FR" sz="1400" b="1" dirty="0"/>
              <a:t>RACI</a:t>
            </a:r>
            <a:r>
              <a:rPr lang="fr-FR" sz="1400" dirty="0"/>
              <a:t> — </a:t>
            </a:r>
            <a:r>
              <a:rPr lang="fr-FR" sz="1400" b="1" dirty="0"/>
              <a:t>Responsable, Approbateur, Consulté, Informé</a:t>
            </a:r>
            <a:endParaRPr sz="1400" b="1" dirty="0">
              <a:solidFill>
                <a:srgbClr val="212121"/>
              </a:solidFill>
              <a:latin typeface="Arial"/>
            </a:endParaRP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170432"/>
          <a:ext cx="8412480" cy="2916935"/>
        </p:xfrm>
        <a:graphic>
          <a:graphicData uri="http://schemas.openxmlformats.org/drawingml/2006/table">
            <a:tbl>
              <a:tblPr firstRow="1" bandRow="1">
                <a:tableStyleId>{5C22544A-7EE6-4342-B048-85BDC9FD1C3A}</a:tableStyleId>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gridCol w="1402080">
                  <a:extLst>
                    <a:ext uri="{9D8B030D-6E8A-4147-A177-3AD203B41FA5}">
                      <a16:colId xmlns:a16="http://schemas.microsoft.com/office/drawing/2014/main" val="20003"/>
                    </a:ext>
                  </a:extLst>
                </a:gridCol>
                <a:gridCol w="1402080">
                  <a:extLst>
                    <a:ext uri="{9D8B030D-6E8A-4147-A177-3AD203B41FA5}">
                      <a16:colId xmlns:a16="http://schemas.microsoft.com/office/drawing/2014/main" val="20004"/>
                    </a:ext>
                  </a:extLst>
                </a:gridCol>
                <a:gridCol w="1402080">
                  <a:extLst>
                    <a:ext uri="{9D8B030D-6E8A-4147-A177-3AD203B41FA5}">
                      <a16:colId xmlns:a16="http://schemas.microsoft.com/office/drawing/2014/main" val="20005"/>
                    </a:ext>
                  </a:extLst>
                </a:gridCol>
              </a:tblGrid>
              <a:tr h="486155">
                <a:tc>
                  <a:txBody>
                    <a:bodyPr/>
                    <a:lstStyle/>
                    <a:p>
                      <a:pPr algn="ctr"/>
                      <a:r>
                        <a:rPr sz="1100" b="1">
                          <a:solidFill>
                            <a:srgbClr val="FFFFFF"/>
                          </a:solidFill>
                          <a:latin typeface="Arial"/>
                        </a:rPr>
                        <a:t>Activité</a:t>
                      </a:r>
                    </a:p>
                  </a:txBody>
                  <a:tcPr>
                    <a:solidFill>
                      <a:srgbClr val="FFAB40"/>
                    </a:solidFill>
                  </a:tcPr>
                </a:tc>
                <a:tc>
                  <a:txBody>
                    <a:bodyPr/>
                    <a:lstStyle/>
                    <a:p>
                      <a:pPr algn="ctr"/>
                      <a:r>
                        <a:rPr sz="1100" b="1">
                          <a:solidFill>
                            <a:srgbClr val="FFFFFF"/>
                          </a:solidFill>
                          <a:latin typeface="Arial"/>
                        </a:rPr>
                        <a:t>Owner</a:t>
                      </a:r>
                    </a:p>
                  </a:txBody>
                  <a:tcPr>
                    <a:solidFill>
                      <a:srgbClr val="FFAB40"/>
                    </a:solidFill>
                  </a:tcPr>
                </a:tc>
                <a:tc>
                  <a:txBody>
                    <a:bodyPr/>
                    <a:lstStyle/>
                    <a:p>
                      <a:pPr algn="ctr"/>
                      <a:r>
                        <a:rPr sz="1100" b="1">
                          <a:solidFill>
                            <a:srgbClr val="FFFFFF"/>
                          </a:solidFill>
                          <a:latin typeface="Arial"/>
                        </a:rPr>
                        <a:t>Steward</a:t>
                      </a:r>
                    </a:p>
                  </a:txBody>
                  <a:tcPr>
                    <a:solidFill>
                      <a:srgbClr val="FFAB40"/>
                    </a:solidFill>
                  </a:tcPr>
                </a:tc>
                <a:tc>
                  <a:txBody>
                    <a:bodyPr/>
                    <a:lstStyle/>
                    <a:p>
                      <a:pPr algn="ctr"/>
                      <a:r>
                        <a:rPr sz="1100" b="1">
                          <a:solidFill>
                            <a:srgbClr val="FFFFFF"/>
                          </a:solidFill>
                          <a:latin typeface="Arial"/>
                        </a:rPr>
                        <a:t>DPO</a:t>
                      </a:r>
                    </a:p>
                  </a:txBody>
                  <a:tcPr>
                    <a:solidFill>
                      <a:srgbClr val="FFAB40"/>
                    </a:solidFill>
                  </a:tcPr>
                </a:tc>
                <a:tc>
                  <a:txBody>
                    <a:bodyPr/>
                    <a:lstStyle/>
                    <a:p>
                      <a:pPr algn="ctr"/>
                      <a:r>
                        <a:rPr sz="1100" b="1">
                          <a:solidFill>
                            <a:srgbClr val="FFFFFF"/>
                          </a:solidFill>
                          <a:latin typeface="Arial"/>
                        </a:rPr>
                        <a:t>Custodian</a:t>
                      </a:r>
                    </a:p>
                  </a:txBody>
                  <a:tcPr>
                    <a:solidFill>
                      <a:srgbClr val="FFAB40"/>
                    </a:solidFill>
                  </a:tcPr>
                </a:tc>
                <a:tc>
                  <a:txBody>
                    <a:bodyPr/>
                    <a:lstStyle/>
                    <a:p>
                      <a:pPr algn="ctr"/>
                      <a:r>
                        <a:rPr sz="1100" b="1">
                          <a:solidFill>
                            <a:srgbClr val="FFFFFF"/>
                          </a:solidFill>
                          <a:latin typeface="Arial"/>
                        </a:rPr>
                        <a:t>Consumer</a:t>
                      </a:r>
                    </a:p>
                  </a:txBody>
                  <a:tcPr>
                    <a:solidFill>
                      <a:srgbClr val="FFAB40"/>
                    </a:solidFill>
                  </a:tcPr>
                </a:tc>
                <a:extLst>
                  <a:ext uri="{0D108BD9-81ED-4DB2-BD59-A6C34878D82A}">
                    <a16:rowId xmlns:a16="http://schemas.microsoft.com/office/drawing/2014/main" val="10000"/>
                  </a:ext>
                </a:extLst>
              </a:tr>
              <a:tr h="486155">
                <a:tc>
                  <a:txBody>
                    <a:bodyPr/>
                    <a:lstStyle/>
                    <a:p>
                      <a:pPr algn="l"/>
                      <a:r>
                        <a:rPr sz="1050">
                          <a:solidFill>
                            <a:srgbClr val="212121"/>
                          </a:solidFill>
                          <a:latin typeface="Arial"/>
                        </a:rPr>
                        <a:t>Règles d'accès</a:t>
                      </a:r>
                    </a:p>
                  </a:txBody>
                  <a:tcPr>
                    <a:solidFill>
                      <a:srgbClr val="FFFFFF"/>
                    </a:solidFill>
                  </a:tcPr>
                </a:tc>
                <a:tc>
                  <a:txBody>
                    <a:bodyPr/>
                    <a:lstStyle/>
                    <a:p>
                      <a:pPr algn="ctr"/>
                      <a:r>
                        <a:rPr sz="1050">
                          <a:solidFill>
                            <a:srgbClr val="212121"/>
                          </a:solidFill>
                          <a:latin typeface="Arial"/>
                        </a:rPr>
                        <a:t>A</a:t>
                      </a:r>
                    </a:p>
                  </a:txBody>
                  <a:tcPr>
                    <a:solidFill>
                      <a:srgbClr val="FFFFFF"/>
                    </a:solidFill>
                  </a:tcPr>
                </a:tc>
                <a:tc>
                  <a:txBody>
                    <a:bodyPr/>
                    <a:lstStyle/>
                    <a:p>
                      <a:pPr algn="ctr"/>
                      <a:r>
                        <a:rPr sz="1050">
                          <a:solidFill>
                            <a:srgbClr val="212121"/>
                          </a:solidFill>
                          <a:latin typeface="Arial"/>
                        </a:rPr>
                        <a:t>R</a:t>
                      </a:r>
                    </a:p>
                  </a:txBody>
                  <a:tcPr>
                    <a:solidFill>
                      <a:srgbClr val="FFFFFF"/>
                    </a:solidFill>
                  </a:tcPr>
                </a:tc>
                <a:tc>
                  <a:txBody>
                    <a:bodyPr/>
                    <a:lstStyle/>
                    <a:p>
                      <a:pPr algn="ctr"/>
                      <a:r>
                        <a:rPr sz="1050">
                          <a:solidFill>
                            <a:srgbClr val="212121"/>
                          </a:solidFill>
                          <a:latin typeface="Arial"/>
                        </a:rPr>
                        <a:t>C</a:t>
                      </a:r>
                    </a:p>
                  </a:txBody>
                  <a:tcPr>
                    <a:solidFill>
                      <a:srgbClr val="FFFFFF"/>
                    </a:solidFill>
                  </a:tcPr>
                </a:tc>
                <a:tc>
                  <a:txBody>
                    <a:bodyPr/>
                    <a:lstStyle/>
                    <a:p>
                      <a:pPr algn="ctr"/>
                      <a:r>
                        <a:rPr sz="1050">
                          <a:solidFill>
                            <a:srgbClr val="212121"/>
                          </a:solidFill>
                          <a:latin typeface="Arial"/>
                        </a:rPr>
                        <a:t>I</a:t>
                      </a:r>
                    </a:p>
                  </a:txBody>
                  <a:tcPr>
                    <a:solidFill>
                      <a:srgbClr val="FFFFFF"/>
                    </a:solidFill>
                  </a:tcPr>
                </a:tc>
                <a:tc>
                  <a:txBody>
                    <a:bodyPr/>
                    <a:lstStyle/>
                    <a:p>
                      <a:pPr algn="ctr"/>
                      <a:r>
                        <a:rPr sz="1050">
                          <a:solidFill>
                            <a:srgbClr val="212121"/>
                          </a:solidFill>
                          <a:latin typeface="Arial"/>
                        </a:rPr>
                        <a:t>I</a:t>
                      </a:r>
                    </a:p>
                  </a:txBody>
                  <a:tcPr>
                    <a:solidFill>
                      <a:srgbClr val="FFFFFF"/>
                    </a:solidFill>
                  </a:tcPr>
                </a:tc>
                <a:extLst>
                  <a:ext uri="{0D108BD9-81ED-4DB2-BD59-A6C34878D82A}">
                    <a16:rowId xmlns:a16="http://schemas.microsoft.com/office/drawing/2014/main" val="10001"/>
                  </a:ext>
                </a:extLst>
              </a:tr>
              <a:tr h="486155">
                <a:tc>
                  <a:txBody>
                    <a:bodyPr/>
                    <a:lstStyle/>
                    <a:p>
                      <a:pPr algn="l"/>
                      <a:r>
                        <a:rPr sz="1050">
                          <a:solidFill>
                            <a:srgbClr val="212121"/>
                          </a:solidFill>
                          <a:latin typeface="Arial"/>
                        </a:rPr>
                        <a:t>Qualité des données</a:t>
                      </a:r>
                    </a:p>
                  </a:txBody>
                  <a:tcPr>
                    <a:solidFill>
                      <a:srgbClr val="EEEEEE"/>
                    </a:solidFill>
                  </a:tcPr>
                </a:tc>
                <a:tc>
                  <a:txBody>
                    <a:bodyPr/>
                    <a:lstStyle/>
                    <a:p>
                      <a:pPr algn="ctr"/>
                      <a:r>
                        <a:rPr sz="1050">
                          <a:solidFill>
                            <a:srgbClr val="212121"/>
                          </a:solidFill>
                          <a:latin typeface="Arial"/>
                        </a:rPr>
                        <a:t>A</a:t>
                      </a:r>
                    </a:p>
                  </a:txBody>
                  <a:tcPr>
                    <a:solidFill>
                      <a:srgbClr val="EEEEEE"/>
                    </a:solidFill>
                  </a:tcPr>
                </a:tc>
                <a:tc>
                  <a:txBody>
                    <a:bodyPr/>
                    <a:lstStyle/>
                    <a:p>
                      <a:pPr algn="ctr"/>
                      <a:r>
                        <a:rPr sz="1050">
                          <a:solidFill>
                            <a:srgbClr val="212121"/>
                          </a:solidFill>
                          <a:latin typeface="Arial"/>
                        </a:rPr>
                        <a:t>R</a:t>
                      </a:r>
                    </a:p>
                  </a:txBody>
                  <a:tcPr>
                    <a:solidFill>
                      <a:srgbClr val="EEEEEE"/>
                    </a:solidFill>
                  </a:tcPr>
                </a:tc>
                <a:tc>
                  <a:txBody>
                    <a:bodyPr/>
                    <a:lstStyle/>
                    <a:p>
                      <a:pPr algn="ctr"/>
                      <a:r>
                        <a:rPr sz="1050">
                          <a:solidFill>
                            <a:srgbClr val="212121"/>
                          </a:solidFill>
                          <a:latin typeface="Arial"/>
                        </a:rPr>
                        <a:t>I</a:t>
                      </a:r>
                    </a:p>
                  </a:txBody>
                  <a:tcPr>
                    <a:solidFill>
                      <a:srgbClr val="EEEEEE"/>
                    </a:solidFill>
                  </a:tcPr>
                </a:tc>
                <a:tc>
                  <a:txBody>
                    <a:bodyPr/>
                    <a:lstStyle/>
                    <a:p>
                      <a:pPr algn="ctr"/>
                      <a:r>
                        <a:rPr sz="1050">
                          <a:solidFill>
                            <a:srgbClr val="212121"/>
                          </a:solidFill>
                          <a:latin typeface="Arial"/>
                        </a:rPr>
                        <a:t>I</a:t>
                      </a:r>
                    </a:p>
                  </a:txBody>
                  <a:tcPr>
                    <a:solidFill>
                      <a:srgbClr val="EEEEEE"/>
                    </a:solidFill>
                  </a:tcPr>
                </a:tc>
                <a:tc>
                  <a:txBody>
                    <a:bodyPr/>
                    <a:lstStyle/>
                    <a:p>
                      <a:pPr algn="ctr"/>
                      <a:r>
                        <a:rPr sz="1050">
                          <a:solidFill>
                            <a:srgbClr val="212121"/>
                          </a:solidFill>
                          <a:latin typeface="Arial"/>
                        </a:rPr>
                        <a:t>I</a:t>
                      </a:r>
                    </a:p>
                  </a:txBody>
                  <a:tcPr>
                    <a:solidFill>
                      <a:srgbClr val="EEEEEE"/>
                    </a:solidFill>
                  </a:tcPr>
                </a:tc>
                <a:extLst>
                  <a:ext uri="{0D108BD9-81ED-4DB2-BD59-A6C34878D82A}">
                    <a16:rowId xmlns:a16="http://schemas.microsoft.com/office/drawing/2014/main" val="10002"/>
                  </a:ext>
                </a:extLst>
              </a:tr>
              <a:tr h="486155">
                <a:tc>
                  <a:txBody>
                    <a:bodyPr/>
                    <a:lstStyle/>
                    <a:p>
                      <a:pPr algn="l"/>
                      <a:r>
                        <a:rPr sz="1050">
                          <a:solidFill>
                            <a:srgbClr val="212121"/>
                          </a:solidFill>
                          <a:latin typeface="Arial"/>
                        </a:rPr>
                        <a:t>Droits RGPD</a:t>
                      </a:r>
                    </a:p>
                  </a:txBody>
                  <a:tcPr>
                    <a:solidFill>
                      <a:srgbClr val="FFFFFF"/>
                    </a:solidFill>
                  </a:tcPr>
                </a:tc>
                <a:tc>
                  <a:txBody>
                    <a:bodyPr/>
                    <a:lstStyle/>
                    <a:p>
                      <a:pPr algn="ctr"/>
                      <a:r>
                        <a:rPr sz="1050">
                          <a:solidFill>
                            <a:srgbClr val="212121"/>
                          </a:solidFill>
                          <a:latin typeface="Arial"/>
                        </a:rPr>
                        <a:t>C</a:t>
                      </a:r>
                    </a:p>
                  </a:txBody>
                  <a:tcPr>
                    <a:solidFill>
                      <a:srgbClr val="FFFFFF"/>
                    </a:solidFill>
                  </a:tcPr>
                </a:tc>
                <a:tc>
                  <a:txBody>
                    <a:bodyPr/>
                    <a:lstStyle/>
                    <a:p>
                      <a:pPr algn="ctr"/>
                      <a:r>
                        <a:rPr sz="1050">
                          <a:solidFill>
                            <a:srgbClr val="212121"/>
                          </a:solidFill>
                          <a:latin typeface="Arial"/>
                        </a:rPr>
                        <a:t>R</a:t>
                      </a:r>
                    </a:p>
                  </a:txBody>
                  <a:tcPr>
                    <a:solidFill>
                      <a:srgbClr val="FFFFFF"/>
                    </a:solidFill>
                  </a:tcPr>
                </a:tc>
                <a:tc>
                  <a:txBody>
                    <a:bodyPr/>
                    <a:lstStyle/>
                    <a:p>
                      <a:pPr algn="ctr"/>
                      <a:r>
                        <a:rPr sz="1050">
                          <a:solidFill>
                            <a:srgbClr val="212121"/>
                          </a:solidFill>
                          <a:latin typeface="Arial"/>
                        </a:rPr>
                        <a:t>A</a:t>
                      </a:r>
                    </a:p>
                  </a:txBody>
                  <a:tcPr>
                    <a:solidFill>
                      <a:srgbClr val="FFFFFF"/>
                    </a:solidFill>
                  </a:tcPr>
                </a:tc>
                <a:tc>
                  <a:txBody>
                    <a:bodyPr/>
                    <a:lstStyle/>
                    <a:p>
                      <a:pPr algn="ctr"/>
                      <a:r>
                        <a:rPr sz="1050">
                          <a:solidFill>
                            <a:srgbClr val="212121"/>
                          </a:solidFill>
                          <a:latin typeface="Arial"/>
                        </a:rPr>
                        <a:t>C</a:t>
                      </a:r>
                    </a:p>
                  </a:txBody>
                  <a:tcPr>
                    <a:solidFill>
                      <a:srgbClr val="FFFFFF"/>
                    </a:solidFill>
                  </a:tcPr>
                </a:tc>
                <a:tc>
                  <a:txBody>
                    <a:bodyPr/>
                    <a:lstStyle/>
                    <a:p>
                      <a:pPr algn="ctr"/>
                      <a:r>
                        <a:rPr sz="1050">
                          <a:solidFill>
                            <a:srgbClr val="212121"/>
                          </a:solidFill>
                          <a:latin typeface="Arial"/>
                        </a:rPr>
                        <a:t>I</a:t>
                      </a:r>
                    </a:p>
                  </a:txBody>
                  <a:tcPr>
                    <a:solidFill>
                      <a:srgbClr val="FFFFFF"/>
                    </a:solidFill>
                  </a:tcPr>
                </a:tc>
                <a:extLst>
                  <a:ext uri="{0D108BD9-81ED-4DB2-BD59-A6C34878D82A}">
                    <a16:rowId xmlns:a16="http://schemas.microsoft.com/office/drawing/2014/main" val="10003"/>
                  </a:ext>
                </a:extLst>
              </a:tr>
              <a:tr h="486155">
                <a:tc>
                  <a:txBody>
                    <a:bodyPr/>
                    <a:lstStyle/>
                    <a:p>
                      <a:pPr algn="l"/>
                      <a:r>
                        <a:rPr sz="1050">
                          <a:solidFill>
                            <a:srgbClr val="212121"/>
                          </a:solidFill>
                          <a:latin typeface="Arial"/>
                        </a:rPr>
                        <a:t>Chiffrement / Sécurité</a:t>
                      </a:r>
                    </a:p>
                  </a:txBody>
                  <a:tcPr>
                    <a:solidFill>
                      <a:srgbClr val="EEEEEE"/>
                    </a:solidFill>
                  </a:tcPr>
                </a:tc>
                <a:tc>
                  <a:txBody>
                    <a:bodyPr/>
                    <a:lstStyle/>
                    <a:p>
                      <a:pPr algn="ctr"/>
                      <a:r>
                        <a:rPr sz="1050">
                          <a:solidFill>
                            <a:srgbClr val="212121"/>
                          </a:solidFill>
                          <a:latin typeface="Arial"/>
                        </a:rPr>
                        <a:t>I</a:t>
                      </a:r>
                    </a:p>
                  </a:txBody>
                  <a:tcPr>
                    <a:solidFill>
                      <a:srgbClr val="EEEEEE"/>
                    </a:solidFill>
                  </a:tcPr>
                </a:tc>
                <a:tc>
                  <a:txBody>
                    <a:bodyPr/>
                    <a:lstStyle/>
                    <a:p>
                      <a:pPr algn="ctr"/>
                      <a:r>
                        <a:rPr sz="1050">
                          <a:solidFill>
                            <a:srgbClr val="212121"/>
                          </a:solidFill>
                          <a:latin typeface="Arial"/>
                        </a:rPr>
                        <a:t>C</a:t>
                      </a:r>
                    </a:p>
                  </a:txBody>
                  <a:tcPr>
                    <a:solidFill>
                      <a:srgbClr val="EEEEEE"/>
                    </a:solidFill>
                  </a:tcPr>
                </a:tc>
                <a:tc>
                  <a:txBody>
                    <a:bodyPr/>
                    <a:lstStyle/>
                    <a:p>
                      <a:pPr algn="ctr"/>
                      <a:r>
                        <a:rPr sz="1050">
                          <a:solidFill>
                            <a:srgbClr val="212121"/>
                          </a:solidFill>
                          <a:latin typeface="Arial"/>
                        </a:rPr>
                        <a:t>C</a:t>
                      </a:r>
                    </a:p>
                  </a:txBody>
                  <a:tcPr>
                    <a:solidFill>
                      <a:srgbClr val="EEEEEE"/>
                    </a:solidFill>
                  </a:tcPr>
                </a:tc>
                <a:tc>
                  <a:txBody>
                    <a:bodyPr/>
                    <a:lstStyle/>
                    <a:p>
                      <a:pPr algn="ctr"/>
                      <a:r>
                        <a:rPr sz="1050">
                          <a:solidFill>
                            <a:srgbClr val="212121"/>
                          </a:solidFill>
                          <a:latin typeface="Arial"/>
                        </a:rPr>
                        <a:t>R</a:t>
                      </a:r>
                    </a:p>
                  </a:txBody>
                  <a:tcPr>
                    <a:solidFill>
                      <a:srgbClr val="EEEEEE"/>
                    </a:solidFill>
                  </a:tcPr>
                </a:tc>
                <a:tc>
                  <a:txBody>
                    <a:bodyPr/>
                    <a:lstStyle/>
                    <a:p>
                      <a:pPr algn="ctr"/>
                      <a:r>
                        <a:rPr sz="1050">
                          <a:solidFill>
                            <a:srgbClr val="212121"/>
                          </a:solidFill>
                          <a:latin typeface="Arial"/>
                        </a:rPr>
                        <a:t>I</a:t>
                      </a:r>
                    </a:p>
                  </a:txBody>
                  <a:tcPr>
                    <a:solidFill>
                      <a:srgbClr val="EEEEEE"/>
                    </a:solidFill>
                  </a:tcPr>
                </a:tc>
                <a:extLst>
                  <a:ext uri="{0D108BD9-81ED-4DB2-BD59-A6C34878D82A}">
                    <a16:rowId xmlns:a16="http://schemas.microsoft.com/office/drawing/2014/main" val="10004"/>
                  </a:ext>
                </a:extLst>
              </a:tr>
              <a:tr h="486160">
                <a:tc>
                  <a:txBody>
                    <a:bodyPr/>
                    <a:lstStyle/>
                    <a:p>
                      <a:pPr algn="l"/>
                      <a:r>
                        <a:rPr sz="1050" dirty="0" err="1">
                          <a:solidFill>
                            <a:srgbClr val="212121"/>
                          </a:solidFill>
                          <a:latin typeface="Arial"/>
                        </a:rPr>
                        <a:t>Utilisation</a:t>
                      </a:r>
                      <a:r>
                        <a:rPr sz="1050" dirty="0">
                          <a:solidFill>
                            <a:srgbClr val="212121"/>
                          </a:solidFill>
                          <a:latin typeface="Arial"/>
                        </a:rPr>
                        <a:t> des données</a:t>
                      </a:r>
                    </a:p>
                  </a:txBody>
                  <a:tcPr>
                    <a:solidFill>
                      <a:srgbClr val="FFFFFF"/>
                    </a:solidFill>
                  </a:tcPr>
                </a:tc>
                <a:tc>
                  <a:txBody>
                    <a:bodyPr/>
                    <a:lstStyle/>
                    <a:p>
                      <a:pPr algn="ctr"/>
                      <a:r>
                        <a:rPr sz="1050">
                          <a:solidFill>
                            <a:srgbClr val="212121"/>
                          </a:solidFill>
                          <a:latin typeface="Arial"/>
                        </a:rPr>
                        <a:t>I</a:t>
                      </a:r>
                    </a:p>
                  </a:txBody>
                  <a:tcPr>
                    <a:solidFill>
                      <a:srgbClr val="FFFFFF"/>
                    </a:solidFill>
                  </a:tcPr>
                </a:tc>
                <a:tc>
                  <a:txBody>
                    <a:bodyPr/>
                    <a:lstStyle/>
                    <a:p>
                      <a:pPr algn="ctr"/>
                      <a:r>
                        <a:rPr sz="1050">
                          <a:solidFill>
                            <a:srgbClr val="212121"/>
                          </a:solidFill>
                          <a:latin typeface="Arial"/>
                        </a:rPr>
                        <a:t>I</a:t>
                      </a:r>
                    </a:p>
                  </a:txBody>
                  <a:tcPr>
                    <a:solidFill>
                      <a:srgbClr val="FFFFFF"/>
                    </a:solidFill>
                  </a:tcPr>
                </a:tc>
                <a:tc>
                  <a:txBody>
                    <a:bodyPr/>
                    <a:lstStyle/>
                    <a:p>
                      <a:pPr algn="ctr"/>
                      <a:r>
                        <a:rPr sz="1050">
                          <a:solidFill>
                            <a:srgbClr val="212121"/>
                          </a:solidFill>
                          <a:latin typeface="Arial"/>
                        </a:rPr>
                        <a:t>I</a:t>
                      </a:r>
                    </a:p>
                  </a:txBody>
                  <a:tcPr>
                    <a:solidFill>
                      <a:srgbClr val="FFFFFF"/>
                    </a:solidFill>
                  </a:tcPr>
                </a:tc>
                <a:tc>
                  <a:txBody>
                    <a:bodyPr/>
                    <a:lstStyle/>
                    <a:p>
                      <a:pPr algn="ctr"/>
                      <a:r>
                        <a:rPr sz="1050">
                          <a:solidFill>
                            <a:srgbClr val="212121"/>
                          </a:solidFill>
                          <a:latin typeface="Arial"/>
                        </a:rPr>
                        <a:t>I</a:t>
                      </a:r>
                    </a:p>
                  </a:txBody>
                  <a:tcPr>
                    <a:solidFill>
                      <a:srgbClr val="FFFFFF"/>
                    </a:solidFill>
                  </a:tcPr>
                </a:tc>
                <a:tc>
                  <a:txBody>
                    <a:bodyPr/>
                    <a:lstStyle/>
                    <a:p>
                      <a:pPr algn="ctr"/>
                      <a:r>
                        <a:rPr sz="1050" dirty="0">
                          <a:solidFill>
                            <a:srgbClr val="212121"/>
                          </a:solidFill>
                          <a:latin typeface="Arial"/>
                        </a:rPr>
                        <a:t>A</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365760"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Owner : décide des règles</a:t>
            </a:r>
          </a:p>
        </p:txBody>
      </p:sp>
      <p:sp>
        <p:nvSpPr>
          <p:cNvPr id="6" name="TextBox 5"/>
          <p:cNvSpPr txBox="1"/>
          <p:nvPr/>
        </p:nvSpPr>
        <p:spPr>
          <a:xfrm>
            <a:off x="2496312"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Steward : exécute au quotidien</a:t>
            </a:r>
          </a:p>
        </p:txBody>
      </p:sp>
      <p:sp>
        <p:nvSpPr>
          <p:cNvPr id="7" name="TextBox 6"/>
          <p:cNvSpPr txBox="1"/>
          <p:nvPr/>
        </p:nvSpPr>
        <p:spPr>
          <a:xfrm>
            <a:off x="4626864"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DPO : valide la conformité</a:t>
            </a:r>
          </a:p>
        </p:txBody>
      </p:sp>
      <p:sp>
        <p:nvSpPr>
          <p:cNvPr id="8" name="TextBox 7"/>
          <p:cNvSpPr txBox="1"/>
          <p:nvPr/>
        </p:nvSpPr>
        <p:spPr>
          <a:xfrm>
            <a:off x="6443831" y="4258761"/>
            <a:ext cx="2334409" cy="169277"/>
          </a:xfrm>
          <a:prstGeom prst="rect">
            <a:avLst/>
          </a:prstGeom>
          <a:noFill/>
        </p:spPr>
        <p:txBody>
          <a:bodyPr wrap="square" lIns="0" tIns="0" rIns="0" bIns="0" anchor="ctr">
            <a:spAutoFit/>
          </a:bodyPr>
          <a:lstStyle/>
          <a:p>
            <a:pPr algn="l"/>
            <a:r>
              <a:rPr sz="1100" b="0" i="0" dirty="0">
                <a:solidFill>
                  <a:srgbClr val="595959"/>
                </a:solidFill>
                <a:latin typeface="Arial"/>
              </a:rPr>
              <a:t>• Custodian : </a:t>
            </a:r>
            <a:r>
              <a:rPr sz="1100" b="0" i="0" dirty="0" err="1">
                <a:solidFill>
                  <a:srgbClr val="595959"/>
                </a:solidFill>
                <a:latin typeface="Arial"/>
              </a:rPr>
              <a:t>protège</a:t>
            </a:r>
            <a:r>
              <a:rPr sz="1100" b="0" i="0" dirty="0">
                <a:solidFill>
                  <a:srgbClr val="595959"/>
                </a:solidFill>
                <a:latin typeface="Arial"/>
              </a:rPr>
              <a:t> </a:t>
            </a:r>
            <a:r>
              <a:rPr sz="1100" b="0" i="0" dirty="0" err="1">
                <a:solidFill>
                  <a:srgbClr val="595959"/>
                </a:solidFill>
                <a:latin typeface="Arial"/>
              </a:rPr>
              <a:t>techniquement</a:t>
            </a:r>
            <a:endParaRPr sz="1100" b="0" i="0" dirty="0">
              <a:solidFill>
                <a:srgbClr val="595959"/>
              </a:solidFill>
              <a:latin typeface="Arial"/>
            </a:endParaRPr>
          </a:p>
        </p:txBody>
      </p:sp>
      <p:sp>
        <p:nvSpPr>
          <p:cNvPr id="9" name="TextBox 8"/>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Plus aucune donnée orpheline</a:t>
            </a:r>
          </a:p>
        </p:txBody>
      </p:sp>
      <p:sp>
        <p:nvSpPr>
          <p:cNvPr id="11" name="Google Shape;76;p15">
            <a:extLst>
              <a:ext uri="{FF2B5EF4-FFF2-40B4-BE49-F238E27FC236}">
                <a16:creationId xmlns:a16="http://schemas.microsoft.com/office/drawing/2014/main" id="{C3C04EE9-F900-E0F4-7DB8-3B6DA42DE65C}"/>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Espace réservé du numéro de diapositive 9">
            <a:extLst>
              <a:ext uri="{FF2B5EF4-FFF2-40B4-BE49-F238E27FC236}">
                <a16:creationId xmlns:a16="http://schemas.microsoft.com/office/drawing/2014/main" id="{1FEB134D-3879-9366-5894-FD9D56E685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9</a:t>
            </a:fld>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Triple conformité : RGPD, CCPA, PCI-DSS</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554480" cy="862583"/>
          </a:xfrm>
          <a:prstGeom prst="rect">
            <a:avLst/>
          </a:prstGeom>
          <a:noFill/>
        </p:spPr>
        <p:txBody>
          <a:bodyPr wrap="square" lIns="0" tIns="0" rIns="0" bIns="0" anchor="ctr">
            <a:spAutoFit/>
          </a:bodyPr>
          <a:lstStyle/>
          <a:p>
            <a:pPr algn="l"/>
            <a:r>
              <a:rPr sz="1100" b="1" i="0">
                <a:solidFill>
                  <a:srgbClr val="212121"/>
                </a:solidFill>
                <a:latin typeface="Arial"/>
              </a:rPr>
              <a:t>RGPD (600M Européens)</a:t>
            </a:r>
          </a:p>
        </p:txBody>
      </p:sp>
      <p:sp>
        <p:nvSpPr>
          <p:cNvPr id="5" name="Rounded Rectangle 4"/>
          <p:cNvSpPr/>
          <p:nvPr/>
        </p:nvSpPr>
        <p:spPr>
          <a:xfrm>
            <a:off x="2011680" y="1170432"/>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DPO nommé</a:t>
            </a:r>
          </a:p>
        </p:txBody>
      </p:sp>
      <p:sp>
        <p:nvSpPr>
          <p:cNvPr id="6" name="Rounded Rectangle 5"/>
          <p:cNvSpPr/>
          <p:nvPr/>
        </p:nvSpPr>
        <p:spPr>
          <a:xfrm>
            <a:off x="4303776" y="1170432"/>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Registre Art.30 partiel</a:t>
            </a:r>
          </a:p>
        </p:txBody>
      </p:sp>
      <p:sp>
        <p:nvSpPr>
          <p:cNvPr id="7" name="Rounded Rectangle 6"/>
          <p:cNvSpPr/>
          <p:nvPr/>
        </p:nvSpPr>
        <p:spPr>
          <a:xfrm>
            <a:off x="6595872" y="1170432"/>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Lineage à renforcer</a:t>
            </a:r>
          </a:p>
        </p:txBody>
      </p:sp>
      <p:sp>
        <p:nvSpPr>
          <p:cNvPr id="8" name="TextBox 7"/>
          <p:cNvSpPr txBox="1"/>
          <p:nvPr/>
        </p:nvSpPr>
        <p:spPr>
          <a:xfrm>
            <a:off x="365760" y="2197608"/>
            <a:ext cx="1554480" cy="862583"/>
          </a:xfrm>
          <a:prstGeom prst="rect">
            <a:avLst/>
          </a:prstGeom>
          <a:noFill/>
        </p:spPr>
        <p:txBody>
          <a:bodyPr wrap="square" lIns="0" tIns="0" rIns="0" bIns="0" anchor="ctr">
            <a:spAutoFit/>
          </a:bodyPr>
          <a:lstStyle/>
          <a:p>
            <a:pPr algn="l"/>
            <a:r>
              <a:rPr sz="1100" b="1" i="0">
                <a:solidFill>
                  <a:srgbClr val="212121"/>
                </a:solidFill>
                <a:latin typeface="Arial"/>
              </a:rPr>
              <a:t>CCPA (50M Californiens)</a:t>
            </a:r>
          </a:p>
        </p:txBody>
      </p:sp>
      <p:sp>
        <p:nvSpPr>
          <p:cNvPr id="9" name="Rounded Rectangle 8"/>
          <p:cNvSpPr/>
          <p:nvPr/>
        </p:nvSpPr>
        <p:spPr>
          <a:xfrm>
            <a:off x="2011680"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Opt-out vente en place</a:t>
            </a:r>
          </a:p>
        </p:txBody>
      </p:sp>
      <p:sp>
        <p:nvSpPr>
          <p:cNvPr id="10" name="Rounded Rectangle 9"/>
          <p:cNvSpPr/>
          <p:nvPr/>
        </p:nvSpPr>
        <p:spPr>
          <a:xfrm>
            <a:off x="4303776"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Droit de suppression</a:t>
            </a:r>
          </a:p>
        </p:txBody>
      </p:sp>
      <p:sp>
        <p:nvSpPr>
          <p:cNvPr id="11" name="Rounded Rectangle 10"/>
          <p:cNvSpPr/>
          <p:nvPr/>
        </p:nvSpPr>
        <p:spPr>
          <a:xfrm>
            <a:off x="6595872"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Signal GPC à renforcer</a:t>
            </a:r>
          </a:p>
        </p:txBody>
      </p:sp>
      <p:sp>
        <p:nvSpPr>
          <p:cNvPr id="12" name="TextBox 11"/>
          <p:cNvSpPr txBox="1"/>
          <p:nvPr/>
        </p:nvSpPr>
        <p:spPr>
          <a:xfrm>
            <a:off x="365760" y="3224783"/>
            <a:ext cx="1554480" cy="862583"/>
          </a:xfrm>
          <a:prstGeom prst="rect">
            <a:avLst/>
          </a:prstGeom>
          <a:noFill/>
        </p:spPr>
        <p:txBody>
          <a:bodyPr wrap="square" lIns="0" tIns="0" rIns="0" bIns="0" anchor="ctr">
            <a:spAutoFit/>
          </a:bodyPr>
          <a:lstStyle/>
          <a:p>
            <a:pPr algn="l"/>
            <a:r>
              <a:rPr sz="1100" b="1" i="0">
                <a:solidFill>
                  <a:srgbClr val="212121"/>
                </a:solidFill>
                <a:latin typeface="Arial"/>
              </a:rPr>
              <a:t>PCI-DSS (268M Premium)</a:t>
            </a:r>
          </a:p>
        </p:txBody>
      </p:sp>
      <p:sp>
        <p:nvSpPr>
          <p:cNvPr id="13" name="Rounded Rectangle 12"/>
          <p:cNvSpPr/>
          <p:nvPr/>
        </p:nvSpPr>
        <p:spPr>
          <a:xfrm>
            <a:off x="2011680" y="3224783"/>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Tokenisation des paiements</a:t>
            </a:r>
          </a:p>
        </p:txBody>
      </p:sp>
      <p:sp>
        <p:nvSpPr>
          <p:cNvPr id="14" name="Rounded Rectangle 13"/>
          <p:cNvSpPr/>
          <p:nvPr/>
        </p:nvSpPr>
        <p:spPr>
          <a:xfrm>
            <a:off x="4303776" y="3224783"/>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TLS 1.3</a:t>
            </a:r>
          </a:p>
        </p:txBody>
      </p:sp>
      <p:sp>
        <p:nvSpPr>
          <p:cNvPr id="15" name="Rounded Rectangle 14"/>
          <p:cNvSpPr/>
          <p:nvPr/>
        </p:nvSpPr>
        <p:spPr>
          <a:xfrm>
            <a:off x="6595872" y="3224783"/>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Audit QSA à planifier</a:t>
            </a:r>
          </a:p>
        </p:txBody>
      </p:sp>
      <p:sp>
        <p:nvSpPr>
          <p:cNvPr id="16" name="TextBox 15"/>
          <p:cNvSpPr txBox="1"/>
          <p:nvPr/>
        </p:nvSpPr>
        <p:spPr>
          <a:xfrm>
            <a:off x="365760"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Délai de réponse unique : 30 jours</a:t>
            </a:r>
          </a:p>
        </p:txBody>
      </p:sp>
      <p:sp>
        <p:nvSpPr>
          <p:cNvPr id="17" name="TextBox 16"/>
          <p:cNvSpPr txBox="1"/>
          <p:nvPr/>
        </p:nvSpPr>
        <p:spPr>
          <a:xfrm>
            <a:off x="2496312"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Opt-in marketing pour tous</a:t>
            </a:r>
          </a:p>
        </p:txBody>
      </p:sp>
      <p:sp>
        <p:nvSpPr>
          <p:cNvPr id="18" name="TextBox 17"/>
          <p:cNvSpPr txBox="1"/>
          <p:nvPr/>
        </p:nvSpPr>
        <p:spPr>
          <a:xfrm>
            <a:off x="4626864"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Paiements tokenisés (Stripe)</a:t>
            </a:r>
          </a:p>
        </p:txBody>
      </p:sp>
      <p:sp>
        <p:nvSpPr>
          <p:cNvPr id="19" name="TextBox 18"/>
          <p:cNvSpPr txBox="1"/>
          <p:nvPr/>
        </p:nvSpPr>
        <p:spPr>
          <a:xfrm>
            <a:off x="6757416"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Droit à l'oubli vs modèles ML : cas à part</a:t>
            </a:r>
          </a:p>
        </p:txBody>
      </p:sp>
      <p:sp>
        <p:nvSpPr>
          <p:cNvPr id="20" name="TextBox 19"/>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Stratégie : la norme la plus contraignante pour tous</a:t>
            </a:r>
          </a:p>
        </p:txBody>
      </p:sp>
      <p:sp>
        <p:nvSpPr>
          <p:cNvPr id="22" name="Google Shape;76;p15">
            <a:extLst>
              <a:ext uri="{FF2B5EF4-FFF2-40B4-BE49-F238E27FC236}">
                <a16:creationId xmlns:a16="http://schemas.microsoft.com/office/drawing/2014/main" id="{85770355-A6C8-1F83-2B01-4F9D7CBFDEE8}"/>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Espace réservé du numéro de diapositive 20">
            <a:extLst>
              <a:ext uri="{FF2B5EF4-FFF2-40B4-BE49-F238E27FC236}">
                <a16:creationId xmlns:a16="http://schemas.microsoft.com/office/drawing/2014/main" id="{04ABEC09-F8DD-C3B1-F393-BC7A7906CF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Stack technologique de gouvernance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371600" cy="379475"/>
          </a:xfrm>
          <a:prstGeom prst="rect">
            <a:avLst/>
          </a:prstGeom>
          <a:noFill/>
        </p:spPr>
        <p:txBody>
          <a:bodyPr wrap="square" lIns="0" tIns="0" rIns="0" bIns="0" anchor="ctr">
            <a:spAutoFit/>
          </a:bodyPr>
          <a:lstStyle/>
          <a:p>
            <a:pPr algn="l"/>
            <a:r>
              <a:rPr sz="1100" b="1" i="0">
                <a:solidFill>
                  <a:srgbClr val="212121"/>
                </a:solidFill>
                <a:latin typeface="Arial"/>
              </a:rPr>
              <a:t>Catalogue</a:t>
            </a:r>
          </a:p>
        </p:txBody>
      </p:sp>
      <p:sp>
        <p:nvSpPr>
          <p:cNvPr id="5" name="Rounded Rectangle 4"/>
          <p:cNvSpPr/>
          <p:nvPr/>
        </p:nvSpPr>
        <p:spPr>
          <a:xfrm>
            <a:off x="1828800" y="1170432"/>
            <a:ext cx="6949440"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Apache Atlas</a:t>
            </a:r>
          </a:p>
        </p:txBody>
      </p:sp>
      <p:sp>
        <p:nvSpPr>
          <p:cNvPr id="6" name="Rectangle 5"/>
          <p:cNvSpPr/>
          <p:nvPr/>
        </p:nvSpPr>
        <p:spPr>
          <a:xfrm>
            <a:off x="1828800" y="1170432"/>
            <a:ext cx="694944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677924"/>
            <a:ext cx="1371600" cy="379475"/>
          </a:xfrm>
          <a:prstGeom prst="rect">
            <a:avLst/>
          </a:prstGeom>
          <a:noFill/>
        </p:spPr>
        <p:txBody>
          <a:bodyPr wrap="square" lIns="0" tIns="0" rIns="0" bIns="0" anchor="ctr">
            <a:spAutoFit/>
          </a:bodyPr>
          <a:lstStyle/>
          <a:p>
            <a:pPr algn="l"/>
            <a:r>
              <a:rPr sz="1100" b="1" i="0">
                <a:solidFill>
                  <a:srgbClr val="212121"/>
                </a:solidFill>
                <a:latin typeface="Arial"/>
              </a:rPr>
              <a:t>Qualité</a:t>
            </a:r>
          </a:p>
        </p:txBody>
      </p:sp>
      <p:sp>
        <p:nvSpPr>
          <p:cNvPr id="8" name="Rounded Rectangle 7"/>
          <p:cNvSpPr/>
          <p:nvPr/>
        </p:nvSpPr>
        <p:spPr>
          <a:xfrm>
            <a:off x="1828800" y="1677924"/>
            <a:ext cx="3410712"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Great Expectations</a:t>
            </a:r>
          </a:p>
        </p:txBody>
      </p:sp>
      <p:sp>
        <p:nvSpPr>
          <p:cNvPr id="9" name="Rectangle 8"/>
          <p:cNvSpPr/>
          <p:nvPr/>
        </p:nvSpPr>
        <p:spPr>
          <a:xfrm>
            <a:off x="1828800" y="1677924"/>
            <a:ext cx="341071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367528" y="1677924"/>
            <a:ext cx="3410712"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dbt tests</a:t>
            </a:r>
          </a:p>
        </p:txBody>
      </p:sp>
      <p:sp>
        <p:nvSpPr>
          <p:cNvPr id="11" name="Rectangle 10"/>
          <p:cNvSpPr/>
          <p:nvPr/>
        </p:nvSpPr>
        <p:spPr>
          <a:xfrm>
            <a:off x="5367528" y="1677924"/>
            <a:ext cx="341071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185415"/>
            <a:ext cx="1371600" cy="379475"/>
          </a:xfrm>
          <a:prstGeom prst="rect">
            <a:avLst/>
          </a:prstGeom>
          <a:noFill/>
        </p:spPr>
        <p:txBody>
          <a:bodyPr wrap="square" lIns="0" tIns="0" rIns="0" bIns="0" anchor="ctr">
            <a:spAutoFit/>
          </a:bodyPr>
          <a:lstStyle/>
          <a:p>
            <a:pPr algn="l"/>
            <a:r>
              <a:rPr sz="1100" b="1" i="0">
                <a:solidFill>
                  <a:srgbClr val="212121"/>
                </a:solidFill>
                <a:latin typeface="Arial"/>
              </a:rPr>
              <a:t>Sécurité</a:t>
            </a:r>
          </a:p>
        </p:txBody>
      </p:sp>
      <p:sp>
        <p:nvSpPr>
          <p:cNvPr id="13" name="Rounded Rectangle 12"/>
          <p:cNvSpPr/>
          <p:nvPr/>
        </p:nvSpPr>
        <p:spPr>
          <a:xfrm>
            <a:off x="1828800" y="2185415"/>
            <a:ext cx="6949440"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HashiCorp Vault</a:t>
            </a:r>
          </a:p>
        </p:txBody>
      </p:sp>
      <p:sp>
        <p:nvSpPr>
          <p:cNvPr id="14" name="Rectangle 13"/>
          <p:cNvSpPr/>
          <p:nvPr/>
        </p:nvSpPr>
        <p:spPr>
          <a:xfrm>
            <a:off x="1828800" y="2185415"/>
            <a:ext cx="694944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2692908"/>
            <a:ext cx="1371600" cy="379475"/>
          </a:xfrm>
          <a:prstGeom prst="rect">
            <a:avLst/>
          </a:prstGeom>
          <a:noFill/>
        </p:spPr>
        <p:txBody>
          <a:bodyPr wrap="square" lIns="0" tIns="0" rIns="0" bIns="0" anchor="ctr">
            <a:spAutoFit/>
          </a:bodyPr>
          <a:lstStyle/>
          <a:p>
            <a:pPr algn="l"/>
            <a:r>
              <a:rPr sz="1100" b="1" i="0">
                <a:solidFill>
                  <a:srgbClr val="212121"/>
                </a:solidFill>
                <a:latin typeface="Arial"/>
              </a:rPr>
              <a:t>Streaming</a:t>
            </a:r>
          </a:p>
        </p:txBody>
      </p:sp>
      <p:sp>
        <p:nvSpPr>
          <p:cNvPr id="16" name="Rounded Rectangle 15"/>
          <p:cNvSpPr/>
          <p:nvPr/>
        </p:nvSpPr>
        <p:spPr>
          <a:xfrm>
            <a:off x="1828800" y="2692908"/>
            <a:ext cx="3410712"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Confluent</a:t>
            </a:r>
          </a:p>
        </p:txBody>
      </p:sp>
      <p:sp>
        <p:nvSpPr>
          <p:cNvPr id="17" name="Rectangle 16"/>
          <p:cNvSpPr/>
          <p:nvPr/>
        </p:nvSpPr>
        <p:spPr>
          <a:xfrm>
            <a:off x="1828800" y="2692908"/>
            <a:ext cx="341071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367528" y="2692908"/>
            <a:ext cx="3410712"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Schema Registry</a:t>
            </a:r>
          </a:p>
        </p:txBody>
      </p:sp>
      <p:sp>
        <p:nvSpPr>
          <p:cNvPr id="19" name="Rectangle 18"/>
          <p:cNvSpPr/>
          <p:nvPr/>
        </p:nvSpPr>
        <p:spPr>
          <a:xfrm>
            <a:off x="5367528" y="2692908"/>
            <a:ext cx="341071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3200400"/>
            <a:ext cx="1371600" cy="379475"/>
          </a:xfrm>
          <a:prstGeom prst="rect">
            <a:avLst/>
          </a:prstGeom>
          <a:noFill/>
        </p:spPr>
        <p:txBody>
          <a:bodyPr wrap="square" lIns="0" tIns="0" rIns="0" bIns="0" anchor="ctr">
            <a:spAutoFit/>
          </a:bodyPr>
          <a:lstStyle/>
          <a:p>
            <a:pPr algn="l"/>
            <a:r>
              <a:rPr sz="1100" b="1" i="0">
                <a:solidFill>
                  <a:srgbClr val="212121"/>
                </a:solidFill>
                <a:latin typeface="Arial"/>
              </a:rPr>
              <a:t>Accès</a:t>
            </a:r>
          </a:p>
        </p:txBody>
      </p:sp>
      <p:sp>
        <p:nvSpPr>
          <p:cNvPr id="21" name="Rounded Rectangle 20"/>
          <p:cNvSpPr/>
          <p:nvPr/>
        </p:nvSpPr>
        <p:spPr>
          <a:xfrm>
            <a:off x="1828800" y="3200400"/>
            <a:ext cx="3410712"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GCP IAM</a:t>
            </a:r>
          </a:p>
        </p:txBody>
      </p:sp>
      <p:sp>
        <p:nvSpPr>
          <p:cNvPr id="22" name="Rectangle 21"/>
          <p:cNvSpPr/>
          <p:nvPr/>
        </p:nvSpPr>
        <p:spPr>
          <a:xfrm>
            <a:off x="1828800" y="3200400"/>
            <a:ext cx="341071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367528" y="3200400"/>
            <a:ext cx="3410712"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BigQuery Column/Row Security</a:t>
            </a:r>
          </a:p>
        </p:txBody>
      </p:sp>
      <p:sp>
        <p:nvSpPr>
          <p:cNvPr id="24" name="Rectangle 23"/>
          <p:cNvSpPr/>
          <p:nvPr/>
        </p:nvSpPr>
        <p:spPr>
          <a:xfrm>
            <a:off x="5367528" y="3200400"/>
            <a:ext cx="3410712"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3707891"/>
            <a:ext cx="1371600" cy="379475"/>
          </a:xfrm>
          <a:prstGeom prst="rect">
            <a:avLst/>
          </a:prstGeom>
          <a:noFill/>
        </p:spPr>
        <p:txBody>
          <a:bodyPr wrap="square" lIns="0" tIns="0" rIns="0" bIns="0" anchor="ctr">
            <a:spAutoFit/>
          </a:bodyPr>
          <a:lstStyle/>
          <a:p>
            <a:pPr algn="l"/>
            <a:r>
              <a:rPr sz="1100" b="1" i="0">
                <a:solidFill>
                  <a:srgbClr val="212121"/>
                </a:solidFill>
                <a:latin typeface="Arial"/>
              </a:rPr>
              <a:t>Monitoring</a:t>
            </a:r>
          </a:p>
        </p:txBody>
      </p:sp>
      <p:sp>
        <p:nvSpPr>
          <p:cNvPr id="26" name="Rounded Rectangle 25"/>
          <p:cNvSpPr/>
          <p:nvPr/>
        </p:nvSpPr>
        <p:spPr>
          <a:xfrm>
            <a:off x="1828800" y="3707891"/>
            <a:ext cx="2231136"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GCP DLP</a:t>
            </a:r>
          </a:p>
        </p:txBody>
      </p:sp>
      <p:sp>
        <p:nvSpPr>
          <p:cNvPr id="27" name="Rectangle 26"/>
          <p:cNvSpPr/>
          <p:nvPr/>
        </p:nvSpPr>
        <p:spPr>
          <a:xfrm>
            <a:off x="1828800" y="3707891"/>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187952" y="3707891"/>
            <a:ext cx="2231136"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Grafana</a:t>
            </a:r>
          </a:p>
        </p:txBody>
      </p:sp>
      <p:sp>
        <p:nvSpPr>
          <p:cNvPr id="29" name="Rectangle 28"/>
          <p:cNvSpPr/>
          <p:nvPr/>
        </p:nvSpPr>
        <p:spPr>
          <a:xfrm>
            <a:off x="4187952" y="3707891"/>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547104" y="3707891"/>
            <a:ext cx="2231136" cy="37947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Splunk</a:t>
            </a:r>
          </a:p>
        </p:txBody>
      </p:sp>
      <p:sp>
        <p:nvSpPr>
          <p:cNvPr id="31" name="Rectangle 30"/>
          <p:cNvSpPr/>
          <p:nvPr/>
        </p:nvSpPr>
        <p:spPr>
          <a:xfrm>
            <a:off x="6547104" y="3707891"/>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Atlas : catalogue + lineage</a:t>
            </a:r>
          </a:p>
        </p:txBody>
      </p:sp>
      <p:sp>
        <p:nvSpPr>
          <p:cNvPr id="33" name="TextBox 32"/>
          <p:cNvSpPr txBox="1"/>
          <p:nvPr/>
        </p:nvSpPr>
        <p:spPr>
          <a:xfrm>
            <a:off x="2496312"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Great Expectations : DQS automatisé</a:t>
            </a:r>
          </a:p>
        </p:txBody>
      </p:sp>
      <p:sp>
        <p:nvSpPr>
          <p:cNvPr id="34" name="TextBox 33"/>
          <p:cNvSpPr txBox="1"/>
          <p:nvPr/>
        </p:nvSpPr>
        <p:spPr>
          <a:xfrm>
            <a:off x="4626864"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Vault : rotation des secrets</a:t>
            </a:r>
          </a:p>
        </p:txBody>
      </p:sp>
      <p:sp>
        <p:nvSpPr>
          <p:cNvPr id="35" name="TextBox 34"/>
          <p:cNvSpPr txBox="1"/>
          <p:nvPr/>
        </p:nvSpPr>
        <p:spPr>
          <a:xfrm>
            <a:off x="6757416"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DLP : détection PII automatique</a:t>
            </a:r>
          </a:p>
        </p:txBody>
      </p:sp>
      <p:sp>
        <p:nvSpPr>
          <p:cNvPr id="36" name="TextBox 35"/>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Priorité à l'open-source, intégré à l'existant GCP</a:t>
            </a:r>
          </a:p>
        </p:txBody>
      </p:sp>
      <p:sp>
        <p:nvSpPr>
          <p:cNvPr id="38" name="Google Shape;76;p15">
            <a:extLst>
              <a:ext uri="{FF2B5EF4-FFF2-40B4-BE49-F238E27FC236}">
                <a16:creationId xmlns:a16="http://schemas.microsoft.com/office/drawing/2014/main" id="{9D6C70C5-11A9-1AF6-ED35-93584EB30C44}"/>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Espace réservé du numéro de diapositive 36">
            <a:extLst>
              <a:ext uri="{FF2B5EF4-FFF2-40B4-BE49-F238E27FC236}">
                <a16:creationId xmlns:a16="http://schemas.microsoft.com/office/drawing/2014/main" id="{ED3E0B15-F469-B5BD-1E48-05090D06C5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11</a:t>
            </a:fld>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Roadmap : 18 mois, 4 phases</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2377257"/>
            <a:ext cx="841248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033272"/>
            <a:ext cx="1931669" cy="12251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Phase 0 — Fondations</a:t>
            </a:r>
          </a:p>
        </p:txBody>
      </p:sp>
      <p:sp>
        <p:nvSpPr>
          <p:cNvPr id="6" name="Rectangle 5"/>
          <p:cNvSpPr/>
          <p:nvPr/>
        </p:nvSpPr>
        <p:spPr>
          <a:xfrm>
            <a:off x="365760" y="1033272"/>
            <a:ext cx="193166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2532705"/>
            <a:ext cx="1931669" cy="365760"/>
          </a:xfrm>
          <a:prstGeom prst="rect">
            <a:avLst/>
          </a:prstGeom>
          <a:noFill/>
        </p:spPr>
        <p:txBody>
          <a:bodyPr wrap="square" lIns="0" tIns="0" rIns="0" bIns="0" anchor="t">
            <a:spAutoFit/>
          </a:bodyPr>
          <a:lstStyle/>
          <a:p>
            <a:pPr algn="ctr"/>
            <a:r>
              <a:rPr sz="1000" b="0" i="0">
                <a:solidFill>
                  <a:srgbClr val="595959"/>
                </a:solidFill>
                <a:latin typeface="Arial"/>
              </a:rPr>
              <a:t>M0-M3</a:t>
            </a:r>
          </a:p>
        </p:txBody>
      </p:sp>
      <p:sp>
        <p:nvSpPr>
          <p:cNvPr id="8" name="Oval 7"/>
          <p:cNvSpPr/>
          <p:nvPr/>
        </p:nvSpPr>
        <p:spPr>
          <a:xfrm>
            <a:off x="1276730" y="2340681"/>
            <a:ext cx="109728" cy="10972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526029" y="1033272"/>
            <a:ext cx="1931669" cy="12251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Phase 1 — Pilote Finance</a:t>
            </a:r>
          </a:p>
        </p:txBody>
      </p:sp>
      <p:sp>
        <p:nvSpPr>
          <p:cNvPr id="10" name="Rectangle 9"/>
          <p:cNvSpPr/>
          <p:nvPr/>
        </p:nvSpPr>
        <p:spPr>
          <a:xfrm>
            <a:off x="2526029" y="1033272"/>
            <a:ext cx="193166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26029" y="2532705"/>
            <a:ext cx="1931669" cy="365760"/>
          </a:xfrm>
          <a:prstGeom prst="rect">
            <a:avLst/>
          </a:prstGeom>
          <a:noFill/>
        </p:spPr>
        <p:txBody>
          <a:bodyPr wrap="square" lIns="0" tIns="0" rIns="0" bIns="0" anchor="t">
            <a:spAutoFit/>
          </a:bodyPr>
          <a:lstStyle/>
          <a:p>
            <a:pPr algn="ctr"/>
            <a:r>
              <a:rPr sz="1000" b="0" i="0">
                <a:solidFill>
                  <a:srgbClr val="595959"/>
                </a:solidFill>
                <a:latin typeface="Arial"/>
              </a:rPr>
              <a:t>M3-M6</a:t>
            </a:r>
          </a:p>
        </p:txBody>
      </p:sp>
      <p:sp>
        <p:nvSpPr>
          <p:cNvPr id="12" name="Oval 11"/>
          <p:cNvSpPr/>
          <p:nvPr/>
        </p:nvSpPr>
        <p:spPr>
          <a:xfrm>
            <a:off x="3437000" y="2340681"/>
            <a:ext cx="109728" cy="10972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86300" y="1033272"/>
            <a:ext cx="1931669" cy="12251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Phase 2 — Extension (5 domaines)</a:t>
            </a:r>
          </a:p>
        </p:txBody>
      </p:sp>
      <p:sp>
        <p:nvSpPr>
          <p:cNvPr id="14" name="Rectangle 13"/>
          <p:cNvSpPr/>
          <p:nvPr/>
        </p:nvSpPr>
        <p:spPr>
          <a:xfrm>
            <a:off x="4686300" y="1033272"/>
            <a:ext cx="193166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86300" y="2532705"/>
            <a:ext cx="1931669" cy="365760"/>
          </a:xfrm>
          <a:prstGeom prst="rect">
            <a:avLst/>
          </a:prstGeom>
          <a:noFill/>
        </p:spPr>
        <p:txBody>
          <a:bodyPr wrap="square" lIns="0" tIns="0" rIns="0" bIns="0" anchor="t">
            <a:spAutoFit/>
          </a:bodyPr>
          <a:lstStyle/>
          <a:p>
            <a:pPr algn="ctr"/>
            <a:r>
              <a:rPr sz="1000" b="0" i="0">
                <a:solidFill>
                  <a:srgbClr val="595959"/>
                </a:solidFill>
                <a:latin typeface="Arial"/>
              </a:rPr>
              <a:t>M6-M12</a:t>
            </a:r>
          </a:p>
        </p:txBody>
      </p:sp>
      <p:sp>
        <p:nvSpPr>
          <p:cNvPr id="16" name="Oval 15"/>
          <p:cNvSpPr/>
          <p:nvPr/>
        </p:nvSpPr>
        <p:spPr>
          <a:xfrm>
            <a:off x="5597271" y="2340681"/>
            <a:ext cx="109728" cy="10972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846570" y="1033272"/>
            <a:ext cx="1931669" cy="12251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Phase 3 — Industrialisation</a:t>
            </a:r>
          </a:p>
        </p:txBody>
      </p:sp>
      <p:sp>
        <p:nvSpPr>
          <p:cNvPr id="18" name="Rectangle 17"/>
          <p:cNvSpPr/>
          <p:nvPr/>
        </p:nvSpPr>
        <p:spPr>
          <a:xfrm>
            <a:off x="6846570" y="1033272"/>
            <a:ext cx="193166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46570" y="2532705"/>
            <a:ext cx="1931669" cy="365760"/>
          </a:xfrm>
          <a:prstGeom prst="rect">
            <a:avLst/>
          </a:prstGeom>
          <a:noFill/>
        </p:spPr>
        <p:txBody>
          <a:bodyPr wrap="square" lIns="0" tIns="0" rIns="0" bIns="0" anchor="t">
            <a:spAutoFit/>
          </a:bodyPr>
          <a:lstStyle/>
          <a:p>
            <a:pPr algn="ctr"/>
            <a:r>
              <a:rPr sz="1000" b="0" i="0">
                <a:solidFill>
                  <a:srgbClr val="595959"/>
                </a:solidFill>
                <a:latin typeface="Arial"/>
              </a:rPr>
              <a:t>M12-M18</a:t>
            </a:r>
          </a:p>
        </p:txBody>
      </p:sp>
      <p:sp>
        <p:nvSpPr>
          <p:cNvPr id="20" name="Oval 19"/>
          <p:cNvSpPr/>
          <p:nvPr/>
        </p:nvSpPr>
        <p:spPr>
          <a:xfrm>
            <a:off x="7757540" y="2340681"/>
            <a:ext cx="109728" cy="10972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M6 : DQS Finance &gt; 88%</a:t>
            </a:r>
          </a:p>
        </p:txBody>
      </p:sp>
      <p:sp>
        <p:nvSpPr>
          <p:cNvPr id="22" name="TextBox 21"/>
          <p:cNvSpPr txBox="1"/>
          <p:nvPr/>
        </p:nvSpPr>
        <p:spPr>
          <a:xfrm>
            <a:off x="2496312"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M12 : 60% du catalogue couvert</a:t>
            </a:r>
          </a:p>
        </p:txBody>
      </p:sp>
      <p:sp>
        <p:nvSpPr>
          <p:cNvPr id="23" name="TextBox 22"/>
          <p:cNvSpPr txBox="1"/>
          <p:nvPr/>
        </p:nvSpPr>
        <p:spPr>
          <a:xfrm>
            <a:off x="4626864"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M18 : niveau 4 CMMI confirmé</a:t>
            </a:r>
          </a:p>
        </p:txBody>
      </p:sp>
      <p:sp>
        <p:nvSpPr>
          <p:cNvPr id="24" name="TextBox 23"/>
          <p:cNvSpPr txBox="1"/>
          <p:nvPr/>
        </p:nvSpPr>
        <p:spPr>
          <a:xfrm>
            <a:off x="6757416"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Certification PCI-DSS renouvelée</a:t>
            </a:r>
          </a:p>
        </p:txBody>
      </p:sp>
      <p:sp>
        <p:nvSpPr>
          <p:cNvPr id="25" name="TextBox 24"/>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Finance en premier : ROI démontrable, sponsor motivé</a:t>
            </a:r>
          </a:p>
        </p:txBody>
      </p:sp>
      <p:sp>
        <p:nvSpPr>
          <p:cNvPr id="27" name="Google Shape;76;p15">
            <a:extLst>
              <a:ext uri="{FF2B5EF4-FFF2-40B4-BE49-F238E27FC236}">
                <a16:creationId xmlns:a16="http://schemas.microsoft.com/office/drawing/2014/main" id="{2EA8792C-9D91-767D-0147-48B9581B9AC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Espace réservé du numéro de diapositive 25">
            <a:extLst>
              <a:ext uri="{FF2B5EF4-FFF2-40B4-BE49-F238E27FC236}">
                <a16:creationId xmlns:a16="http://schemas.microsoft.com/office/drawing/2014/main" id="{A089C5A1-C25E-CF35-5FF8-EC2BCD684A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12</a:t>
            </a:fld>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Risques et mitigations</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170432"/>
          <a:ext cx="8412480" cy="2916935"/>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486155">
                <a:tc>
                  <a:txBody>
                    <a:bodyPr/>
                    <a:lstStyle/>
                    <a:p>
                      <a:pPr algn="ctr"/>
                      <a:r>
                        <a:rPr sz="1100" b="1">
                          <a:solidFill>
                            <a:srgbClr val="FFFFFF"/>
                          </a:solidFill>
                          <a:latin typeface="Arial"/>
                        </a:rPr>
                        <a:t>Risque</a:t>
                      </a:r>
                    </a:p>
                  </a:txBody>
                  <a:tcPr>
                    <a:solidFill>
                      <a:srgbClr val="FFAB40"/>
                    </a:solidFill>
                  </a:tcPr>
                </a:tc>
                <a:tc>
                  <a:txBody>
                    <a:bodyPr/>
                    <a:lstStyle/>
                    <a:p>
                      <a:pPr algn="ctr"/>
                      <a:r>
                        <a:rPr sz="1100" b="1">
                          <a:solidFill>
                            <a:srgbClr val="FFFFFF"/>
                          </a:solidFill>
                          <a:latin typeface="Arial"/>
                        </a:rPr>
                        <a:t>Mitigation clé</a:t>
                      </a:r>
                    </a:p>
                  </a:txBody>
                  <a:tcPr>
                    <a:solidFill>
                      <a:srgbClr val="FFAB40"/>
                    </a:solidFill>
                  </a:tcPr>
                </a:tc>
                <a:extLst>
                  <a:ext uri="{0D108BD9-81ED-4DB2-BD59-A6C34878D82A}">
                    <a16:rowId xmlns:a16="http://schemas.microsoft.com/office/drawing/2014/main" val="10000"/>
                  </a:ext>
                </a:extLst>
              </a:tr>
              <a:tr h="486155">
                <a:tc>
                  <a:txBody>
                    <a:bodyPr/>
                    <a:lstStyle/>
                    <a:p>
                      <a:pPr algn="l"/>
                      <a:r>
                        <a:rPr sz="1050">
                          <a:solidFill>
                            <a:srgbClr val="212121"/>
                          </a:solidFill>
                          <a:latin typeface="Arial"/>
                        </a:rPr>
                        <a:t>Violation de données RGPD</a:t>
                      </a:r>
                    </a:p>
                  </a:txBody>
                  <a:tcPr>
                    <a:solidFill>
                      <a:srgbClr val="FFFFFF"/>
                    </a:solidFill>
                  </a:tcPr>
                </a:tc>
                <a:tc>
                  <a:txBody>
                    <a:bodyPr/>
                    <a:lstStyle/>
                    <a:p>
                      <a:pPr algn="ctr"/>
                      <a:r>
                        <a:rPr sz="1050">
                          <a:solidFill>
                            <a:srgbClr val="212121"/>
                          </a:solidFill>
                          <a:latin typeface="Arial"/>
                        </a:rPr>
                        <a:t>DLP + chiffrement AES-256, plan de réponse 72h testé</a:t>
                      </a:r>
                    </a:p>
                  </a:txBody>
                  <a:tcPr>
                    <a:solidFill>
                      <a:srgbClr val="FFFFFF"/>
                    </a:solidFill>
                  </a:tcPr>
                </a:tc>
                <a:extLst>
                  <a:ext uri="{0D108BD9-81ED-4DB2-BD59-A6C34878D82A}">
                    <a16:rowId xmlns:a16="http://schemas.microsoft.com/office/drawing/2014/main" val="10001"/>
                  </a:ext>
                </a:extLst>
              </a:tr>
              <a:tr h="486155">
                <a:tc>
                  <a:txBody>
                    <a:bodyPr/>
                    <a:lstStyle/>
                    <a:p>
                      <a:pPr algn="l"/>
                      <a:r>
                        <a:rPr sz="1050">
                          <a:solidFill>
                            <a:srgbClr val="212121"/>
                          </a:solidFill>
                          <a:latin typeface="Arial"/>
                        </a:rPr>
                        <a:t>Erreurs de royalties</a:t>
                      </a:r>
                    </a:p>
                  </a:txBody>
                  <a:tcPr>
                    <a:solidFill>
                      <a:srgbClr val="EEEEEE"/>
                    </a:solidFill>
                  </a:tcPr>
                </a:tc>
                <a:tc>
                  <a:txBody>
                    <a:bodyPr/>
                    <a:lstStyle/>
                    <a:p>
                      <a:pPr algn="ctr"/>
                      <a:r>
                        <a:rPr sz="1050">
                          <a:solidFill>
                            <a:srgbClr val="212121"/>
                          </a:solidFill>
                          <a:latin typeface="Arial"/>
                        </a:rPr>
                        <a:t>Great Expectations P0 + réconciliation automatique</a:t>
                      </a:r>
                    </a:p>
                  </a:txBody>
                  <a:tcPr>
                    <a:solidFill>
                      <a:srgbClr val="EEEEEE"/>
                    </a:solidFill>
                  </a:tcPr>
                </a:tc>
                <a:extLst>
                  <a:ext uri="{0D108BD9-81ED-4DB2-BD59-A6C34878D82A}">
                    <a16:rowId xmlns:a16="http://schemas.microsoft.com/office/drawing/2014/main" val="10002"/>
                  </a:ext>
                </a:extLst>
              </a:tr>
              <a:tr h="486155">
                <a:tc>
                  <a:txBody>
                    <a:bodyPr/>
                    <a:lstStyle/>
                    <a:p>
                      <a:pPr algn="l"/>
                      <a:r>
                        <a:rPr sz="1050">
                          <a:solidFill>
                            <a:srgbClr val="212121"/>
                          </a:solidFill>
                          <a:latin typeface="Arial"/>
                        </a:rPr>
                        <a:t>Résistance culturelle</a:t>
                      </a:r>
                    </a:p>
                  </a:txBody>
                  <a:tcPr>
                    <a:solidFill>
                      <a:srgbClr val="FFFFFF"/>
                    </a:solidFill>
                  </a:tcPr>
                </a:tc>
                <a:tc>
                  <a:txBody>
                    <a:bodyPr/>
                    <a:lstStyle/>
                    <a:p>
                      <a:pPr algn="ctr"/>
                      <a:r>
                        <a:rPr sz="1050">
                          <a:solidFill>
                            <a:srgbClr val="212121"/>
                          </a:solidFill>
                          <a:latin typeface="Arial"/>
                        </a:rPr>
                        <a:t>Modèle hybride + champions + OKRs qualité</a:t>
                      </a:r>
                    </a:p>
                  </a:txBody>
                  <a:tcPr>
                    <a:solidFill>
                      <a:srgbClr val="FFFFFF"/>
                    </a:solidFill>
                  </a:tcPr>
                </a:tc>
                <a:extLst>
                  <a:ext uri="{0D108BD9-81ED-4DB2-BD59-A6C34878D82A}">
                    <a16:rowId xmlns:a16="http://schemas.microsoft.com/office/drawing/2014/main" val="10003"/>
                  </a:ext>
                </a:extLst>
              </a:tr>
              <a:tr h="486155">
                <a:tc>
                  <a:txBody>
                    <a:bodyPr/>
                    <a:lstStyle/>
                    <a:p>
                      <a:pPr algn="l"/>
                      <a:r>
                        <a:rPr sz="1050">
                          <a:solidFill>
                            <a:srgbClr val="212121"/>
                          </a:solidFill>
                          <a:latin typeface="Arial"/>
                        </a:rPr>
                        <a:t>Dérive des données ML</a:t>
                      </a:r>
                    </a:p>
                  </a:txBody>
                  <a:tcPr>
                    <a:solidFill>
                      <a:srgbClr val="EEEEEE"/>
                    </a:solidFill>
                  </a:tcPr>
                </a:tc>
                <a:tc>
                  <a:txBody>
                    <a:bodyPr/>
                    <a:lstStyle/>
                    <a:p>
                      <a:pPr algn="ctr"/>
                      <a:r>
                        <a:rPr sz="1050">
                          <a:solidFill>
                            <a:srgbClr val="212121"/>
                          </a:solidFill>
                          <a:latin typeface="Arial"/>
                        </a:rPr>
                        <a:t>Feature drift monitoring + versioning des datasets</a:t>
                      </a:r>
                    </a:p>
                  </a:txBody>
                  <a:tcPr>
                    <a:solidFill>
                      <a:srgbClr val="EEEEEE"/>
                    </a:solidFill>
                  </a:tcPr>
                </a:tc>
                <a:extLst>
                  <a:ext uri="{0D108BD9-81ED-4DB2-BD59-A6C34878D82A}">
                    <a16:rowId xmlns:a16="http://schemas.microsoft.com/office/drawing/2014/main" val="10004"/>
                  </a:ext>
                </a:extLst>
              </a:tr>
              <a:tr h="486160">
                <a:tc>
                  <a:txBody>
                    <a:bodyPr/>
                    <a:lstStyle/>
                    <a:p>
                      <a:pPr algn="l"/>
                      <a:r>
                        <a:rPr sz="1050">
                          <a:solidFill>
                            <a:srgbClr val="212121"/>
                          </a:solidFill>
                          <a:latin typeface="Arial"/>
                        </a:rPr>
                        <a:t>Non-conformité AI Act</a:t>
                      </a:r>
                    </a:p>
                  </a:txBody>
                  <a:tcPr>
                    <a:solidFill>
                      <a:srgbClr val="FFFFFF"/>
                    </a:solidFill>
                  </a:tcPr>
                </a:tc>
                <a:tc>
                  <a:txBody>
                    <a:bodyPr/>
                    <a:lstStyle/>
                    <a:p>
                      <a:pPr algn="ctr"/>
                      <a:r>
                        <a:rPr sz="1050">
                          <a:solidFill>
                            <a:srgbClr val="212121"/>
                          </a:solidFill>
                          <a:latin typeface="Arial"/>
                        </a:rPr>
                        <a:t>Analyse de classification + AI Compliance Officer</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Aucun risque en zone critique</a:t>
            </a:r>
          </a:p>
        </p:txBody>
      </p:sp>
      <p:sp>
        <p:nvSpPr>
          <p:cNvPr id="6" name="TextBox 5"/>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Tokenisation = risque réduit par conception</a:t>
            </a:r>
          </a:p>
        </p:txBody>
      </p:sp>
      <p:sp>
        <p:nvSpPr>
          <p:cNvPr id="7" name="TextBox 6"/>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AI Act : risque émergent à anticiper</a:t>
            </a:r>
          </a:p>
        </p:txBody>
      </p:sp>
      <p:sp>
        <p:nvSpPr>
          <p:cNvPr id="8" name="TextBox 7"/>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Aucun risque en zone critique : Privacy by Design</a:t>
            </a:r>
          </a:p>
        </p:txBody>
      </p:sp>
      <p:sp>
        <p:nvSpPr>
          <p:cNvPr id="10" name="Google Shape;76;p15">
            <a:extLst>
              <a:ext uri="{FF2B5EF4-FFF2-40B4-BE49-F238E27FC236}">
                <a16:creationId xmlns:a16="http://schemas.microsoft.com/office/drawing/2014/main" id="{73D7EFDA-B8FB-6D9A-5D12-59934D932E5F}"/>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Espace réservé du numéro de diapositive 8">
            <a:extLst>
              <a:ext uri="{FF2B5EF4-FFF2-40B4-BE49-F238E27FC236}">
                <a16:creationId xmlns:a16="http://schemas.microsoft.com/office/drawing/2014/main" id="{678D1F89-3524-D47D-42AF-5816B7AEF5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13</a:t>
            </a:fld>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ROI : un investissement qui s'impose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~6M€</a:t>
            </a:r>
          </a:p>
          <a:p>
            <a:pPr algn="ctr"/>
            <a:r>
              <a:rPr sz="1100" b="0" i="0">
                <a:solidFill>
                  <a:srgbClr val="595959"/>
                </a:solidFill>
                <a:latin typeface="Arial"/>
              </a:rPr>
              <a:t>investissement sur 18 mois</a:t>
            </a:r>
          </a:p>
        </p:txBody>
      </p:sp>
      <p:sp>
        <p:nvSpPr>
          <p:cNvPr id="5" name="Rounded Rectangle 4"/>
          <p:cNvSpPr/>
          <p:nvPr/>
        </p:nvSpPr>
        <p:spPr>
          <a:xfrm>
            <a:off x="2526029"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576M€</a:t>
            </a:r>
          </a:p>
          <a:p>
            <a:pPr algn="ctr"/>
            <a:r>
              <a:rPr sz="1100" b="0" i="0">
                <a:solidFill>
                  <a:srgbClr val="595959"/>
                </a:solidFill>
                <a:latin typeface="Arial"/>
              </a:rPr>
              <a:t>amende RGPD évitée</a:t>
            </a:r>
          </a:p>
        </p:txBody>
      </p:sp>
      <p:sp>
        <p:nvSpPr>
          <p:cNvPr id="6" name="Rounded Rectangle 5"/>
          <p:cNvSpPr/>
          <p:nvPr/>
        </p:nvSpPr>
        <p:spPr>
          <a:xfrm>
            <a:off x="468630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45M€</a:t>
            </a:r>
          </a:p>
          <a:p>
            <a:pPr algn="ctr"/>
            <a:r>
              <a:rPr sz="1100" b="0" i="0">
                <a:solidFill>
                  <a:srgbClr val="595959"/>
                </a:solidFill>
                <a:latin typeface="Arial"/>
              </a:rPr>
              <a:t>litiges royalties évités</a:t>
            </a:r>
          </a:p>
        </p:txBody>
      </p:sp>
      <p:sp>
        <p:nvSpPr>
          <p:cNvPr id="7" name="Rounded Rectangle 6"/>
          <p:cNvSpPr/>
          <p:nvPr/>
        </p:nvSpPr>
        <p:spPr>
          <a:xfrm>
            <a:off x="684657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&gt;1000%</a:t>
            </a:r>
          </a:p>
          <a:p>
            <a:pPr algn="ctr"/>
            <a:r>
              <a:rPr sz="1100" b="0" i="0">
                <a:solidFill>
                  <a:srgbClr val="595959"/>
                </a:solidFill>
                <a:latin typeface="Arial"/>
              </a:rPr>
              <a:t>ROI à 3 ans</a:t>
            </a:r>
          </a:p>
        </p:txBody>
      </p:sp>
      <p:sp>
        <p:nvSpPr>
          <p:cNvPr id="8" name="TextBox 7"/>
          <p:cNvSpPr txBox="1"/>
          <p:nvPr/>
        </p:nvSpPr>
        <p:spPr>
          <a:xfrm>
            <a:off x="365760"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CoE hybride adapté à la culture</a:t>
            </a:r>
          </a:p>
        </p:txBody>
      </p:sp>
      <p:sp>
        <p:nvSpPr>
          <p:cNvPr id="9" name="TextBox 8"/>
          <p:cNvSpPr txBox="1"/>
          <p:nvPr/>
        </p:nvSpPr>
        <p:spPr>
          <a:xfrm>
            <a:off x="2496312"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Conformité RGPD/CCPA/PCI-DSS unifiée</a:t>
            </a:r>
          </a:p>
        </p:txBody>
      </p:sp>
      <p:sp>
        <p:nvSpPr>
          <p:cNvPr id="10" name="TextBox 9"/>
          <p:cNvSpPr txBox="1"/>
          <p:nvPr/>
        </p:nvSpPr>
        <p:spPr>
          <a:xfrm>
            <a:off x="4626864"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Roadmap mesurable sur 18 mois</a:t>
            </a:r>
          </a:p>
        </p:txBody>
      </p:sp>
      <p:sp>
        <p:nvSpPr>
          <p:cNvPr id="11" name="TextBox 10"/>
          <p:cNvSpPr txBox="1"/>
          <p:nvPr/>
        </p:nvSpPr>
        <p:spPr>
          <a:xfrm>
            <a:off x="6757416" y="4197096"/>
            <a:ext cx="2020824" cy="292608"/>
          </a:xfrm>
          <a:prstGeom prst="rect">
            <a:avLst/>
          </a:prstGeom>
          <a:noFill/>
        </p:spPr>
        <p:txBody>
          <a:bodyPr wrap="square" lIns="0" tIns="0" rIns="0" bIns="0" anchor="ctr">
            <a:spAutoFit/>
          </a:bodyPr>
          <a:lstStyle/>
          <a:p>
            <a:pPr algn="l"/>
            <a:r>
              <a:rPr sz="1100" b="0" i="0">
                <a:solidFill>
                  <a:srgbClr val="595959"/>
                </a:solidFill>
                <a:latin typeface="Arial"/>
              </a:rPr>
              <a:t>• Prérequis à l'architecture Data Mesh</a:t>
            </a:r>
          </a:p>
        </p:txBody>
      </p:sp>
      <p:sp>
        <p:nvSpPr>
          <p:cNvPr id="12" name="TextBox 11"/>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Niveau 3 'Défini' → niveau 4 'Mesuré'</a:t>
            </a:r>
          </a:p>
        </p:txBody>
      </p:sp>
      <p:sp>
        <p:nvSpPr>
          <p:cNvPr id="14" name="Google Shape;76;p15">
            <a:extLst>
              <a:ext uri="{FF2B5EF4-FFF2-40B4-BE49-F238E27FC236}">
                <a16:creationId xmlns:a16="http://schemas.microsoft.com/office/drawing/2014/main" id="{C48FF0EB-7E99-53D2-52DF-E4826AE2AC2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Espace réservé du numéro de diapositive 12">
            <a:extLst>
              <a:ext uri="{FF2B5EF4-FFF2-40B4-BE49-F238E27FC236}">
                <a16:creationId xmlns:a16="http://schemas.microsoft.com/office/drawing/2014/main" id="{DD256882-CE65-D4AE-82F4-0702473C8C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14</a:t>
            </a:fld>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9714" y="2041595"/>
            <a:ext cx="2394857" cy="774175"/>
          </a:xfrm>
        </p:spPr>
        <p:txBody>
          <a:bodyPr/>
          <a:lstStyle/>
          <a:p>
            <a:r>
              <a:rPr lang="fr-FR" b="1" dirty="0">
                <a:solidFill>
                  <a:srgbClr val="212121"/>
                </a:solidFill>
                <a:latin typeface="Arial"/>
              </a:rPr>
              <a:t>Conclusion</a:t>
            </a:r>
            <a:endParaRPr b="1" dirty="0">
              <a:solidFill>
                <a:srgbClr val="212121"/>
              </a:solidFill>
              <a:latin typeface="Arial"/>
            </a:endParaRPr>
          </a:p>
        </p:txBody>
      </p:sp>
      <p:sp>
        <p:nvSpPr>
          <p:cNvPr id="3" name="Rectangle 2"/>
          <p:cNvSpPr/>
          <p:nvPr/>
        </p:nvSpPr>
        <p:spPr>
          <a:xfrm flipH="1">
            <a:off x="887983" y="2068830"/>
            <a:ext cx="323959"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EF2C621E-EF33-BDF8-ED08-F47755EEBFCF}"/>
              </a:ext>
            </a:extLst>
          </p:cNvPr>
          <p:cNvSpPr/>
          <p:nvPr/>
        </p:nvSpPr>
        <p:spPr>
          <a:xfrm flipH="1">
            <a:off x="7071069" y="2068830"/>
            <a:ext cx="323959"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oogle Shape;76;p15">
            <a:extLst>
              <a:ext uri="{FF2B5EF4-FFF2-40B4-BE49-F238E27FC236}">
                <a16:creationId xmlns:a16="http://schemas.microsoft.com/office/drawing/2014/main" id="{37BFB161-1617-AB00-4D6D-1B00218D9234}"/>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F7DB02DC-8AFC-BF0D-9E4D-134BA931D6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1730" y="1648502"/>
            <a:ext cx="5751853" cy="923248"/>
          </a:xfrm>
        </p:spPr>
        <p:txBody>
          <a:bodyPr/>
          <a:lstStyle/>
          <a:p>
            <a:pPr algn="ctr"/>
            <a:r>
              <a:rPr sz="4000" b="1" dirty="0">
                <a:solidFill>
                  <a:srgbClr val="212121"/>
                </a:solidFill>
                <a:latin typeface="Arial"/>
              </a:rPr>
              <a:t>Questions — Bloc 1 ?</a:t>
            </a:r>
          </a:p>
        </p:txBody>
      </p:sp>
      <p:sp>
        <p:nvSpPr>
          <p:cNvPr id="3" name="Rectangle 2"/>
          <p:cNvSpPr/>
          <p:nvPr/>
        </p:nvSpPr>
        <p:spPr>
          <a:xfrm>
            <a:off x="4114800" y="1417320"/>
            <a:ext cx="9144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Google Shape;76;p15">
            <a:extLst>
              <a:ext uri="{FF2B5EF4-FFF2-40B4-BE49-F238E27FC236}">
                <a16:creationId xmlns:a16="http://schemas.microsoft.com/office/drawing/2014/main" id="{8F52CAC7-8B11-069C-4F24-6A5F2794E8BB}"/>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06BE7785-F538-BBA4-37D9-57AFA1A99A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11708" y="744575"/>
            <a:ext cx="8520600" cy="1084225"/>
          </a:xfrm>
        </p:spPr>
        <p:txBody>
          <a:bodyPr/>
          <a:lstStyle/>
          <a:p>
            <a:pPr algn="ctr"/>
            <a:r>
              <a:rPr sz="3200" b="1" i="0" dirty="0">
                <a:solidFill>
                  <a:srgbClr val="212121"/>
                </a:solidFill>
                <a:latin typeface="Arial"/>
              </a:rPr>
              <a:t>Architecture de données — Affaire Stripe</a:t>
            </a:r>
          </a:p>
        </p:txBody>
      </p:sp>
      <p:sp>
        <p:nvSpPr>
          <p:cNvPr id="3" name="Subtitle 2"/>
          <p:cNvSpPr>
            <a:spLocks noGrp="1"/>
          </p:cNvSpPr>
          <p:nvPr>
            <p:ph type="subTitle" idx="1"/>
          </p:nvPr>
        </p:nvSpPr>
        <p:spPr>
          <a:xfrm>
            <a:off x="285566" y="1828800"/>
            <a:ext cx="8520600" cy="792600"/>
          </a:xfrm>
        </p:spPr>
        <p:txBody>
          <a:bodyPr/>
          <a:lstStyle/>
          <a:p>
            <a:pPr algn="ctr"/>
            <a:r>
              <a:rPr sz="1500" b="0" i="0" dirty="0">
                <a:solidFill>
                  <a:srgbClr val="595959"/>
                </a:solidFill>
                <a:latin typeface="Arial"/>
              </a:rPr>
              <a:t>Bloc 2 — </a:t>
            </a:r>
            <a:r>
              <a:rPr sz="1500" b="0" i="0" dirty="0" err="1">
                <a:solidFill>
                  <a:srgbClr val="595959"/>
                </a:solidFill>
                <a:latin typeface="Arial"/>
              </a:rPr>
              <a:t>Concevoir</a:t>
            </a:r>
            <a:r>
              <a:rPr sz="1500" b="0" i="0" dirty="0">
                <a:solidFill>
                  <a:srgbClr val="595959"/>
                </a:solidFill>
                <a:latin typeface="Arial"/>
              </a:rPr>
              <a:t> et </a:t>
            </a:r>
            <a:r>
              <a:rPr sz="1500" b="0" i="0" dirty="0" err="1">
                <a:solidFill>
                  <a:srgbClr val="595959"/>
                </a:solidFill>
                <a:latin typeface="Arial"/>
              </a:rPr>
              <a:t>déployer</a:t>
            </a:r>
            <a:r>
              <a:rPr sz="1500" b="0" i="0" dirty="0">
                <a:solidFill>
                  <a:srgbClr val="595959"/>
                </a:solidFill>
                <a:latin typeface="Arial"/>
              </a:rPr>
              <a:t> des architectures de données (pour </a:t>
            </a:r>
            <a:r>
              <a:rPr sz="1500" b="0" i="0" dirty="0" err="1">
                <a:solidFill>
                  <a:srgbClr val="595959"/>
                </a:solidFill>
                <a:latin typeface="Arial"/>
              </a:rPr>
              <a:t>l'IA</a:t>
            </a:r>
            <a:r>
              <a:rPr sz="1500" b="0" i="0" dirty="0">
                <a:solidFill>
                  <a:srgbClr val="595959"/>
                </a:solidFill>
                <a:latin typeface="Arial"/>
              </a:rPr>
              <a:t>)</a:t>
            </a:r>
          </a:p>
        </p:txBody>
      </p:sp>
      <p:sp>
        <p:nvSpPr>
          <p:cNvPr id="4" name="Rectangle 3"/>
          <p:cNvSpPr/>
          <p:nvPr/>
        </p:nvSpPr>
        <p:spPr>
          <a:xfrm>
            <a:off x="4023360" y="566928"/>
            <a:ext cx="109728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Google Shape;55;p13">
            <a:extLst>
              <a:ext uri="{FF2B5EF4-FFF2-40B4-BE49-F238E27FC236}">
                <a16:creationId xmlns:a16="http://schemas.microsoft.com/office/drawing/2014/main" id="{A0DCCA44-0903-A26A-9EBE-CEBFBD2F6004}"/>
              </a:ext>
            </a:extLst>
          </p:cNvPr>
          <p:cNvPicPr preferRelativeResize="0"/>
          <p:nvPr/>
        </p:nvPicPr>
        <p:blipFill>
          <a:blip r:embed="rId2">
            <a:alphaModFix/>
          </a:blip>
          <a:stretch>
            <a:fillRect/>
          </a:stretch>
        </p:blipFill>
        <p:spPr>
          <a:xfrm>
            <a:off x="4572000" y="2352850"/>
            <a:ext cx="3818450" cy="25477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Sommaire</a:t>
            </a:r>
          </a:p>
        </p:txBody>
      </p:sp>
      <p:sp>
        <p:nvSpPr>
          <p:cNvPr id="3" name="Text Placeholder 2"/>
          <p:cNvSpPr>
            <a:spLocks noGrp="1"/>
          </p:cNvSpPr>
          <p:nvPr>
            <p:ph type="body" idx="1"/>
          </p:nvPr>
        </p:nvSpPr>
        <p:spPr>
          <a:xfrm>
            <a:off x="311700" y="1017724"/>
            <a:ext cx="8520600" cy="3793761"/>
          </a:xfrm>
        </p:spPr>
        <p:txBody>
          <a:bodyPr wrap="square"/>
          <a:lstStyle/>
          <a:p>
            <a:pPr>
              <a:spcAft>
                <a:spcPts val="1000"/>
              </a:spcAft>
            </a:pPr>
            <a:r>
              <a:rPr sz="1200" b="0" i="0" dirty="0" err="1">
                <a:solidFill>
                  <a:srgbClr val="595959"/>
                </a:solidFill>
                <a:latin typeface="Arial"/>
              </a:rPr>
              <a:t>Contexte</a:t>
            </a:r>
            <a:r>
              <a:rPr sz="1200" b="0" i="0" dirty="0">
                <a:solidFill>
                  <a:srgbClr val="595959"/>
                </a:solidFill>
                <a:latin typeface="Arial"/>
              </a:rPr>
              <a:t> — Stripe, </a:t>
            </a:r>
            <a:r>
              <a:rPr sz="1200" b="0" i="0" dirty="0" err="1">
                <a:solidFill>
                  <a:srgbClr val="595959"/>
                </a:solidFill>
                <a:latin typeface="Arial"/>
              </a:rPr>
              <a:t>une</a:t>
            </a:r>
            <a:r>
              <a:rPr sz="1200" b="0" i="0" dirty="0">
                <a:solidFill>
                  <a:srgbClr val="595959"/>
                </a:solidFill>
                <a:latin typeface="Arial"/>
              </a:rPr>
              <a:t> infrastructure de </a:t>
            </a:r>
            <a:r>
              <a:rPr sz="1200" b="0" i="0" dirty="0" err="1">
                <a:solidFill>
                  <a:srgbClr val="595959"/>
                </a:solidFill>
                <a:latin typeface="Arial"/>
              </a:rPr>
              <a:t>paiement</a:t>
            </a:r>
            <a:r>
              <a:rPr sz="1200" b="0" i="0" dirty="0">
                <a:solidFill>
                  <a:srgbClr val="595959"/>
                </a:solidFill>
                <a:latin typeface="Arial"/>
              </a:rPr>
              <a:t> critique</a:t>
            </a:r>
          </a:p>
          <a:p>
            <a:pPr>
              <a:spcAft>
                <a:spcPts val="1000"/>
              </a:spcAft>
            </a:pPr>
            <a:r>
              <a:rPr sz="1200" b="0" i="0" dirty="0">
                <a:solidFill>
                  <a:srgbClr val="595959"/>
                </a:solidFill>
                <a:latin typeface="Arial"/>
              </a:rPr>
              <a:t>Architecture </a:t>
            </a:r>
            <a:r>
              <a:rPr sz="1200" b="0" i="0" dirty="0" err="1">
                <a:solidFill>
                  <a:srgbClr val="595959"/>
                </a:solidFill>
                <a:latin typeface="Arial"/>
              </a:rPr>
              <a:t>globale</a:t>
            </a:r>
            <a:r>
              <a:rPr sz="1200" b="0" i="0" dirty="0">
                <a:solidFill>
                  <a:srgbClr val="595959"/>
                </a:solidFill>
                <a:latin typeface="Arial"/>
              </a:rPr>
              <a:t> — 3 couches </a:t>
            </a:r>
            <a:r>
              <a:rPr sz="1200" b="0" i="0" dirty="0" err="1">
                <a:solidFill>
                  <a:srgbClr val="595959"/>
                </a:solidFill>
                <a:latin typeface="Arial"/>
              </a:rPr>
              <a:t>complémentaires</a:t>
            </a:r>
            <a:endParaRPr sz="1200" b="0" i="0" dirty="0">
              <a:solidFill>
                <a:srgbClr val="595959"/>
              </a:solidFill>
              <a:latin typeface="Arial"/>
            </a:endParaRPr>
          </a:p>
          <a:p>
            <a:pPr>
              <a:spcAft>
                <a:spcPts val="1000"/>
              </a:spcAft>
            </a:pPr>
            <a:r>
              <a:rPr sz="1200" b="0" i="0" dirty="0" err="1">
                <a:solidFill>
                  <a:srgbClr val="595959"/>
                </a:solidFill>
                <a:latin typeface="Arial"/>
              </a:rPr>
              <a:t>Modèle</a:t>
            </a:r>
            <a:r>
              <a:rPr sz="1200" b="0" i="0" dirty="0">
                <a:solidFill>
                  <a:srgbClr val="595959"/>
                </a:solidFill>
                <a:latin typeface="Arial"/>
              </a:rPr>
              <a:t> OLTP — 8 </a:t>
            </a:r>
            <a:r>
              <a:rPr sz="1200" b="0" i="0" dirty="0" err="1">
                <a:solidFill>
                  <a:srgbClr val="595959"/>
                </a:solidFill>
                <a:latin typeface="Arial"/>
              </a:rPr>
              <a:t>entités</a:t>
            </a:r>
            <a:r>
              <a:rPr sz="1200" b="0" i="0" dirty="0">
                <a:solidFill>
                  <a:srgbClr val="595959"/>
                </a:solidFill>
                <a:latin typeface="Arial"/>
              </a:rPr>
              <a:t> </a:t>
            </a:r>
            <a:r>
              <a:rPr sz="1200" b="0" i="0" dirty="0" err="1">
                <a:solidFill>
                  <a:srgbClr val="595959"/>
                </a:solidFill>
                <a:latin typeface="Arial"/>
              </a:rPr>
              <a:t>en</a:t>
            </a:r>
            <a:r>
              <a:rPr sz="1200" b="0" i="0" dirty="0">
                <a:solidFill>
                  <a:srgbClr val="595959"/>
                </a:solidFill>
                <a:latin typeface="Arial"/>
              </a:rPr>
              <a:t> 3NF (notation </a:t>
            </a:r>
            <a:r>
              <a:rPr sz="1200" b="0" i="0" dirty="0" err="1">
                <a:solidFill>
                  <a:srgbClr val="595959"/>
                </a:solidFill>
                <a:latin typeface="Arial"/>
              </a:rPr>
              <a:t>Merise</a:t>
            </a:r>
            <a:r>
              <a:rPr sz="1200" b="0" i="0" dirty="0">
                <a:solidFill>
                  <a:srgbClr val="595959"/>
                </a:solidFill>
                <a:latin typeface="Arial"/>
              </a:rPr>
              <a:t>)</a:t>
            </a:r>
          </a:p>
          <a:p>
            <a:pPr>
              <a:spcAft>
                <a:spcPts val="1000"/>
              </a:spcAft>
            </a:pPr>
            <a:r>
              <a:rPr sz="1200" b="0" i="0" dirty="0" err="1">
                <a:solidFill>
                  <a:srgbClr val="595959"/>
                </a:solidFill>
                <a:latin typeface="Arial"/>
              </a:rPr>
              <a:t>Modèle</a:t>
            </a:r>
            <a:r>
              <a:rPr sz="1200" b="0" i="0" dirty="0">
                <a:solidFill>
                  <a:srgbClr val="595959"/>
                </a:solidFill>
                <a:latin typeface="Arial"/>
              </a:rPr>
              <a:t> OLAP — </a:t>
            </a:r>
            <a:r>
              <a:rPr sz="1200" b="0" i="0" dirty="0" err="1">
                <a:solidFill>
                  <a:srgbClr val="595959"/>
                </a:solidFill>
                <a:latin typeface="Arial"/>
              </a:rPr>
              <a:t>schéma</a:t>
            </a:r>
            <a:r>
              <a:rPr sz="1200" b="0" i="0" dirty="0">
                <a:solidFill>
                  <a:srgbClr val="595959"/>
                </a:solidFill>
                <a:latin typeface="Arial"/>
              </a:rPr>
              <a:t> </a:t>
            </a:r>
            <a:r>
              <a:rPr sz="1200" b="0" i="0" dirty="0" err="1">
                <a:solidFill>
                  <a:srgbClr val="595959"/>
                </a:solidFill>
                <a:latin typeface="Arial"/>
              </a:rPr>
              <a:t>en</a:t>
            </a:r>
            <a:r>
              <a:rPr sz="1200" b="0" i="0" dirty="0">
                <a:solidFill>
                  <a:srgbClr val="595959"/>
                </a:solidFill>
                <a:latin typeface="Arial"/>
              </a:rPr>
              <a:t> étoile</a:t>
            </a:r>
          </a:p>
          <a:p>
            <a:pPr>
              <a:spcAft>
                <a:spcPts val="1000"/>
              </a:spcAft>
            </a:pPr>
            <a:r>
              <a:rPr sz="1200" b="0" i="0" dirty="0" err="1">
                <a:solidFill>
                  <a:srgbClr val="595959"/>
                </a:solidFill>
                <a:latin typeface="Arial"/>
              </a:rPr>
              <a:t>Modèle</a:t>
            </a:r>
            <a:r>
              <a:rPr sz="1200" b="0" i="0" dirty="0">
                <a:solidFill>
                  <a:srgbClr val="595959"/>
                </a:solidFill>
                <a:latin typeface="Arial"/>
              </a:rPr>
              <a:t> NoSQL — DynamoDB Single Table Design</a:t>
            </a:r>
          </a:p>
          <a:p>
            <a:pPr>
              <a:spcAft>
                <a:spcPts val="1000"/>
              </a:spcAft>
            </a:pPr>
            <a:r>
              <a:rPr sz="1200" b="0" i="0" dirty="0">
                <a:solidFill>
                  <a:srgbClr val="595959"/>
                </a:solidFill>
                <a:latin typeface="Arial"/>
              </a:rPr>
              <a:t>Pipeline batch — CDC sans impact sur </a:t>
            </a:r>
            <a:r>
              <a:rPr sz="1200" b="0" i="0" dirty="0" err="1">
                <a:solidFill>
                  <a:srgbClr val="595959"/>
                </a:solidFill>
                <a:latin typeface="Arial"/>
              </a:rPr>
              <a:t>l'OLTP</a:t>
            </a:r>
            <a:endParaRPr sz="1200" b="0" i="0" dirty="0">
              <a:solidFill>
                <a:srgbClr val="595959"/>
              </a:solidFill>
              <a:latin typeface="Arial"/>
            </a:endParaRPr>
          </a:p>
          <a:p>
            <a:pPr>
              <a:spcAft>
                <a:spcPts val="1000"/>
              </a:spcAft>
            </a:pPr>
            <a:r>
              <a:rPr sz="1200" b="0" i="0" dirty="0">
                <a:solidFill>
                  <a:srgbClr val="595959"/>
                </a:solidFill>
                <a:latin typeface="Arial"/>
              </a:rPr>
              <a:t>Pipeline temps </a:t>
            </a:r>
            <a:r>
              <a:rPr sz="1200" b="0" i="0" dirty="0" err="1">
                <a:solidFill>
                  <a:srgbClr val="595959"/>
                </a:solidFill>
                <a:latin typeface="Arial"/>
              </a:rPr>
              <a:t>réel</a:t>
            </a:r>
            <a:r>
              <a:rPr sz="1200" b="0" i="0" dirty="0">
                <a:solidFill>
                  <a:srgbClr val="595959"/>
                </a:solidFill>
                <a:latin typeface="Arial"/>
              </a:rPr>
              <a:t> — scoring de </a:t>
            </a:r>
            <a:r>
              <a:rPr sz="1200" b="0" i="0" dirty="0" err="1">
                <a:solidFill>
                  <a:srgbClr val="595959"/>
                </a:solidFill>
                <a:latin typeface="Arial"/>
              </a:rPr>
              <a:t>fraude</a:t>
            </a:r>
            <a:r>
              <a:rPr sz="1200" b="0" i="0" dirty="0">
                <a:solidFill>
                  <a:srgbClr val="595959"/>
                </a:solidFill>
                <a:latin typeface="Arial"/>
              </a:rPr>
              <a:t> </a:t>
            </a:r>
            <a:r>
              <a:rPr sz="1200" b="0" i="0" dirty="0" err="1">
                <a:solidFill>
                  <a:srgbClr val="595959"/>
                </a:solidFill>
                <a:latin typeface="Arial"/>
              </a:rPr>
              <a:t>en</a:t>
            </a:r>
            <a:r>
              <a:rPr sz="1200" b="0" i="0" dirty="0">
                <a:solidFill>
                  <a:srgbClr val="595959"/>
                </a:solidFill>
                <a:latin typeface="Arial"/>
              </a:rPr>
              <a:t> &lt; 30 </a:t>
            </a:r>
            <a:r>
              <a:rPr sz="1200" b="0" i="0" dirty="0" err="1">
                <a:solidFill>
                  <a:srgbClr val="595959"/>
                </a:solidFill>
                <a:latin typeface="Arial"/>
              </a:rPr>
              <a:t>ms</a:t>
            </a:r>
            <a:endParaRPr sz="1200" b="0" i="0" dirty="0">
              <a:solidFill>
                <a:srgbClr val="595959"/>
              </a:solidFill>
              <a:latin typeface="Arial"/>
            </a:endParaRPr>
          </a:p>
          <a:p>
            <a:pPr>
              <a:spcAft>
                <a:spcPts val="1000"/>
              </a:spcAft>
            </a:pPr>
            <a:r>
              <a:rPr sz="1200" b="0" i="0" dirty="0">
                <a:solidFill>
                  <a:srgbClr val="595959"/>
                </a:solidFill>
                <a:latin typeface="Arial"/>
              </a:rPr>
              <a:t>Sécurité et </a:t>
            </a:r>
            <a:r>
              <a:rPr sz="1200" b="0" i="0" dirty="0" err="1">
                <a:solidFill>
                  <a:srgbClr val="595959"/>
                </a:solidFill>
                <a:latin typeface="Arial"/>
              </a:rPr>
              <a:t>conformité</a:t>
            </a:r>
            <a:r>
              <a:rPr sz="1200" b="0" i="0" dirty="0">
                <a:solidFill>
                  <a:srgbClr val="595959"/>
                </a:solidFill>
                <a:latin typeface="Arial"/>
              </a:rPr>
              <a:t> par construction</a:t>
            </a:r>
          </a:p>
          <a:p>
            <a:pPr>
              <a:spcAft>
                <a:spcPts val="1000"/>
              </a:spcAft>
            </a:pPr>
            <a:r>
              <a:rPr sz="1200" b="0" i="0" dirty="0" err="1">
                <a:solidFill>
                  <a:srgbClr val="595959"/>
                </a:solidFill>
                <a:latin typeface="Arial"/>
              </a:rPr>
              <a:t>Intégration</a:t>
            </a:r>
            <a:r>
              <a:rPr sz="1200" b="0" i="0" dirty="0">
                <a:solidFill>
                  <a:srgbClr val="595959"/>
                </a:solidFill>
                <a:latin typeface="Arial"/>
              </a:rPr>
              <a:t> ML — cycle de vie de la </a:t>
            </a:r>
            <a:r>
              <a:rPr sz="1200" b="0" i="0" dirty="0" err="1">
                <a:solidFill>
                  <a:srgbClr val="595959"/>
                </a:solidFill>
                <a:latin typeface="Arial"/>
              </a:rPr>
              <a:t>détection</a:t>
            </a:r>
            <a:r>
              <a:rPr sz="1200" b="0" i="0" dirty="0">
                <a:solidFill>
                  <a:srgbClr val="595959"/>
                </a:solidFill>
                <a:latin typeface="Arial"/>
              </a:rPr>
              <a:t> de </a:t>
            </a:r>
            <a:r>
              <a:rPr sz="1200" b="0" i="0" dirty="0" err="1">
                <a:solidFill>
                  <a:srgbClr val="595959"/>
                </a:solidFill>
                <a:latin typeface="Arial"/>
              </a:rPr>
              <a:t>fraude</a:t>
            </a:r>
            <a:endParaRPr sz="1200" b="0" i="0" dirty="0">
              <a:solidFill>
                <a:srgbClr val="595959"/>
              </a:solidFill>
              <a:latin typeface="Arial"/>
            </a:endParaRPr>
          </a:p>
          <a:p>
            <a:pPr>
              <a:spcAft>
                <a:spcPts val="1000"/>
              </a:spcAft>
            </a:pPr>
            <a:r>
              <a:rPr sz="1200" b="0" i="0" dirty="0">
                <a:solidFill>
                  <a:srgbClr val="595959"/>
                </a:solidFill>
                <a:latin typeface="Arial"/>
              </a:rPr>
              <a:t>Bilan </a:t>
            </a:r>
            <a:r>
              <a:rPr sz="1200" b="0" i="0" dirty="0" err="1">
                <a:solidFill>
                  <a:srgbClr val="595959"/>
                </a:solidFill>
                <a:latin typeface="Arial"/>
              </a:rPr>
              <a:t>en</a:t>
            </a:r>
            <a:r>
              <a:rPr sz="1200" b="0" i="0" dirty="0">
                <a:solidFill>
                  <a:srgbClr val="595959"/>
                </a:solidFill>
                <a:latin typeface="Arial"/>
              </a:rPr>
              <a:t> production — SLA </a:t>
            </a:r>
            <a:r>
              <a:rPr sz="1200" b="0" i="0" dirty="0" err="1">
                <a:solidFill>
                  <a:srgbClr val="595959"/>
                </a:solidFill>
                <a:latin typeface="Arial"/>
              </a:rPr>
              <a:t>atteints</a:t>
            </a:r>
            <a:endParaRPr sz="1200" b="0" i="0" dirty="0">
              <a:solidFill>
                <a:srgbClr val="595959"/>
              </a:solidFill>
              <a:latin typeface="Arial"/>
            </a:endParaRPr>
          </a:p>
          <a:p>
            <a:pPr>
              <a:spcAft>
                <a:spcPts val="1000"/>
              </a:spcAft>
            </a:pPr>
            <a:r>
              <a:rPr sz="1200" b="0" i="0" dirty="0">
                <a:solidFill>
                  <a:srgbClr val="595959"/>
                </a:solidFill>
                <a:latin typeface="Arial"/>
              </a:rPr>
              <a:t>Conclusion — </a:t>
            </a:r>
            <a:r>
              <a:rPr sz="1200" b="0" i="0" dirty="0" err="1">
                <a:solidFill>
                  <a:srgbClr val="595959"/>
                </a:solidFill>
                <a:latin typeface="Arial"/>
              </a:rPr>
              <a:t>fiabilité</a:t>
            </a:r>
            <a:r>
              <a:rPr sz="1200" b="0" i="0" dirty="0">
                <a:solidFill>
                  <a:srgbClr val="595959"/>
                </a:solidFill>
                <a:latin typeface="Arial"/>
              </a:rPr>
              <a:t>, performance, </a:t>
            </a:r>
            <a:r>
              <a:rPr sz="1200" b="0" i="0" dirty="0" err="1">
                <a:solidFill>
                  <a:srgbClr val="595959"/>
                </a:solidFill>
                <a:latin typeface="Arial"/>
              </a:rPr>
              <a:t>conformité</a:t>
            </a:r>
            <a:endParaRPr sz="1200" b="0" i="0" dirty="0">
              <a:solidFill>
                <a:srgbClr val="595959"/>
              </a:solidFill>
              <a:latin typeface="Arial"/>
            </a:endParaRPr>
          </a:p>
        </p:txBody>
      </p:sp>
      <p:sp>
        <p:nvSpPr>
          <p:cNvPr id="5" name="Google Shape;76;p15">
            <a:extLst>
              <a:ext uri="{FF2B5EF4-FFF2-40B4-BE49-F238E27FC236}">
                <a16:creationId xmlns:a16="http://schemas.microsoft.com/office/drawing/2014/main" id="{23CF807F-1574-AC8D-777E-5C6D7EC95FFC}"/>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CE99B8E8-EC10-2FF3-3557-F58EECAA74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18</a:t>
            </a:fld>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5962" y="337128"/>
            <a:ext cx="7239504" cy="572700"/>
          </a:xfrm>
        </p:spPr>
        <p:txBody>
          <a:bodyPr/>
          <a:lstStyle/>
          <a:p>
            <a:r>
              <a:rPr sz="2000" b="1" dirty="0" err="1">
                <a:solidFill>
                  <a:srgbClr val="212121"/>
                </a:solidFill>
                <a:latin typeface="Arial"/>
              </a:rPr>
              <a:t>Contexte</a:t>
            </a:r>
            <a:r>
              <a:rPr sz="2000" b="1" dirty="0">
                <a:solidFill>
                  <a:srgbClr val="212121"/>
                </a:solidFill>
                <a:latin typeface="Arial"/>
              </a:rPr>
              <a:t> — Stripe, </a:t>
            </a:r>
            <a:r>
              <a:rPr sz="2000" b="1" dirty="0" err="1">
                <a:solidFill>
                  <a:srgbClr val="212121"/>
                </a:solidFill>
                <a:latin typeface="Arial"/>
              </a:rPr>
              <a:t>une</a:t>
            </a:r>
            <a:r>
              <a:rPr sz="2000" b="1" dirty="0">
                <a:solidFill>
                  <a:srgbClr val="212121"/>
                </a:solidFill>
                <a:latin typeface="Arial"/>
              </a:rPr>
              <a:t> infrastructure de </a:t>
            </a:r>
            <a:r>
              <a:rPr sz="2000" b="1" dirty="0" err="1">
                <a:solidFill>
                  <a:srgbClr val="212121"/>
                </a:solidFill>
                <a:latin typeface="Arial"/>
              </a:rPr>
              <a:t>paiement</a:t>
            </a:r>
            <a:r>
              <a:rPr sz="2000" b="1" dirty="0">
                <a:solidFill>
                  <a:srgbClr val="212121"/>
                </a:solidFill>
                <a:latin typeface="Arial"/>
              </a:rPr>
              <a:t> critique</a:t>
            </a:r>
          </a:p>
        </p:txBody>
      </p:sp>
      <p:sp>
        <p:nvSpPr>
          <p:cNvPr id="3" name="Rectangle 2"/>
          <p:cNvSpPr/>
          <p:nvPr/>
        </p:nvSpPr>
        <p:spPr>
          <a:xfrm>
            <a:off x="365760" y="372018"/>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&gt;1 000 Mds $</a:t>
            </a:r>
          </a:p>
          <a:p>
            <a:pPr algn="ctr"/>
            <a:r>
              <a:rPr sz="1100" b="0" i="0">
                <a:solidFill>
                  <a:srgbClr val="595959"/>
                </a:solidFill>
                <a:latin typeface="Arial"/>
              </a:rPr>
              <a:t>Transactions traitées / an</a:t>
            </a:r>
          </a:p>
        </p:txBody>
      </p:sp>
      <p:sp>
        <p:nvSpPr>
          <p:cNvPr id="5" name="Rounded Rectangle 4"/>
          <p:cNvSpPr/>
          <p:nvPr/>
        </p:nvSpPr>
        <p:spPr>
          <a:xfrm>
            <a:off x="2526029"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3 000 / s</a:t>
            </a:r>
          </a:p>
          <a:p>
            <a:pPr algn="ctr"/>
            <a:r>
              <a:rPr sz="1100" b="0" i="0">
                <a:solidFill>
                  <a:srgbClr val="595959"/>
                </a:solidFill>
                <a:latin typeface="Arial"/>
              </a:rPr>
              <a:t>TPS nominal (pic 50 000/s)</a:t>
            </a:r>
          </a:p>
        </p:txBody>
      </p:sp>
      <p:sp>
        <p:nvSpPr>
          <p:cNvPr id="6" name="Rounded Rectangle 5"/>
          <p:cNvSpPr/>
          <p:nvPr/>
        </p:nvSpPr>
        <p:spPr>
          <a:xfrm>
            <a:off x="468630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99.99 %</a:t>
            </a:r>
          </a:p>
          <a:p>
            <a:pPr algn="ctr"/>
            <a:r>
              <a:rPr sz="1100" b="0" i="0">
                <a:solidFill>
                  <a:srgbClr val="595959"/>
                </a:solidFill>
                <a:latin typeface="Arial"/>
              </a:rPr>
              <a:t>Disponibilité cible</a:t>
            </a:r>
          </a:p>
        </p:txBody>
      </p:sp>
      <p:sp>
        <p:nvSpPr>
          <p:cNvPr id="7" name="Rounded Rectangle 6"/>
          <p:cNvSpPr/>
          <p:nvPr/>
        </p:nvSpPr>
        <p:spPr>
          <a:xfrm>
            <a:off x="684657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&lt; 100 ms</a:t>
            </a:r>
          </a:p>
          <a:p>
            <a:pPr algn="ctr"/>
            <a:r>
              <a:rPr sz="1100" b="0" i="0">
                <a:solidFill>
                  <a:srgbClr val="595959"/>
                </a:solidFill>
                <a:latin typeface="Arial"/>
              </a:rPr>
              <a:t>Latence autorisation</a:t>
            </a:r>
          </a:p>
        </p:txBody>
      </p:sp>
      <p:sp>
        <p:nvSpPr>
          <p:cNvPr id="8" name="TextBox 7"/>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Fiabilité financière</a:t>
            </a:r>
          </a:p>
        </p:txBody>
      </p:sp>
      <p:sp>
        <p:nvSpPr>
          <p:cNvPr id="9" name="TextBox 8"/>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Détection de fraude</a:t>
            </a:r>
          </a:p>
        </p:txBody>
      </p:sp>
      <p:sp>
        <p:nvSpPr>
          <p:cNvPr id="10" name="TextBox 9"/>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Conformité PCI-DSS / RGPD</a:t>
            </a:r>
          </a:p>
        </p:txBody>
      </p:sp>
      <p:sp>
        <p:nvSpPr>
          <p:cNvPr id="11" name="TextBox 10"/>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Fintech paiements à l'échelle mondiale</a:t>
            </a:r>
          </a:p>
        </p:txBody>
      </p:sp>
      <p:sp>
        <p:nvSpPr>
          <p:cNvPr id="13" name="Google Shape;76;p15">
            <a:extLst>
              <a:ext uri="{FF2B5EF4-FFF2-40B4-BE49-F238E27FC236}">
                <a16:creationId xmlns:a16="http://schemas.microsoft.com/office/drawing/2014/main" id="{3A14D00A-1AB7-120E-90D1-043A6CD4BAB1}"/>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Espace réservé du numéro de diapositive 11">
            <a:extLst>
              <a:ext uri="{FF2B5EF4-FFF2-40B4-BE49-F238E27FC236}">
                <a16:creationId xmlns:a16="http://schemas.microsoft.com/office/drawing/2014/main" id="{DAF5F864-6CC2-553B-A5CF-0E545ECDE8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b="1" dirty="0">
                <a:solidFill>
                  <a:srgbClr val="212121"/>
                </a:solidFill>
                <a:latin typeface="Arial"/>
              </a:rPr>
              <a:t>Architecture </a:t>
            </a:r>
            <a:r>
              <a:rPr sz="2000" b="1" dirty="0" err="1">
                <a:solidFill>
                  <a:srgbClr val="212121"/>
                </a:solidFill>
                <a:latin typeface="Arial"/>
              </a:rPr>
              <a:t>globale</a:t>
            </a:r>
            <a:r>
              <a:rPr sz="2000" b="1" dirty="0">
                <a:solidFill>
                  <a:srgbClr val="212121"/>
                </a:solidFill>
                <a:latin typeface="Arial"/>
              </a:rPr>
              <a:t> — 3 couches </a:t>
            </a:r>
            <a:r>
              <a:rPr sz="2000" b="1" dirty="0" err="1">
                <a:solidFill>
                  <a:srgbClr val="212121"/>
                </a:solidFill>
                <a:latin typeface="Arial"/>
              </a:rPr>
              <a:t>complémentaires</a:t>
            </a:r>
            <a:endParaRPr sz="2000" b="1" dirty="0">
              <a:solidFill>
                <a:srgbClr val="212121"/>
              </a:solidFill>
              <a:latin typeface="Arial"/>
            </a:endParaRP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371600" cy="886967"/>
          </a:xfrm>
          <a:prstGeom prst="rect">
            <a:avLst/>
          </a:prstGeom>
          <a:noFill/>
        </p:spPr>
        <p:txBody>
          <a:bodyPr wrap="square" lIns="0" tIns="0" rIns="0" bIns="0" anchor="ctr">
            <a:spAutoFit/>
          </a:bodyPr>
          <a:lstStyle/>
          <a:p>
            <a:pPr algn="l"/>
            <a:r>
              <a:rPr sz="1100" b="1" i="0">
                <a:solidFill>
                  <a:srgbClr val="212121"/>
                </a:solidFill>
                <a:latin typeface="Arial"/>
              </a:rPr>
              <a:t>Sources</a:t>
            </a:r>
          </a:p>
        </p:txBody>
      </p:sp>
      <p:sp>
        <p:nvSpPr>
          <p:cNvPr id="5" name="Rounded Rectangle 4"/>
          <p:cNvSpPr/>
          <p:nvPr/>
        </p:nvSpPr>
        <p:spPr>
          <a:xfrm>
            <a:off x="1828800" y="1170432"/>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API Paiements</a:t>
            </a:r>
          </a:p>
        </p:txBody>
      </p:sp>
      <p:sp>
        <p:nvSpPr>
          <p:cNvPr id="6" name="Rectangle 5"/>
          <p:cNvSpPr/>
          <p:nvPr/>
        </p:nvSpPr>
        <p:spPr>
          <a:xfrm>
            <a:off x="1828800" y="1170432"/>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598164" y="1170432"/>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Webhooks</a:t>
            </a:r>
          </a:p>
        </p:txBody>
      </p:sp>
      <p:sp>
        <p:nvSpPr>
          <p:cNvPr id="8" name="Rectangle 7"/>
          <p:cNvSpPr/>
          <p:nvPr/>
        </p:nvSpPr>
        <p:spPr>
          <a:xfrm>
            <a:off x="3598164" y="1170432"/>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67528" y="1170432"/>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Logs</a:t>
            </a:r>
          </a:p>
        </p:txBody>
      </p:sp>
      <p:sp>
        <p:nvSpPr>
          <p:cNvPr id="10" name="Rectangle 9"/>
          <p:cNvSpPr/>
          <p:nvPr/>
        </p:nvSpPr>
        <p:spPr>
          <a:xfrm>
            <a:off x="5367528" y="1170432"/>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136892" y="1170432"/>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Données de référence</a:t>
            </a:r>
          </a:p>
        </p:txBody>
      </p:sp>
      <p:sp>
        <p:nvSpPr>
          <p:cNvPr id="12" name="Rectangle 11"/>
          <p:cNvSpPr/>
          <p:nvPr/>
        </p:nvSpPr>
        <p:spPr>
          <a:xfrm>
            <a:off x="7136892" y="1170432"/>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2185415"/>
            <a:ext cx="1371600" cy="886967"/>
          </a:xfrm>
          <a:prstGeom prst="rect">
            <a:avLst/>
          </a:prstGeom>
          <a:noFill/>
        </p:spPr>
        <p:txBody>
          <a:bodyPr wrap="square" lIns="0" tIns="0" rIns="0" bIns="0" anchor="ctr">
            <a:spAutoFit/>
          </a:bodyPr>
          <a:lstStyle/>
          <a:p>
            <a:pPr algn="l"/>
            <a:r>
              <a:rPr sz="1100" b="1" i="0">
                <a:solidFill>
                  <a:srgbClr val="212121"/>
                </a:solidFill>
                <a:latin typeface="Arial"/>
              </a:rPr>
              <a:t>Traitement</a:t>
            </a:r>
          </a:p>
        </p:txBody>
      </p:sp>
      <p:sp>
        <p:nvSpPr>
          <p:cNvPr id="14" name="Rounded Rectangle 13"/>
          <p:cNvSpPr/>
          <p:nvPr/>
        </p:nvSpPr>
        <p:spPr>
          <a:xfrm>
            <a:off x="1828800" y="2185415"/>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OLTP — Aurora PostgreSQL</a:t>
            </a:r>
          </a:p>
        </p:txBody>
      </p:sp>
      <p:sp>
        <p:nvSpPr>
          <p:cNvPr id="15" name="Rectangle 14"/>
          <p:cNvSpPr/>
          <p:nvPr/>
        </p:nvSpPr>
        <p:spPr>
          <a:xfrm>
            <a:off x="1828800" y="2185415"/>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187952" y="2185415"/>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OLAP — Redshift</a:t>
            </a:r>
          </a:p>
        </p:txBody>
      </p:sp>
      <p:sp>
        <p:nvSpPr>
          <p:cNvPr id="17" name="Rectangle 16"/>
          <p:cNvSpPr/>
          <p:nvPr/>
        </p:nvSpPr>
        <p:spPr>
          <a:xfrm>
            <a:off x="4187952" y="2185415"/>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47104" y="2185415"/>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NoSQL — DynamoDB + Redis</a:t>
            </a:r>
          </a:p>
        </p:txBody>
      </p:sp>
      <p:sp>
        <p:nvSpPr>
          <p:cNvPr id="19" name="Rectangle 18"/>
          <p:cNvSpPr/>
          <p:nvPr/>
        </p:nvSpPr>
        <p:spPr>
          <a:xfrm>
            <a:off x="6547104" y="2185415"/>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3200400"/>
            <a:ext cx="1371600" cy="886967"/>
          </a:xfrm>
          <a:prstGeom prst="rect">
            <a:avLst/>
          </a:prstGeom>
          <a:noFill/>
        </p:spPr>
        <p:txBody>
          <a:bodyPr wrap="square" lIns="0" tIns="0" rIns="0" bIns="0" anchor="ctr">
            <a:spAutoFit/>
          </a:bodyPr>
          <a:lstStyle/>
          <a:p>
            <a:pPr algn="l"/>
            <a:r>
              <a:rPr sz="1100" b="1" i="0">
                <a:solidFill>
                  <a:srgbClr val="212121"/>
                </a:solidFill>
                <a:latin typeface="Arial"/>
              </a:rPr>
              <a:t>Consommation</a:t>
            </a:r>
          </a:p>
        </p:txBody>
      </p:sp>
      <p:sp>
        <p:nvSpPr>
          <p:cNvPr id="21" name="Rounded Rectangle 20"/>
          <p:cNvSpPr/>
          <p:nvPr/>
        </p:nvSpPr>
        <p:spPr>
          <a:xfrm>
            <a:off x="1828800" y="3200400"/>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Dashboards marchands</a:t>
            </a:r>
          </a:p>
        </p:txBody>
      </p:sp>
      <p:sp>
        <p:nvSpPr>
          <p:cNvPr id="22" name="Rectangle 21"/>
          <p:cNvSpPr/>
          <p:nvPr/>
        </p:nvSpPr>
        <p:spPr>
          <a:xfrm>
            <a:off x="1828800" y="3200400"/>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187952" y="3200400"/>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Détection fraude ML</a:t>
            </a:r>
          </a:p>
        </p:txBody>
      </p:sp>
      <p:sp>
        <p:nvSpPr>
          <p:cNvPr id="24" name="Rectangle 23"/>
          <p:cNvSpPr/>
          <p:nvPr/>
        </p:nvSpPr>
        <p:spPr>
          <a:xfrm>
            <a:off x="4187952" y="3200400"/>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547104" y="3200400"/>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Rapports conformité</a:t>
            </a:r>
          </a:p>
        </p:txBody>
      </p:sp>
      <p:sp>
        <p:nvSpPr>
          <p:cNvPr id="26" name="Rectangle 25"/>
          <p:cNvSpPr/>
          <p:nvPr/>
        </p:nvSpPr>
        <p:spPr>
          <a:xfrm>
            <a:off x="6547104" y="3200400"/>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3 systèmes, 3 rôles</a:t>
            </a:r>
          </a:p>
        </p:txBody>
      </p:sp>
      <p:sp>
        <p:nvSpPr>
          <p:cNvPr id="28" name="TextBox 27"/>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La bonne techno au bon endroit</a:t>
            </a:r>
          </a:p>
        </p:txBody>
      </p:sp>
      <p:sp>
        <p:nvSpPr>
          <p:cNvPr id="29" name="TextBox 28"/>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Synchronisation par CDC</a:t>
            </a:r>
          </a:p>
        </p:txBody>
      </p:sp>
      <p:sp>
        <p:nvSpPr>
          <p:cNvPr id="31" name="Google Shape;76;p15">
            <a:extLst>
              <a:ext uri="{FF2B5EF4-FFF2-40B4-BE49-F238E27FC236}">
                <a16:creationId xmlns:a16="http://schemas.microsoft.com/office/drawing/2014/main" id="{BAB4C9A2-2A9D-13D6-F60E-57EA9F302569}"/>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Espace réservé du numéro de diapositive 29">
            <a:extLst>
              <a:ext uri="{FF2B5EF4-FFF2-40B4-BE49-F238E27FC236}">
                <a16:creationId xmlns:a16="http://schemas.microsoft.com/office/drawing/2014/main" id="{BC44E3AC-201D-001B-C979-CC6FE48FFF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20</a:t>
            </a:fld>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81095"/>
            <a:ext cx="8520600" cy="572700"/>
          </a:xfrm>
        </p:spPr>
        <p:txBody>
          <a:bodyPr/>
          <a:lstStyle/>
          <a:p>
            <a:r>
              <a:rPr sz="2000" b="1" dirty="0" err="1">
                <a:solidFill>
                  <a:srgbClr val="212121"/>
                </a:solidFill>
                <a:latin typeface="Arial"/>
              </a:rPr>
              <a:t>Modèle</a:t>
            </a:r>
            <a:r>
              <a:rPr sz="2000" b="1" dirty="0">
                <a:solidFill>
                  <a:srgbClr val="212121"/>
                </a:solidFill>
                <a:latin typeface="Arial"/>
              </a:rPr>
              <a:t> OLTP — 8 </a:t>
            </a:r>
            <a:r>
              <a:rPr sz="2000" b="1" dirty="0" err="1">
                <a:solidFill>
                  <a:srgbClr val="212121"/>
                </a:solidFill>
                <a:latin typeface="Arial"/>
              </a:rPr>
              <a:t>entités</a:t>
            </a:r>
            <a:r>
              <a:rPr sz="2000" b="1" dirty="0">
                <a:solidFill>
                  <a:srgbClr val="212121"/>
                </a:solidFill>
                <a:latin typeface="Arial"/>
              </a:rPr>
              <a:t> </a:t>
            </a:r>
            <a:r>
              <a:rPr sz="2000" b="1" dirty="0" err="1">
                <a:solidFill>
                  <a:srgbClr val="212121"/>
                </a:solidFill>
                <a:latin typeface="Arial"/>
              </a:rPr>
              <a:t>en</a:t>
            </a:r>
            <a:r>
              <a:rPr sz="2000" b="1" dirty="0">
                <a:solidFill>
                  <a:srgbClr val="212121"/>
                </a:solidFill>
                <a:latin typeface="Arial"/>
              </a:rPr>
              <a:t> 3NF (notation </a:t>
            </a:r>
            <a:r>
              <a:rPr sz="2000" b="1" dirty="0" err="1">
                <a:solidFill>
                  <a:srgbClr val="212121"/>
                </a:solidFill>
                <a:latin typeface="Arial"/>
              </a:rPr>
              <a:t>Merise</a:t>
            </a:r>
            <a:r>
              <a:rPr sz="2000" b="1" dirty="0">
                <a:solidFill>
                  <a:srgbClr val="212121"/>
                </a:solidFill>
                <a:latin typeface="Arial"/>
              </a:rPr>
              <a:t>)</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10313" y="4220138"/>
            <a:ext cx="1930097" cy="123111"/>
          </a:xfrm>
          <a:prstGeom prst="rect">
            <a:avLst/>
          </a:prstGeom>
          <a:noFill/>
        </p:spPr>
        <p:txBody>
          <a:bodyPr wrap="square" lIns="0" tIns="0" rIns="0" bIns="0" anchor="ctr">
            <a:spAutoFit/>
          </a:bodyPr>
          <a:lstStyle/>
          <a:p>
            <a:pPr algn="l"/>
            <a:r>
              <a:rPr sz="800" b="0" i="0" dirty="0">
                <a:solidFill>
                  <a:srgbClr val="595959"/>
                </a:solidFill>
                <a:latin typeface="Arial"/>
              </a:rPr>
              <a:t>• TRANSACTIONS = </a:t>
            </a:r>
            <a:r>
              <a:rPr sz="800" b="0" i="0" dirty="0" err="1">
                <a:solidFill>
                  <a:srgbClr val="595959"/>
                </a:solidFill>
                <a:latin typeface="Arial"/>
              </a:rPr>
              <a:t>entité</a:t>
            </a:r>
            <a:r>
              <a:rPr sz="800" b="0" i="0" dirty="0">
                <a:solidFill>
                  <a:srgbClr val="595959"/>
                </a:solidFill>
                <a:latin typeface="Arial"/>
              </a:rPr>
              <a:t> pivot</a:t>
            </a:r>
          </a:p>
        </p:txBody>
      </p:sp>
      <p:sp>
        <p:nvSpPr>
          <p:cNvPr id="29" name="TextBox 28"/>
          <p:cNvSpPr txBox="1"/>
          <p:nvPr/>
        </p:nvSpPr>
        <p:spPr>
          <a:xfrm>
            <a:off x="7110313" y="3792587"/>
            <a:ext cx="1930097" cy="123111"/>
          </a:xfrm>
          <a:prstGeom prst="rect">
            <a:avLst/>
          </a:prstGeom>
          <a:noFill/>
        </p:spPr>
        <p:txBody>
          <a:bodyPr wrap="square" lIns="0" tIns="0" rIns="0" bIns="0" anchor="ctr">
            <a:spAutoFit/>
          </a:bodyPr>
          <a:lstStyle/>
          <a:p>
            <a:pPr algn="l"/>
            <a:r>
              <a:rPr sz="800" b="0" i="0" dirty="0">
                <a:solidFill>
                  <a:srgbClr val="595959"/>
                </a:solidFill>
                <a:latin typeface="Arial"/>
              </a:rPr>
              <a:t>• 3NF </a:t>
            </a:r>
            <a:r>
              <a:rPr sz="800" b="0" i="0" dirty="0" err="1">
                <a:solidFill>
                  <a:srgbClr val="595959"/>
                </a:solidFill>
                <a:latin typeface="Arial"/>
              </a:rPr>
              <a:t>stricte</a:t>
            </a:r>
            <a:r>
              <a:rPr sz="800" b="0" i="0" dirty="0">
                <a:solidFill>
                  <a:srgbClr val="595959"/>
                </a:solidFill>
                <a:latin typeface="Arial"/>
              </a:rPr>
              <a:t> + </a:t>
            </a:r>
            <a:r>
              <a:rPr sz="800" b="0" i="0" dirty="0" err="1">
                <a:solidFill>
                  <a:srgbClr val="595959"/>
                </a:solidFill>
                <a:latin typeface="Arial"/>
              </a:rPr>
              <a:t>contraintes</a:t>
            </a:r>
            <a:r>
              <a:rPr sz="800" b="0" i="0" dirty="0">
                <a:solidFill>
                  <a:srgbClr val="595959"/>
                </a:solidFill>
                <a:latin typeface="Arial"/>
              </a:rPr>
              <a:t> CHECK</a:t>
            </a:r>
          </a:p>
        </p:txBody>
      </p:sp>
      <p:sp>
        <p:nvSpPr>
          <p:cNvPr id="30" name="TextBox 29"/>
          <p:cNvSpPr txBox="1"/>
          <p:nvPr/>
        </p:nvSpPr>
        <p:spPr>
          <a:xfrm>
            <a:off x="7110313" y="4622139"/>
            <a:ext cx="2043912" cy="123111"/>
          </a:xfrm>
          <a:prstGeom prst="rect">
            <a:avLst/>
          </a:prstGeom>
          <a:noFill/>
        </p:spPr>
        <p:txBody>
          <a:bodyPr wrap="square" lIns="0" tIns="0" rIns="0" bIns="0" anchor="ctr">
            <a:spAutoFit/>
          </a:bodyPr>
          <a:lstStyle/>
          <a:p>
            <a:pPr algn="l"/>
            <a:r>
              <a:rPr sz="800" b="0" i="0" dirty="0">
                <a:solidFill>
                  <a:srgbClr val="595959"/>
                </a:solidFill>
                <a:latin typeface="Arial"/>
              </a:rPr>
              <a:t>• </a:t>
            </a:r>
            <a:r>
              <a:rPr sz="800" b="0" i="0" dirty="0" err="1">
                <a:solidFill>
                  <a:srgbClr val="595959"/>
                </a:solidFill>
                <a:latin typeface="Arial"/>
              </a:rPr>
              <a:t>Partitionnement</a:t>
            </a:r>
            <a:r>
              <a:rPr sz="800" b="0" i="0" dirty="0">
                <a:solidFill>
                  <a:srgbClr val="595959"/>
                </a:solidFill>
                <a:latin typeface="Arial"/>
              </a:rPr>
              <a:t> par date (&gt;100M </a:t>
            </a:r>
            <a:r>
              <a:rPr sz="800" b="0" i="0" dirty="0" err="1">
                <a:solidFill>
                  <a:srgbClr val="595959"/>
                </a:solidFill>
                <a:latin typeface="Arial"/>
              </a:rPr>
              <a:t>lignes</a:t>
            </a:r>
            <a:r>
              <a:rPr sz="800" b="0" i="0" dirty="0">
                <a:solidFill>
                  <a:srgbClr val="595959"/>
                </a:solidFill>
                <a:latin typeface="Arial"/>
              </a:rPr>
              <a:t>)</a:t>
            </a:r>
          </a:p>
        </p:txBody>
      </p:sp>
      <p:sp>
        <p:nvSpPr>
          <p:cNvPr id="32" name="Google Shape;76;p15">
            <a:extLst>
              <a:ext uri="{FF2B5EF4-FFF2-40B4-BE49-F238E27FC236}">
                <a16:creationId xmlns:a16="http://schemas.microsoft.com/office/drawing/2014/main" id="{5273EE33-1ACA-2B7D-E260-008B5BAF6EB2}"/>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Image 50">
            <a:extLst>
              <a:ext uri="{FF2B5EF4-FFF2-40B4-BE49-F238E27FC236}">
                <a16:creationId xmlns:a16="http://schemas.microsoft.com/office/drawing/2014/main" id="{182B1D9F-CDBA-EA22-B13A-C47A3896E3CF}"/>
              </a:ext>
            </a:extLst>
          </p:cNvPr>
          <p:cNvPicPr>
            <a:picLocks noChangeAspect="1"/>
          </p:cNvPicPr>
          <p:nvPr/>
        </p:nvPicPr>
        <p:blipFill>
          <a:blip r:embed="rId3"/>
          <a:stretch>
            <a:fillRect/>
          </a:stretch>
        </p:blipFill>
        <p:spPr>
          <a:xfrm>
            <a:off x="274320" y="391483"/>
            <a:ext cx="6369440" cy="4500542"/>
          </a:xfrm>
          <a:prstGeom prst="rect">
            <a:avLst/>
          </a:prstGeom>
        </p:spPr>
      </p:pic>
      <p:sp>
        <p:nvSpPr>
          <p:cNvPr id="4" name="Espace réservé du numéro de diapositive 3">
            <a:extLst>
              <a:ext uri="{FF2B5EF4-FFF2-40B4-BE49-F238E27FC236}">
                <a16:creationId xmlns:a16="http://schemas.microsoft.com/office/drawing/2014/main" id="{3EC155FB-8E59-6D76-5630-438D327EEC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21</a:t>
            </a:fld>
            <a:endParaRPr lang="fr-F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 y="26932"/>
            <a:ext cx="8520600" cy="572700"/>
          </a:xfrm>
        </p:spPr>
        <p:txBody>
          <a:bodyPr/>
          <a:lstStyle/>
          <a:p>
            <a:r>
              <a:rPr b="1" dirty="0" err="1">
                <a:solidFill>
                  <a:srgbClr val="212121"/>
                </a:solidFill>
                <a:latin typeface="Arial"/>
              </a:rPr>
              <a:t>Modèle</a:t>
            </a:r>
            <a:r>
              <a:rPr b="1" dirty="0">
                <a:solidFill>
                  <a:srgbClr val="212121"/>
                </a:solidFill>
                <a:latin typeface="Arial"/>
              </a:rPr>
              <a:t> OLAP — </a:t>
            </a:r>
            <a:r>
              <a:rPr b="1" dirty="0" err="1">
                <a:solidFill>
                  <a:srgbClr val="212121"/>
                </a:solidFill>
                <a:latin typeface="Arial"/>
              </a:rPr>
              <a:t>schéma</a:t>
            </a:r>
            <a:r>
              <a:rPr b="1" dirty="0">
                <a:solidFill>
                  <a:srgbClr val="212121"/>
                </a:solidFill>
                <a:latin typeface="Arial"/>
              </a:rPr>
              <a:t> </a:t>
            </a:r>
            <a:r>
              <a:rPr b="1" dirty="0" err="1">
                <a:solidFill>
                  <a:srgbClr val="212121"/>
                </a:solidFill>
                <a:latin typeface="Arial"/>
              </a:rPr>
              <a:t>en</a:t>
            </a:r>
            <a:r>
              <a:rPr b="1" dirty="0">
                <a:solidFill>
                  <a:srgbClr val="212121"/>
                </a:solidFill>
                <a:latin typeface="Arial"/>
              </a:rPr>
              <a:t> étoile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Google Shape;76;p15">
            <a:extLst>
              <a:ext uri="{FF2B5EF4-FFF2-40B4-BE49-F238E27FC236}">
                <a16:creationId xmlns:a16="http://schemas.microsoft.com/office/drawing/2014/main" id="{31F558E4-8DD7-B7C9-DE02-B597094F4FD3}"/>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 name="Image 25">
            <a:extLst>
              <a:ext uri="{FF2B5EF4-FFF2-40B4-BE49-F238E27FC236}">
                <a16:creationId xmlns:a16="http://schemas.microsoft.com/office/drawing/2014/main" id="{64DC514F-7D37-C43B-9ED4-0DCF57200824}"/>
              </a:ext>
            </a:extLst>
          </p:cNvPr>
          <p:cNvPicPr>
            <a:picLocks noChangeAspect="1"/>
          </p:cNvPicPr>
          <p:nvPr/>
        </p:nvPicPr>
        <p:blipFill>
          <a:blip r:embed="rId3"/>
          <a:stretch>
            <a:fillRect/>
          </a:stretch>
        </p:blipFill>
        <p:spPr>
          <a:xfrm>
            <a:off x="3507050" y="1001486"/>
            <a:ext cx="5471488" cy="3291230"/>
          </a:xfrm>
          <a:prstGeom prst="rect">
            <a:avLst/>
          </a:prstGeom>
        </p:spPr>
      </p:pic>
      <p:sp>
        <p:nvSpPr>
          <p:cNvPr id="28" name="ZoneTexte 27">
            <a:extLst>
              <a:ext uri="{FF2B5EF4-FFF2-40B4-BE49-F238E27FC236}">
                <a16:creationId xmlns:a16="http://schemas.microsoft.com/office/drawing/2014/main" id="{A9A70348-9F1B-A2D8-820F-465C0F0098F9}"/>
              </a:ext>
            </a:extLst>
          </p:cNvPr>
          <p:cNvSpPr txBox="1"/>
          <p:nvPr/>
        </p:nvSpPr>
        <p:spPr>
          <a:xfrm>
            <a:off x="274320" y="483671"/>
            <a:ext cx="3591549" cy="4524315"/>
          </a:xfrm>
          <a:prstGeom prst="rect">
            <a:avLst/>
          </a:prstGeom>
          <a:noFill/>
        </p:spPr>
        <p:txBody>
          <a:bodyPr wrap="square">
            <a:spAutoFit/>
          </a:bodyPr>
          <a:lstStyle/>
          <a:p>
            <a:r>
              <a:rPr lang="fr-FR" sz="800" b="1" dirty="0" err="1"/>
              <a:t>create</a:t>
            </a:r>
            <a:r>
              <a:rPr lang="fr-FR" sz="800" dirty="0"/>
              <a:t> </a:t>
            </a:r>
            <a:r>
              <a:rPr lang="fr-FR" sz="800" b="1" dirty="0" err="1"/>
              <a:t>materialized</a:t>
            </a:r>
            <a:r>
              <a:rPr lang="fr-FR" sz="800" dirty="0"/>
              <a:t> </a:t>
            </a:r>
            <a:r>
              <a:rPr lang="fr-FR" sz="800" b="1" dirty="0" err="1"/>
              <a:t>view</a:t>
            </a:r>
            <a:r>
              <a:rPr lang="fr-FR" sz="800" dirty="0"/>
              <a:t> </a:t>
            </a:r>
            <a:r>
              <a:rPr lang="fr-FR" sz="800" dirty="0" err="1"/>
              <a:t>mv_daily_revenue_by_merchant</a:t>
            </a:r>
            <a:r>
              <a:rPr lang="fr-FR" sz="800" dirty="0"/>
              <a:t> </a:t>
            </a:r>
            <a:r>
              <a:rPr lang="fr-FR" sz="800" b="1" dirty="0"/>
              <a:t>as</a:t>
            </a:r>
            <a:endParaRPr lang="fr-FR" sz="800" dirty="0"/>
          </a:p>
          <a:p>
            <a:r>
              <a:rPr lang="fr-FR" sz="800" b="1" dirty="0"/>
              <a:t>select</a:t>
            </a:r>
            <a:endParaRPr lang="fr-FR" sz="800" dirty="0"/>
          </a:p>
          <a:p>
            <a:r>
              <a:rPr lang="fr-FR" sz="800" dirty="0" err="1"/>
              <a:t>dt.full_date</a:t>
            </a:r>
            <a:r>
              <a:rPr lang="fr-FR" sz="800" dirty="0"/>
              <a:t>,</a:t>
            </a:r>
          </a:p>
          <a:p>
            <a:r>
              <a:rPr lang="fr-FR" sz="800" dirty="0" err="1"/>
              <a:t>dt.</a:t>
            </a:r>
            <a:r>
              <a:rPr lang="fr-FR" sz="800" b="1" dirty="0" err="1"/>
              <a:t>year</a:t>
            </a:r>
            <a:r>
              <a:rPr lang="fr-FR" sz="800" dirty="0"/>
              <a:t>,</a:t>
            </a:r>
          </a:p>
          <a:p>
            <a:r>
              <a:rPr lang="fr-FR" sz="800" dirty="0" err="1"/>
              <a:t>dt.</a:t>
            </a:r>
            <a:r>
              <a:rPr lang="fr-FR" sz="800" b="1" dirty="0" err="1"/>
              <a:t>month</a:t>
            </a:r>
            <a:r>
              <a:rPr lang="fr-FR" sz="800" dirty="0"/>
              <a:t>,</a:t>
            </a:r>
          </a:p>
          <a:p>
            <a:r>
              <a:rPr lang="fr-FR" sz="800" dirty="0" err="1"/>
              <a:t>dm.merchant_key</a:t>
            </a:r>
            <a:r>
              <a:rPr lang="fr-FR" sz="800" dirty="0"/>
              <a:t>,</a:t>
            </a:r>
          </a:p>
          <a:p>
            <a:r>
              <a:rPr lang="fr-FR" sz="800" dirty="0" err="1"/>
              <a:t>dm.stripe_merchant_id</a:t>
            </a:r>
            <a:r>
              <a:rPr lang="fr-FR" sz="800" dirty="0"/>
              <a:t>,</a:t>
            </a:r>
          </a:p>
          <a:p>
            <a:r>
              <a:rPr lang="fr-FR" sz="800" dirty="0" err="1"/>
              <a:t>dm.business_name</a:t>
            </a:r>
            <a:r>
              <a:rPr lang="fr-FR" sz="800" dirty="0"/>
              <a:t>,</a:t>
            </a:r>
          </a:p>
          <a:p>
            <a:r>
              <a:rPr lang="fr-FR" sz="800" dirty="0" err="1"/>
              <a:t>dm.country_code</a:t>
            </a:r>
            <a:r>
              <a:rPr lang="fr-FR" sz="800" dirty="0"/>
              <a:t>,</a:t>
            </a:r>
          </a:p>
          <a:p>
            <a:r>
              <a:rPr lang="fr-FR" sz="800" dirty="0" err="1"/>
              <a:t>dm.size_segment</a:t>
            </a:r>
            <a:r>
              <a:rPr lang="fr-FR" sz="800" dirty="0"/>
              <a:t>,</a:t>
            </a:r>
          </a:p>
          <a:p>
            <a:r>
              <a:rPr lang="fr-FR" sz="800" b="1" dirty="0"/>
              <a:t>COUNT</a:t>
            </a:r>
            <a:r>
              <a:rPr lang="fr-FR" sz="800" dirty="0"/>
              <a:t>(</a:t>
            </a:r>
            <a:r>
              <a:rPr lang="fr-FR" sz="800" dirty="0" err="1"/>
              <a:t>ft.transaction_key</a:t>
            </a:r>
            <a:r>
              <a:rPr lang="fr-FR" sz="800" dirty="0"/>
              <a:t>) </a:t>
            </a:r>
            <a:r>
              <a:rPr lang="fr-FR" sz="800" b="1" dirty="0"/>
              <a:t>as</a:t>
            </a:r>
            <a:r>
              <a:rPr lang="fr-FR" sz="800" dirty="0"/>
              <a:t> </a:t>
            </a:r>
            <a:r>
              <a:rPr lang="fr-FR" sz="800" dirty="0" err="1"/>
              <a:t>transaction_count</a:t>
            </a:r>
            <a:r>
              <a:rPr lang="fr-FR" sz="800" dirty="0"/>
              <a:t>,</a:t>
            </a:r>
          </a:p>
          <a:p>
            <a:r>
              <a:rPr lang="fr-FR" sz="800" b="1" dirty="0"/>
              <a:t>SUM</a:t>
            </a:r>
            <a:r>
              <a:rPr lang="fr-FR" sz="800" dirty="0"/>
              <a:t>(</a:t>
            </a:r>
            <a:r>
              <a:rPr lang="fr-FR" sz="800" dirty="0" err="1"/>
              <a:t>ft.amount_usd</a:t>
            </a:r>
            <a:r>
              <a:rPr lang="fr-FR" sz="800" dirty="0"/>
              <a:t>) </a:t>
            </a:r>
            <a:r>
              <a:rPr lang="fr-FR" sz="800" b="1" dirty="0"/>
              <a:t>as</a:t>
            </a:r>
            <a:r>
              <a:rPr lang="fr-FR" sz="800" dirty="0"/>
              <a:t> </a:t>
            </a:r>
            <a:r>
              <a:rPr lang="fr-FR" sz="800" dirty="0" err="1"/>
              <a:t>gross_revenue_usd</a:t>
            </a:r>
            <a:r>
              <a:rPr lang="fr-FR" sz="800" dirty="0"/>
              <a:t>,</a:t>
            </a:r>
          </a:p>
          <a:p>
            <a:r>
              <a:rPr lang="fr-FR" sz="800" b="1" dirty="0"/>
              <a:t>SUM</a:t>
            </a:r>
            <a:r>
              <a:rPr lang="fr-FR" sz="800" dirty="0"/>
              <a:t>(</a:t>
            </a:r>
            <a:r>
              <a:rPr lang="fr-FR" sz="800" dirty="0" err="1"/>
              <a:t>ft.stripe_fee_usd</a:t>
            </a:r>
            <a:r>
              <a:rPr lang="fr-FR" sz="800" dirty="0"/>
              <a:t>) </a:t>
            </a:r>
            <a:r>
              <a:rPr lang="fr-FR" sz="800" b="1" dirty="0"/>
              <a:t>as</a:t>
            </a:r>
            <a:r>
              <a:rPr lang="fr-FR" sz="800" dirty="0"/>
              <a:t> </a:t>
            </a:r>
            <a:r>
              <a:rPr lang="fr-FR" sz="800" dirty="0" err="1"/>
              <a:t>total_fees_usd</a:t>
            </a:r>
            <a:r>
              <a:rPr lang="fr-FR" sz="800" dirty="0"/>
              <a:t>,</a:t>
            </a:r>
          </a:p>
          <a:p>
            <a:r>
              <a:rPr lang="fr-FR" sz="800" b="1" dirty="0"/>
              <a:t>SUM</a:t>
            </a:r>
            <a:r>
              <a:rPr lang="fr-FR" sz="800" dirty="0"/>
              <a:t>(</a:t>
            </a:r>
            <a:r>
              <a:rPr lang="fr-FR" sz="800" dirty="0" err="1"/>
              <a:t>ft.net_amount_usd</a:t>
            </a:r>
            <a:r>
              <a:rPr lang="fr-FR" sz="800" dirty="0"/>
              <a:t>) </a:t>
            </a:r>
            <a:r>
              <a:rPr lang="fr-FR" sz="800" b="1" dirty="0"/>
              <a:t>as</a:t>
            </a:r>
            <a:r>
              <a:rPr lang="fr-FR" sz="800" dirty="0"/>
              <a:t> </a:t>
            </a:r>
            <a:r>
              <a:rPr lang="fr-FR" sz="800" dirty="0" err="1"/>
              <a:t>net_revenue_usd</a:t>
            </a:r>
            <a:r>
              <a:rPr lang="fr-FR" sz="800" dirty="0"/>
              <a:t>,</a:t>
            </a:r>
          </a:p>
          <a:p>
            <a:r>
              <a:rPr lang="fr-FR" sz="800" b="1" dirty="0"/>
              <a:t>SUM</a:t>
            </a:r>
            <a:r>
              <a:rPr lang="fr-FR" sz="800" dirty="0"/>
              <a:t>(</a:t>
            </a:r>
            <a:r>
              <a:rPr lang="fr-FR" sz="800" b="1" dirty="0"/>
              <a:t>case</a:t>
            </a:r>
            <a:r>
              <a:rPr lang="fr-FR" sz="800" dirty="0"/>
              <a:t> </a:t>
            </a:r>
            <a:r>
              <a:rPr lang="fr-FR" sz="800" b="1" dirty="0" err="1"/>
              <a:t>when</a:t>
            </a:r>
            <a:r>
              <a:rPr lang="fr-FR" sz="800" dirty="0"/>
              <a:t> </a:t>
            </a:r>
            <a:r>
              <a:rPr lang="fr-FR" sz="800" dirty="0" err="1"/>
              <a:t>ft.is_succeeded</a:t>
            </a:r>
            <a:r>
              <a:rPr lang="fr-FR" sz="800" dirty="0"/>
              <a:t> </a:t>
            </a:r>
            <a:r>
              <a:rPr lang="fr-FR" sz="800" b="1" dirty="0" err="1"/>
              <a:t>then</a:t>
            </a:r>
            <a:r>
              <a:rPr lang="fr-FR" sz="800" dirty="0"/>
              <a:t> 1 </a:t>
            </a:r>
            <a:r>
              <a:rPr lang="fr-FR" sz="800" b="1" dirty="0" err="1"/>
              <a:t>else</a:t>
            </a:r>
            <a:r>
              <a:rPr lang="fr-FR" sz="800" dirty="0"/>
              <a:t> 0 </a:t>
            </a:r>
            <a:r>
              <a:rPr lang="fr-FR" sz="800" b="1" dirty="0"/>
              <a:t>end</a:t>
            </a:r>
            <a:r>
              <a:rPr lang="fr-FR" sz="800" dirty="0"/>
              <a:t>) </a:t>
            </a:r>
            <a:r>
              <a:rPr lang="fr-FR" sz="800" b="1" dirty="0"/>
              <a:t>as</a:t>
            </a:r>
            <a:r>
              <a:rPr lang="fr-FR" sz="800" dirty="0"/>
              <a:t> </a:t>
            </a:r>
            <a:r>
              <a:rPr lang="fr-FR" sz="800" dirty="0" err="1"/>
              <a:t>succeeded_count</a:t>
            </a:r>
            <a:r>
              <a:rPr lang="fr-FR" sz="800" dirty="0"/>
              <a:t>,</a:t>
            </a:r>
          </a:p>
          <a:p>
            <a:r>
              <a:rPr lang="fr-FR" sz="800" b="1" dirty="0"/>
              <a:t>SUM</a:t>
            </a:r>
            <a:r>
              <a:rPr lang="fr-FR" sz="800" dirty="0"/>
              <a:t>(</a:t>
            </a:r>
            <a:r>
              <a:rPr lang="fr-FR" sz="800" b="1" dirty="0"/>
              <a:t>case</a:t>
            </a:r>
            <a:r>
              <a:rPr lang="fr-FR" sz="800" dirty="0"/>
              <a:t> </a:t>
            </a:r>
            <a:r>
              <a:rPr lang="fr-FR" sz="800" b="1" dirty="0" err="1"/>
              <a:t>when</a:t>
            </a:r>
            <a:r>
              <a:rPr lang="fr-FR" sz="800" dirty="0"/>
              <a:t> </a:t>
            </a:r>
            <a:r>
              <a:rPr lang="fr-FR" sz="800" dirty="0" err="1"/>
              <a:t>ft.is_fraud</a:t>
            </a:r>
            <a:r>
              <a:rPr lang="fr-FR" sz="800" dirty="0"/>
              <a:t> </a:t>
            </a:r>
            <a:r>
              <a:rPr lang="fr-FR" sz="800" b="1" dirty="0" err="1"/>
              <a:t>then</a:t>
            </a:r>
            <a:r>
              <a:rPr lang="fr-FR" sz="800" dirty="0"/>
              <a:t> 1 </a:t>
            </a:r>
            <a:r>
              <a:rPr lang="fr-FR" sz="800" b="1" dirty="0" err="1"/>
              <a:t>else</a:t>
            </a:r>
            <a:r>
              <a:rPr lang="fr-FR" sz="800" dirty="0"/>
              <a:t> 0 </a:t>
            </a:r>
            <a:r>
              <a:rPr lang="fr-FR" sz="800" b="1" dirty="0"/>
              <a:t>end</a:t>
            </a:r>
            <a:r>
              <a:rPr lang="fr-FR" sz="800" dirty="0"/>
              <a:t>) </a:t>
            </a:r>
            <a:r>
              <a:rPr lang="fr-FR" sz="800" b="1" dirty="0"/>
              <a:t>as</a:t>
            </a:r>
            <a:r>
              <a:rPr lang="fr-FR" sz="800" dirty="0"/>
              <a:t> </a:t>
            </a:r>
            <a:r>
              <a:rPr lang="fr-FR" sz="800" dirty="0" err="1"/>
              <a:t>fraud_count</a:t>
            </a:r>
            <a:r>
              <a:rPr lang="fr-FR" sz="800" dirty="0"/>
              <a:t>,</a:t>
            </a:r>
          </a:p>
          <a:p>
            <a:r>
              <a:rPr lang="fr-FR" sz="800" b="1" dirty="0"/>
              <a:t>ROUND</a:t>
            </a:r>
            <a:r>
              <a:rPr lang="fr-FR" sz="800" dirty="0"/>
              <a:t>(</a:t>
            </a:r>
            <a:r>
              <a:rPr lang="fr-FR" sz="800" b="1" dirty="0"/>
              <a:t>SUM</a:t>
            </a:r>
            <a:r>
              <a:rPr lang="fr-FR" sz="800" dirty="0"/>
              <a:t>(</a:t>
            </a:r>
            <a:r>
              <a:rPr lang="fr-FR" sz="800" b="1" dirty="0"/>
              <a:t>case</a:t>
            </a:r>
            <a:r>
              <a:rPr lang="fr-FR" sz="800" dirty="0"/>
              <a:t> </a:t>
            </a:r>
            <a:r>
              <a:rPr lang="fr-FR" sz="800" b="1" dirty="0" err="1"/>
              <a:t>when</a:t>
            </a:r>
            <a:r>
              <a:rPr lang="fr-FR" sz="800" dirty="0"/>
              <a:t> </a:t>
            </a:r>
            <a:r>
              <a:rPr lang="fr-FR" sz="800" dirty="0" err="1"/>
              <a:t>ft.is_succeeded</a:t>
            </a:r>
            <a:r>
              <a:rPr lang="fr-FR" sz="800" dirty="0"/>
              <a:t> </a:t>
            </a:r>
            <a:r>
              <a:rPr lang="fr-FR" sz="800" b="1" dirty="0" err="1"/>
              <a:t>then</a:t>
            </a:r>
            <a:r>
              <a:rPr lang="fr-FR" sz="800" dirty="0"/>
              <a:t> 1.0 </a:t>
            </a:r>
            <a:r>
              <a:rPr lang="fr-FR" sz="800" b="1" dirty="0" err="1"/>
              <a:t>else</a:t>
            </a:r>
            <a:r>
              <a:rPr lang="fr-FR" sz="800" dirty="0"/>
              <a:t> 0 </a:t>
            </a:r>
            <a:r>
              <a:rPr lang="fr-FR" sz="800" b="1" dirty="0"/>
              <a:t>end</a:t>
            </a:r>
            <a:r>
              <a:rPr lang="fr-FR" sz="800" dirty="0"/>
              <a:t>)</a:t>
            </a:r>
          </a:p>
          <a:p>
            <a:r>
              <a:rPr lang="fr-FR" sz="800" dirty="0"/>
              <a:t>/ </a:t>
            </a:r>
            <a:r>
              <a:rPr lang="fr-FR" sz="800" b="1" dirty="0" err="1"/>
              <a:t>nullif</a:t>
            </a:r>
            <a:r>
              <a:rPr lang="fr-FR" sz="800" dirty="0"/>
              <a:t>(</a:t>
            </a:r>
            <a:r>
              <a:rPr lang="fr-FR" sz="800" b="1" dirty="0"/>
              <a:t>COUNT</a:t>
            </a:r>
            <a:r>
              <a:rPr lang="fr-FR" sz="800" dirty="0"/>
              <a:t>(*), 0) * 100, 2) </a:t>
            </a:r>
            <a:r>
              <a:rPr lang="fr-FR" sz="800" b="1" dirty="0"/>
              <a:t>as</a:t>
            </a:r>
            <a:r>
              <a:rPr lang="fr-FR" sz="800" dirty="0"/>
              <a:t> </a:t>
            </a:r>
            <a:r>
              <a:rPr lang="fr-FR" sz="800" dirty="0" err="1"/>
              <a:t>success_rate_pct</a:t>
            </a:r>
            <a:endParaRPr lang="fr-FR" sz="800" dirty="0"/>
          </a:p>
          <a:p>
            <a:r>
              <a:rPr lang="fr-FR" sz="800" b="1" dirty="0" err="1"/>
              <a:t>from</a:t>
            </a:r>
            <a:endParaRPr lang="fr-FR" sz="800" dirty="0"/>
          </a:p>
          <a:p>
            <a:r>
              <a:rPr lang="fr-FR" sz="800" dirty="0" err="1"/>
              <a:t>fact_transactions</a:t>
            </a:r>
            <a:r>
              <a:rPr lang="fr-FR" sz="800" dirty="0"/>
              <a:t> </a:t>
            </a:r>
            <a:r>
              <a:rPr lang="fr-FR" sz="800" dirty="0" err="1"/>
              <a:t>ft</a:t>
            </a:r>
            <a:endParaRPr lang="fr-FR" sz="800" dirty="0"/>
          </a:p>
          <a:p>
            <a:r>
              <a:rPr lang="fr-FR" sz="800" b="1" dirty="0" err="1"/>
              <a:t>join</a:t>
            </a:r>
            <a:r>
              <a:rPr lang="fr-FR" sz="800" dirty="0"/>
              <a:t> </a:t>
            </a:r>
            <a:r>
              <a:rPr lang="fr-FR" sz="800" dirty="0" err="1"/>
              <a:t>dim_time</a:t>
            </a:r>
            <a:r>
              <a:rPr lang="fr-FR" sz="800" dirty="0"/>
              <a:t> </a:t>
            </a:r>
            <a:r>
              <a:rPr lang="fr-FR" sz="800" dirty="0" err="1"/>
              <a:t>dt</a:t>
            </a:r>
            <a:r>
              <a:rPr lang="fr-FR" sz="800" dirty="0"/>
              <a:t> </a:t>
            </a:r>
            <a:r>
              <a:rPr lang="fr-FR" sz="800" b="1" dirty="0"/>
              <a:t>on</a:t>
            </a:r>
            <a:endParaRPr lang="fr-FR" sz="800" dirty="0"/>
          </a:p>
          <a:p>
            <a:r>
              <a:rPr lang="fr-FR" sz="800" dirty="0" err="1"/>
              <a:t>ft.time_key</a:t>
            </a:r>
            <a:r>
              <a:rPr lang="fr-FR" sz="800" dirty="0"/>
              <a:t> = </a:t>
            </a:r>
            <a:r>
              <a:rPr lang="fr-FR" sz="800" dirty="0" err="1"/>
              <a:t>dt.time_key</a:t>
            </a:r>
            <a:endParaRPr lang="fr-FR" sz="800" dirty="0"/>
          </a:p>
          <a:p>
            <a:r>
              <a:rPr lang="fr-FR" sz="800" b="1" dirty="0" err="1"/>
              <a:t>join</a:t>
            </a:r>
            <a:r>
              <a:rPr lang="fr-FR" sz="800" dirty="0"/>
              <a:t> </a:t>
            </a:r>
            <a:r>
              <a:rPr lang="fr-FR" sz="800" dirty="0" err="1"/>
              <a:t>dim_merchant</a:t>
            </a:r>
            <a:r>
              <a:rPr lang="fr-FR" sz="800" dirty="0"/>
              <a:t> dm </a:t>
            </a:r>
            <a:r>
              <a:rPr lang="fr-FR" sz="800" b="1" dirty="0"/>
              <a:t>on</a:t>
            </a:r>
            <a:endParaRPr lang="fr-FR" sz="800" dirty="0"/>
          </a:p>
          <a:p>
            <a:r>
              <a:rPr lang="fr-FR" sz="800" dirty="0" err="1"/>
              <a:t>ft.merchant_key</a:t>
            </a:r>
            <a:r>
              <a:rPr lang="fr-FR" sz="800" dirty="0"/>
              <a:t> = </a:t>
            </a:r>
            <a:r>
              <a:rPr lang="fr-FR" sz="800" dirty="0" err="1"/>
              <a:t>dm.merchant_key</a:t>
            </a:r>
            <a:endParaRPr lang="fr-FR" sz="800" dirty="0"/>
          </a:p>
          <a:p>
            <a:r>
              <a:rPr lang="fr-FR" sz="800" b="1" dirty="0" err="1"/>
              <a:t>where</a:t>
            </a:r>
            <a:endParaRPr lang="fr-FR" sz="800" dirty="0"/>
          </a:p>
          <a:p>
            <a:r>
              <a:rPr lang="fr-FR" sz="800" dirty="0" err="1"/>
              <a:t>dm.is_current</a:t>
            </a:r>
            <a:r>
              <a:rPr lang="fr-FR" sz="800" dirty="0"/>
              <a:t> = </a:t>
            </a:r>
            <a:r>
              <a:rPr lang="fr-FR" sz="800" b="1" dirty="0" err="1"/>
              <a:t>true</a:t>
            </a:r>
            <a:endParaRPr lang="fr-FR" sz="800" dirty="0"/>
          </a:p>
          <a:p>
            <a:r>
              <a:rPr lang="fr-FR" sz="800" b="1" dirty="0"/>
              <a:t>group</a:t>
            </a:r>
            <a:r>
              <a:rPr lang="fr-FR" sz="800" dirty="0"/>
              <a:t> </a:t>
            </a:r>
            <a:r>
              <a:rPr lang="fr-FR" sz="800" b="1" dirty="0"/>
              <a:t>by</a:t>
            </a:r>
            <a:endParaRPr lang="fr-FR" sz="800" dirty="0"/>
          </a:p>
          <a:p>
            <a:r>
              <a:rPr lang="fr-FR" sz="800" dirty="0" err="1"/>
              <a:t>dt.full_date</a:t>
            </a:r>
            <a:r>
              <a:rPr lang="fr-FR" sz="800" dirty="0"/>
              <a:t>,</a:t>
            </a:r>
          </a:p>
          <a:p>
            <a:r>
              <a:rPr lang="fr-FR" sz="800" dirty="0" err="1"/>
              <a:t>dt.</a:t>
            </a:r>
            <a:r>
              <a:rPr lang="fr-FR" sz="800" b="1" dirty="0" err="1"/>
              <a:t>year</a:t>
            </a:r>
            <a:r>
              <a:rPr lang="fr-FR" sz="800" dirty="0"/>
              <a:t>,</a:t>
            </a:r>
          </a:p>
          <a:p>
            <a:r>
              <a:rPr lang="fr-FR" sz="800" dirty="0" err="1"/>
              <a:t>dt.</a:t>
            </a:r>
            <a:r>
              <a:rPr lang="fr-FR" sz="800" b="1" dirty="0" err="1"/>
              <a:t>month</a:t>
            </a:r>
            <a:r>
              <a:rPr lang="fr-FR" sz="800" dirty="0"/>
              <a:t>,</a:t>
            </a:r>
          </a:p>
          <a:p>
            <a:r>
              <a:rPr lang="fr-FR" sz="800" dirty="0" err="1"/>
              <a:t>dm.merchant_key</a:t>
            </a:r>
            <a:r>
              <a:rPr lang="fr-FR" sz="800" dirty="0"/>
              <a:t>,</a:t>
            </a:r>
          </a:p>
          <a:p>
            <a:r>
              <a:rPr lang="fr-FR" sz="800" dirty="0" err="1"/>
              <a:t>dm.stripe_merchant_id</a:t>
            </a:r>
            <a:r>
              <a:rPr lang="fr-FR" sz="800" dirty="0"/>
              <a:t>,</a:t>
            </a:r>
          </a:p>
          <a:p>
            <a:r>
              <a:rPr lang="fr-FR" sz="800" dirty="0" err="1"/>
              <a:t>dm.business_name</a:t>
            </a:r>
            <a:r>
              <a:rPr lang="fr-FR" sz="800" dirty="0"/>
              <a:t>,</a:t>
            </a:r>
          </a:p>
          <a:p>
            <a:r>
              <a:rPr lang="fr-FR" sz="800" dirty="0" err="1"/>
              <a:t>dm.country_code</a:t>
            </a:r>
            <a:r>
              <a:rPr lang="fr-FR" sz="800" dirty="0"/>
              <a:t>,</a:t>
            </a:r>
          </a:p>
          <a:p>
            <a:r>
              <a:rPr lang="fr-FR" sz="800" dirty="0" err="1"/>
              <a:t>dm.size_segment</a:t>
            </a:r>
            <a:endParaRPr lang="fr-FR" sz="800" dirty="0"/>
          </a:p>
          <a:p>
            <a:r>
              <a:rPr lang="fr-FR" sz="800" b="1" dirty="0" err="1"/>
              <a:t>with</a:t>
            </a:r>
            <a:r>
              <a:rPr lang="fr-FR" sz="800" dirty="0"/>
              <a:t> </a:t>
            </a:r>
            <a:r>
              <a:rPr lang="fr-FR" sz="800" b="1" dirty="0"/>
              <a:t>no</a:t>
            </a:r>
            <a:r>
              <a:rPr lang="fr-FR" sz="800" dirty="0"/>
              <a:t> </a:t>
            </a:r>
            <a:r>
              <a:rPr lang="fr-FR" sz="800" b="1" dirty="0" err="1"/>
              <a:t>schema</a:t>
            </a:r>
            <a:r>
              <a:rPr lang="fr-FR" sz="800" dirty="0"/>
              <a:t> BINDING;</a:t>
            </a:r>
          </a:p>
        </p:txBody>
      </p:sp>
      <p:sp>
        <p:nvSpPr>
          <p:cNvPr id="4" name="Espace réservé du numéro de diapositive 3">
            <a:extLst>
              <a:ext uri="{FF2B5EF4-FFF2-40B4-BE49-F238E27FC236}">
                <a16:creationId xmlns:a16="http://schemas.microsoft.com/office/drawing/2014/main" id="{61B9993C-4E91-B89A-CB4F-6785FE1FC6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698" y="256518"/>
            <a:ext cx="8520600" cy="572700"/>
          </a:xfrm>
        </p:spPr>
        <p:txBody>
          <a:bodyPr/>
          <a:lstStyle/>
          <a:p>
            <a:r>
              <a:rPr sz="2000" b="1" dirty="0" err="1">
                <a:solidFill>
                  <a:srgbClr val="212121"/>
                </a:solidFill>
                <a:latin typeface="Arial"/>
              </a:rPr>
              <a:t>Modèle</a:t>
            </a:r>
            <a:r>
              <a:rPr sz="2000" b="1" dirty="0">
                <a:solidFill>
                  <a:srgbClr val="212121"/>
                </a:solidFill>
                <a:latin typeface="Arial"/>
              </a:rPr>
              <a:t> NoSQL — DynamoDB Single Table Design</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170432"/>
          <a:ext cx="8412480" cy="2916935"/>
        </p:xfrm>
        <a:graphic>
          <a:graphicData uri="http://schemas.openxmlformats.org/drawingml/2006/table">
            <a:tbl>
              <a:tblPr firstRow="1" bandRow="1">
                <a:tableStyleId>{5C22544A-7EE6-4342-B048-85BDC9FD1C3A}</a:tableStyleId>
              </a:tblPr>
              <a:tblGrid>
                <a:gridCol w="2804160">
                  <a:extLst>
                    <a:ext uri="{9D8B030D-6E8A-4147-A177-3AD203B41FA5}">
                      <a16:colId xmlns:a16="http://schemas.microsoft.com/office/drawing/2014/main" val="20000"/>
                    </a:ext>
                  </a:extLst>
                </a:gridCol>
                <a:gridCol w="280416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tblGrid>
              <a:tr h="729233">
                <a:tc>
                  <a:txBody>
                    <a:bodyPr/>
                    <a:lstStyle/>
                    <a:p>
                      <a:pPr algn="ctr"/>
                      <a:r>
                        <a:rPr sz="1100" b="1">
                          <a:solidFill>
                            <a:srgbClr val="FFFFFF"/>
                          </a:solidFill>
                          <a:latin typeface="Arial"/>
                        </a:rPr>
                        <a:t>Clé de partition (PK)</a:t>
                      </a:r>
                    </a:p>
                  </a:txBody>
                  <a:tcPr>
                    <a:solidFill>
                      <a:srgbClr val="FFAB40"/>
                    </a:solidFill>
                  </a:tcPr>
                </a:tc>
                <a:tc>
                  <a:txBody>
                    <a:bodyPr/>
                    <a:lstStyle/>
                    <a:p>
                      <a:pPr algn="ctr"/>
                      <a:r>
                        <a:rPr sz="1100" b="1">
                          <a:solidFill>
                            <a:srgbClr val="FFFFFF"/>
                          </a:solidFill>
                          <a:latin typeface="Arial"/>
                        </a:rPr>
                        <a:t>Clé de tri (SK)</a:t>
                      </a:r>
                    </a:p>
                  </a:txBody>
                  <a:tcPr>
                    <a:solidFill>
                      <a:srgbClr val="FFAB40"/>
                    </a:solidFill>
                  </a:tcPr>
                </a:tc>
                <a:tc>
                  <a:txBody>
                    <a:bodyPr/>
                    <a:lstStyle/>
                    <a:p>
                      <a:pPr algn="ctr"/>
                      <a:r>
                        <a:rPr sz="1100" b="1">
                          <a:solidFill>
                            <a:srgbClr val="FFFFFF"/>
                          </a:solidFill>
                          <a:latin typeface="Arial"/>
                        </a:rPr>
                        <a:t>Contenu</a:t>
                      </a:r>
                    </a:p>
                  </a:txBody>
                  <a:tcPr>
                    <a:solidFill>
                      <a:srgbClr val="FFAB40"/>
                    </a:solidFill>
                  </a:tcPr>
                </a:tc>
                <a:extLst>
                  <a:ext uri="{0D108BD9-81ED-4DB2-BD59-A6C34878D82A}">
                    <a16:rowId xmlns:a16="http://schemas.microsoft.com/office/drawing/2014/main" val="10000"/>
                  </a:ext>
                </a:extLst>
              </a:tr>
              <a:tr h="729233">
                <a:tc>
                  <a:txBody>
                    <a:bodyPr/>
                    <a:lstStyle/>
                    <a:p>
                      <a:pPr algn="l"/>
                      <a:r>
                        <a:rPr sz="1050">
                          <a:solidFill>
                            <a:srgbClr val="212121"/>
                          </a:solidFill>
                          <a:latin typeface="Arial"/>
                        </a:rPr>
                        <a:t>CUSTOMER#id</a:t>
                      </a:r>
                    </a:p>
                  </a:txBody>
                  <a:tcPr>
                    <a:solidFill>
                      <a:srgbClr val="FFFFFF"/>
                    </a:solidFill>
                  </a:tcPr>
                </a:tc>
                <a:tc>
                  <a:txBody>
                    <a:bodyPr/>
                    <a:lstStyle/>
                    <a:p>
                      <a:pPr algn="ctr"/>
                      <a:r>
                        <a:rPr sz="1050">
                          <a:solidFill>
                            <a:srgbClr val="212121"/>
                          </a:solidFill>
                          <a:latin typeface="Arial"/>
                        </a:rPr>
                        <a:t>FEATURE#fraud#timestamp</a:t>
                      </a:r>
                    </a:p>
                  </a:txBody>
                  <a:tcPr>
                    <a:solidFill>
                      <a:srgbClr val="FFFFFF"/>
                    </a:solidFill>
                  </a:tcPr>
                </a:tc>
                <a:tc>
                  <a:txBody>
                    <a:bodyPr/>
                    <a:lstStyle/>
                    <a:p>
                      <a:pPr algn="ctr"/>
                      <a:r>
                        <a:rPr sz="1050">
                          <a:solidFill>
                            <a:srgbClr val="212121"/>
                          </a:solidFill>
                          <a:latin typeface="Arial"/>
                        </a:rPr>
                        <a:t>Features de fraude client</a:t>
                      </a:r>
                    </a:p>
                  </a:txBody>
                  <a:tcPr>
                    <a:solidFill>
                      <a:srgbClr val="FFFFFF"/>
                    </a:solidFill>
                  </a:tcPr>
                </a:tc>
                <a:extLst>
                  <a:ext uri="{0D108BD9-81ED-4DB2-BD59-A6C34878D82A}">
                    <a16:rowId xmlns:a16="http://schemas.microsoft.com/office/drawing/2014/main" val="10001"/>
                  </a:ext>
                </a:extLst>
              </a:tr>
              <a:tr h="729233">
                <a:tc>
                  <a:txBody>
                    <a:bodyPr/>
                    <a:lstStyle/>
                    <a:p>
                      <a:pPr algn="l"/>
                      <a:r>
                        <a:rPr sz="1050">
                          <a:solidFill>
                            <a:srgbClr val="212121"/>
                          </a:solidFill>
                          <a:latin typeface="Arial"/>
                        </a:rPr>
                        <a:t>TRANSACTION#id</a:t>
                      </a:r>
                    </a:p>
                  </a:txBody>
                  <a:tcPr>
                    <a:solidFill>
                      <a:srgbClr val="EEEEEE"/>
                    </a:solidFill>
                  </a:tcPr>
                </a:tc>
                <a:tc>
                  <a:txBody>
                    <a:bodyPr/>
                    <a:lstStyle/>
                    <a:p>
                      <a:pPr algn="ctr"/>
                      <a:r>
                        <a:rPr sz="1050">
                          <a:solidFill>
                            <a:srgbClr val="212121"/>
                          </a:solidFill>
                          <a:latin typeface="Arial"/>
                        </a:rPr>
                        <a:t>SCORE#realtime</a:t>
                      </a:r>
                    </a:p>
                  </a:txBody>
                  <a:tcPr>
                    <a:solidFill>
                      <a:srgbClr val="EEEEEE"/>
                    </a:solidFill>
                  </a:tcPr>
                </a:tc>
                <a:tc>
                  <a:txBody>
                    <a:bodyPr/>
                    <a:lstStyle/>
                    <a:p>
                      <a:pPr algn="ctr"/>
                      <a:r>
                        <a:rPr sz="1050">
                          <a:solidFill>
                            <a:srgbClr val="212121"/>
                          </a:solidFill>
                          <a:latin typeface="Arial"/>
                        </a:rPr>
                        <a:t>Score de fraude temps réel</a:t>
                      </a:r>
                    </a:p>
                  </a:txBody>
                  <a:tcPr>
                    <a:solidFill>
                      <a:srgbClr val="EEEEEE"/>
                    </a:solidFill>
                  </a:tcPr>
                </a:tc>
                <a:extLst>
                  <a:ext uri="{0D108BD9-81ED-4DB2-BD59-A6C34878D82A}">
                    <a16:rowId xmlns:a16="http://schemas.microsoft.com/office/drawing/2014/main" val="10002"/>
                  </a:ext>
                </a:extLst>
              </a:tr>
              <a:tr h="729236">
                <a:tc>
                  <a:txBody>
                    <a:bodyPr/>
                    <a:lstStyle/>
                    <a:p>
                      <a:pPr algn="l"/>
                      <a:r>
                        <a:rPr sz="1050">
                          <a:solidFill>
                            <a:srgbClr val="212121"/>
                          </a:solidFill>
                          <a:latin typeface="Arial"/>
                        </a:rPr>
                        <a:t>SESSION#id</a:t>
                      </a:r>
                    </a:p>
                  </a:txBody>
                  <a:tcPr>
                    <a:solidFill>
                      <a:srgbClr val="FFFFFF"/>
                    </a:solidFill>
                  </a:tcPr>
                </a:tc>
                <a:tc>
                  <a:txBody>
                    <a:bodyPr/>
                    <a:lstStyle/>
                    <a:p>
                      <a:pPr algn="ctr"/>
                      <a:r>
                        <a:rPr sz="1050">
                          <a:solidFill>
                            <a:srgbClr val="212121"/>
                          </a:solidFill>
                          <a:latin typeface="Arial"/>
                        </a:rPr>
                        <a:t>METADATA</a:t>
                      </a:r>
                    </a:p>
                  </a:txBody>
                  <a:tcPr>
                    <a:solidFill>
                      <a:srgbClr val="FFFFFF"/>
                    </a:solidFill>
                  </a:tcPr>
                </a:tc>
                <a:tc>
                  <a:txBody>
                    <a:bodyPr/>
                    <a:lstStyle/>
                    <a:p>
                      <a:pPr algn="ctr"/>
                      <a:r>
                        <a:rPr sz="1050">
                          <a:solidFill>
                            <a:srgbClr val="212121"/>
                          </a:solidFill>
                          <a:latin typeface="Arial"/>
                        </a:rPr>
                        <a:t>Session utilisateur</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1 table, préfixes par type d'entité</a:t>
            </a:r>
          </a:p>
        </p:txBody>
      </p:sp>
      <p:sp>
        <p:nvSpPr>
          <p:cNvPr id="6" name="TextBox 5"/>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3 GSI (marchand, modèle, risque)</a:t>
            </a:r>
          </a:p>
        </p:txBody>
      </p:sp>
      <p:sp>
        <p:nvSpPr>
          <p:cNvPr id="7" name="TextBox 6"/>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Cache DAX &lt; 1 ms</a:t>
            </a:r>
          </a:p>
        </p:txBody>
      </p:sp>
      <p:sp>
        <p:nvSpPr>
          <p:cNvPr id="9" name="Google Shape;76;p15">
            <a:extLst>
              <a:ext uri="{FF2B5EF4-FFF2-40B4-BE49-F238E27FC236}">
                <a16:creationId xmlns:a16="http://schemas.microsoft.com/office/drawing/2014/main" id="{50EA3AA8-BBED-2DE5-8463-18DB729D8571}"/>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Espace réservé du numéro de diapositive 7">
            <a:extLst>
              <a:ext uri="{FF2B5EF4-FFF2-40B4-BE49-F238E27FC236}">
                <a16:creationId xmlns:a16="http://schemas.microsoft.com/office/drawing/2014/main" id="{CDAB67D2-7903-3386-494F-263B5E8B62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23</a:t>
            </a:fld>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212121"/>
                </a:solidFill>
                <a:latin typeface="Arial"/>
              </a:rPr>
              <a:t>Pipeline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Google Shape;76;p15">
            <a:extLst>
              <a:ext uri="{FF2B5EF4-FFF2-40B4-BE49-F238E27FC236}">
                <a16:creationId xmlns:a16="http://schemas.microsoft.com/office/drawing/2014/main" id="{207EE6B5-CAA0-644C-D9C4-A8EEE89594A8}"/>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 name="Image 23">
            <a:extLst>
              <a:ext uri="{FF2B5EF4-FFF2-40B4-BE49-F238E27FC236}">
                <a16:creationId xmlns:a16="http://schemas.microsoft.com/office/drawing/2014/main" id="{A20A245F-4AC8-B8AC-BC68-DCC9A51829D6}"/>
              </a:ext>
            </a:extLst>
          </p:cNvPr>
          <p:cNvPicPr>
            <a:picLocks noChangeAspect="1"/>
          </p:cNvPicPr>
          <p:nvPr/>
        </p:nvPicPr>
        <p:blipFill>
          <a:blip r:embed="rId3"/>
          <a:stretch>
            <a:fillRect/>
          </a:stretch>
        </p:blipFill>
        <p:spPr>
          <a:xfrm>
            <a:off x="391886" y="1856556"/>
            <a:ext cx="8592457" cy="1430388"/>
          </a:xfrm>
          <a:prstGeom prst="rect">
            <a:avLst/>
          </a:prstGeom>
        </p:spPr>
      </p:pic>
      <p:sp>
        <p:nvSpPr>
          <p:cNvPr id="4" name="Espace réservé du numéro de diapositive 3">
            <a:extLst>
              <a:ext uri="{FF2B5EF4-FFF2-40B4-BE49-F238E27FC236}">
                <a16:creationId xmlns:a16="http://schemas.microsoft.com/office/drawing/2014/main" id="{CFA49961-CA9F-D358-5E99-8BFBA34EF2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24</a:t>
            </a:fld>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Sécurité et conformité par construction</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554480" cy="862583"/>
          </a:xfrm>
          <a:prstGeom prst="rect">
            <a:avLst/>
          </a:prstGeom>
          <a:noFill/>
        </p:spPr>
        <p:txBody>
          <a:bodyPr wrap="square" lIns="0" tIns="0" rIns="0" bIns="0" anchor="ctr">
            <a:spAutoFit/>
          </a:bodyPr>
          <a:lstStyle/>
          <a:p>
            <a:pPr algn="l"/>
            <a:r>
              <a:rPr sz="1100" b="1" i="0">
                <a:solidFill>
                  <a:srgbClr val="212121"/>
                </a:solidFill>
                <a:latin typeface="Arial"/>
              </a:rPr>
              <a:t>Sécurité</a:t>
            </a:r>
          </a:p>
        </p:txBody>
      </p:sp>
      <p:sp>
        <p:nvSpPr>
          <p:cNvPr id="5" name="Rounded Rectangle 4"/>
          <p:cNvSpPr/>
          <p:nvPr/>
        </p:nvSpPr>
        <p:spPr>
          <a:xfrm>
            <a:off x="2011680" y="1170432"/>
            <a:ext cx="1609343"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Tokenisation PAN</a:t>
            </a:r>
          </a:p>
        </p:txBody>
      </p:sp>
      <p:sp>
        <p:nvSpPr>
          <p:cNvPr id="6" name="Rounded Rectangle 5"/>
          <p:cNvSpPr/>
          <p:nvPr/>
        </p:nvSpPr>
        <p:spPr>
          <a:xfrm>
            <a:off x="3730752" y="1170432"/>
            <a:ext cx="1609343"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AES-256 + TLS 1.3</a:t>
            </a:r>
          </a:p>
        </p:txBody>
      </p:sp>
      <p:sp>
        <p:nvSpPr>
          <p:cNvPr id="7" name="Rounded Rectangle 6"/>
          <p:cNvSpPr/>
          <p:nvPr/>
        </p:nvSpPr>
        <p:spPr>
          <a:xfrm>
            <a:off x="5449824" y="1170432"/>
            <a:ext cx="1609343"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VPC Zero Trust (IAM, MFA)</a:t>
            </a:r>
          </a:p>
        </p:txBody>
      </p:sp>
      <p:sp>
        <p:nvSpPr>
          <p:cNvPr id="8" name="Rounded Rectangle 7"/>
          <p:cNvSpPr/>
          <p:nvPr/>
        </p:nvSpPr>
        <p:spPr>
          <a:xfrm>
            <a:off x="7168896" y="1170432"/>
            <a:ext cx="1609343"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Audit → CloudTrail → SIEM</a:t>
            </a:r>
          </a:p>
        </p:txBody>
      </p:sp>
      <p:sp>
        <p:nvSpPr>
          <p:cNvPr id="9" name="TextBox 8"/>
          <p:cNvSpPr txBox="1"/>
          <p:nvPr/>
        </p:nvSpPr>
        <p:spPr>
          <a:xfrm>
            <a:off x="365760" y="2197608"/>
            <a:ext cx="1554480" cy="862583"/>
          </a:xfrm>
          <a:prstGeom prst="rect">
            <a:avLst/>
          </a:prstGeom>
          <a:noFill/>
        </p:spPr>
        <p:txBody>
          <a:bodyPr wrap="square" lIns="0" tIns="0" rIns="0" bIns="0" anchor="ctr">
            <a:spAutoFit/>
          </a:bodyPr>
          <a:lstStyle/>
          <a:p>
            <a:pPr algn="l"/>
            <a:r>
              <a:rPr sz="1100" b="1" i="0">
                <a:solidFill>
                  <a:srgbClr val="212121"/>
                </a:solidFill>
                <a:latin typeface="Arial"/>
              </a:rPr>
              <a:t>Conformité</a:t>
            </a:r>
          </a:p>
        </p:txBody>
      </p:sp>
      <p:sp>
        <p:nvSpPr>
          <p:cNvPr id="10" name="Rounded Rectangle 9"/>
          <p:cNvSpPr/>
          <p:nvPr/>
        </p:nvSpPr>
        <p:spPr>
          <a:xfrm>
            <a:off x="2011680"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PCI-DSS Niveau 1</a:t>
            </a:r>
          </a:p>
        </p:txBody>
      </p:sp>
      <p:sp>
        <p:nvSpPr>
          <p:cNvPr id="11" name="Rounded Rectangle 10"/>
          <p:cNvSpPr/>
          <p:nvPr/>
        </p:nvSpPr>
        <p:spPr>
          <a:xfrm>
            <a:off x="4303776"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RGPD (TTL, droit à l'oubli)</a:t>
            </a:r>
          </a:p>
        </p:txBody>
      </p:sp>
      <p:sp>
        <p:nvSpPr>
          <p:cNvPr id="12" name="Rounded Rectangle 11"/>
          <p:cNvSpPr/>
          <p:nvPr/>
        </p:nvSpPr>
        <p:spPr>
          <a:xfrm>
            <a:off x="6595872"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CCPA (localisation données)</a:t>
            </a:r>
          </a:p>
        </p:txBody>
      </p:sp>
      <p:sp>
        <p:nvSpPr>
          <p:cNvPr id="13" name="TextBox 12"/>
          <p:cNvSpPr txBox="1"/>
          <p:nvPr/>
        </p:nvSpPr>
        <p:spPr>
          <a:xfrm>
            <a:off x="365760" y="3224783"/>
            <a:ext cx="1554480" cy="862583"/>
          </a:xfrm>
          <a:prstGeom prst="rect">
            <a:avLst/>
          </a:prstGeom>
          <a:noFill/>
        </p:spPr>
        <p:txBody>
          <a:bodyPr wrap="square" lIns="0" tIns="0" rIns="0" bIns="0" anchor="ctr">
            <a:spAutoFit/>
          </a:bodyPr>
          <a:lstStyle/>
          <a:p>
            <a:pPr algn="l"/>
            <a:r>
              <a:rPr sz="1100" b="1" i="0">
                <a:solidFill>
                  <a:srgbClr val="212121"/>
                </a:solidFill>
                <a:latin typeface="Arial"/>
              </a:rPr>
              <a:t>Scalabilité</a:t>
            </a:r>
          </a:p>
        </p:txBody>
      </p:sp>
      <p:sp>
        <p:nvSpPr>
          <p:cNvPr id="14" name="Rounded Rectangle 13"/>
          <p:cNvSpPr/>
          <p:nvPr/>
        </p:nvSpPr>
        <p:spPr>
          <a:xfrm>
            <a:off x="2011680" y="3224783"/>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Aurora : 15 réplicas</a:t>
            </a:r>
          </a:p>
        </p:txBody>
      </p:sp>
      <p:sp>
        <p:nvSpPr>
          <p:cNvPr id="15" name="Rounded Rectangle 14"/>
          <p:cNvSpPr/>
          <p:nvPr/>
        </p:nvSpPr>
        <p:spPr>
          <a:xfrm>
            <a:off x="4303776" y="3224783"/>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Redshift : 4→32 nœuds</a:t>
            </a:r>
          </a:p>
        </p:txBody>
      </p:sp>
      <p:sp>
        <p:nvSpPr>
          <p:cNvPr id="16" name="Rounded Rectangle 15"/>
          <p:cNvSpPr/>
          <p:nvPr/>
        </p:nvSpPr>
        <p:spPr>
          <a:xfrm>
            <a:off x="6595872" y="3224783"/>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DynamoDB : auto-scaling</a:t>
            </a:r>
          </a:p>
        </p:txBody>
      </p:sp>
      <p:sp>
        <p:nvSpPr>
          <p:cNvPr id="17" name="TextBox 16"/>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Aucun numéro de carte stocké</a:t>
            </a:r>
          </a:p>
        </p:txBody>
      </p:sp>
      <p:sp>
        <p:nvSpPr>
          <p:cNvPr id="18" name="TextBox 17"/>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Chiffrement au niveau du champ</a:t>
            </a:r>
          </a:p>
        </p:txBody>
      </p:sp>
      <p:sp>
        <p:nvSpPr>
          <p:cNvPr id="19" name="TextBox 18"/>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Montée en charge automatisée</a:t>
            </a:r>
          </a:p>
        </p:txBody>
      </p:sp>
      <p:sp>
        <p:nvSpPr>
          <p:cNvPr id="21" name="Google Shape;76;p15">
            <a:extLst>
              <a:ext uri="{FF2B5EF4-FFF2-40B4-BE49-F238E27FC236}">
                <a16:creationId xmlns:a16="http://schemas.microsoft.com/office/drawing/2014/main" id="{AF0202C2-E7ED-93C7-3698-1A6F8854ABB9}"/>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Espace réservé du numéro de diapositive 19">
            <a:extLst>
              <a:ext uri="{FF2B5EF4-FFF2-40B4-BE49-F238E27FC236}">
                <a16:creationId xmlns:a16="http://schemas.microsoft.com/office/drawing/2014/main" id="{0180888E-482C-A866-88E0-9D1D076F0A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25</a:t>
            </a:fld>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err="1">
                <a:solidFill>
                  <a:srgbClr val="212121"/>
                </a:solidFill>
                <a:latin typeface="Arial"/>
              </a:rPr>
              <a:t>Intégration</a:t>
            </a:r>
            <a:r>
              <a:rPr sz="2400" b="1" dirty="0">
                <a:solidFill>
                  <a:srgbClr val="212121"/>
                </a:solidFill>
                <a:latin typeface="Arial"/>
              </a:rPr>
              <a:t> ML — cycle de vie de la </a:t>
            </a:r>
            <a:r>
              <a:rPr sz="2400" b="1" dirty="0" err="1">
                <a:solidFill>
                  <a:srgbClr val="212121"/>
                </a:solidFill>
                <a:latin typeface="Arial"/>
              </a:rPr>
              <a:t>détection</a:t>
            </a:r>
            <a:r>
              <a:rPr sz="2400" b="1" dirty="0">
                <a:solidFill>
                  <a:srgbClr val="212121"/>
                </a:solidFill>
                <a:latin typeface="Arial"/>
              </a:rPr>
              <a:t> de </a:t>
            </a:r>
            <a:r>
              <a:rPr sz="2400" b="1" dirty="0" err="1">
                <a:solidFill>
                  <a:srgbClr val="212121"/>
                </a:solidFill>
                <a:latin typeface="Arial"/>
              </a:rPr>
              <a:t>fraude</a:t>
            </a:r>
            <a:endParaRPr sz="2400" b="1" dirty="0">
              <a:solidFill>
                <a:srgbClr val="212121"/>
              </a:solidFill>
              <a:latin typeface="Arial"/>
            </a:endParaRP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Chaque score versionné</a:t>
            </a:r>
          </a:p>
        </p:txBody>
      </p:sp>
      <p:sp>
        <p:nvSpPr>
          <p:cNvPr id="19" name="TextBox 18"/>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Explicabilité (SHAP) stockée</a:t>
            </a:r>
          </a:p>
        </p:txBody>
      </p:sp>
      <p:sp>
        <p:nvSpPr>
          <p:cNvPr id="20" name="TextBox 19"/>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Alerte si score moyen &gt; 0,5</a:t>
            </a:r>
          </a:p>
        </p:txBody>
      </p:sp>
      <p:sp>
        <p:nvSpPr>
          <p:cNvPr id="22" name="Google Shape;76;p15">
            <a:extLst>
              <a:ext uri="{FF2B5EF4-FFF2-40B4-BE49-F238E27FC236}">
                <a16:creationId xmlns:a16="http://schemas.microsoft.com/office/drawing/2014/main" id="{41A6FBCE-5119-592E-18C9-2B36ED53AF08}"/>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 name="Image 23">
            <a:extLst>
              <a:ext uri="{FF2B5EF4-FFF2-40B4-BE49-F238E27FC236}">
                <a16:creationId xmlns:a16="http://schemas.microsoft.com/office/drawing/2014/main" id="{1DB593D8-DDC1-6387-34F9-454CE9173106}"/>
              </a:ext>
            </a:extLst>
          </p:cNvPr>
          <p:cNvPicPr>
            <a:picLocks noChangeAspect="1"/>
          </p:cNvPicPr>
          <p:nvPr/>
        </p:nvPicPr>
        <p:blipFill>
          <a:blip r:embed="rId3"/>
          <a:stretch>
            <a:fillRect/>
          </a:stretch>
        </p:blipFill>
        <p:spPr>
          <a:xfrm>
            <a:off x="0" y="1387697"/>
            <a:ext cx="9144000" cy="2368106"/>
          </a:xfrm>
          <a:prstGeom prst="rect">
            <a:avLst/>
          </a:prstGeom>
        </p:spPr>
      </p:pic>
      <p:sp>
        <p:nvSpPr>
          <p:cNvPr id="4" name="Espace réservé du numéro de diapositive 3">
            <a:extLst>
              <a:ext uri="{FF2B5EF4-FFF2-40B4-BE49-F238E27FC236}">
                <a16:creationId xmlns:a16="http://schemas.microsoft.com/office/drawing/2014/main" id="{64285161-537D-7C0E-0AD0-1B70BE6862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26</a:t>
            </a:fld>
            <a:endParaRPr lang="fr-F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2C322-C20B-0606-D30B-AF7AEF71C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ABDCD-7FF7-E958-B2D9-93FBA7269470}"/>
              </a:ext>
            </a:extLst>
          </p:cNvPr>
          <p:cNvSpPr>
            <a:spLocks noGrp="1"/>
          </p:cNvSpPr>
          <p:nvPr>
            <p:ph type="title"/>
          </p:nvPr>
        </p:nvSpPr>
        <p:spPr>
          <a:xfrm>
            <a:off x="301752" y="274320"/>
            <a:ext cx="8520600" cy="572700"/>
          </a:xfrm>
        </p:spPr>
        <p:txBody>
          <a:bodyPr/>
          <a:lstStyle/>
          <a:p>
            <a:r>
              <a:rPr sz="2400" b="1" dirty="0" err="1">
                <a:solidFill>
                  <a:srgbClr val="212121"/>
                </a:solidFill>
                <a:latin typeface="Arial"/>
              </a:rPr>
              <a:t>Intégration</a:t>
            </a:r>
            <a:r>
              <a:rPr sz="2400" b="1" dirty="0">
                <a:solidFill>
                  <a:srgbClr val="212121"/>
                </a:solidFill>
                <a:latin typeface="Arial"/>
              </a:rPr>
              <a:t> ML — </a:t>
            </a:r>
            <a:r>
              <a:rPr lang="fr-FR" b="1" dirty="0"/>
              <a:t>inférence temps réel</a:t>
            </a:r>
            <a:br>
              <a:rPr lang="fr-FR" b="1" dirty="0"/>
            </a:br>
            <a:endParaRPr sz="2400" b="1" dirty="0">
              <a:solidFill>
                <a:srgbClr val="212121"/>
              </a:solidFill>
              <a:latin typeface="Arial"/>
            </a:endParaRPr>
          </a:p>
        </p:txBody>
      </p:sp>
      <p:sp>
        <p:nvSpPr>
          <p:cNvPr id="3" name="Rectangle 2">
            <a:extLst>
              <a:ext uri="{FF2B5EF4-FFF2-40B4-BE49-F238E27FC236}">
                <a16:creationId xmlns:a16="http://schemas.microsoft.com/office/drawing/2014/main" id="{DE4D5BF3-A247-CB49-0EC0-4FC0A7053B96}"/>
              </a:ext>
            </a:extLst>
          </p:cNvPr>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Google Shape;76;p15">
            <a:extLst>
              <a:ext uri="{FF2B5EF4-FFF2-40B4-BE49-F238E27FC236}">
                <a16:creationId xmlns:a16="http://schemas.microsoft.com/office/drawing/2014/main" id="{CA030C2C-1E27-FB4F-3802-A55B5E875A4B}"/>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Image 4">
            <a:extLst>
              <a:ext uri="{FF2B5EF4-FFF2-40B4-BE49-F238E27FC236}">
                <a16:creationId xmlns:a16="http://schemas.microsoft.com/office/drawing/2014/main" id="{B2FA623B-D0BC-0DE6-979A-995636EE0ADE}"/>
              </a:ext>
            </a:extLst>
          </p:cNvPr>
          <p:cNvPicPr>
            <a:picLocks noChangeAspect="1"/>
          </p:cNvPicPr>
          <p:nvPr/>
        </p:nvPicPr>
        <p:blipFill>
          <a:blip r:embed="rId3"/>
          <a:stretch>
            <a:fillRect/>
          </a:stretch>
        </p:blipFill>
        <p:spPr>
          <a:xfrm>
            <a:off x="257175" y="1304924"/>
            <a:ext cx="8754784" cy="2730047"/>
          </a:xfrm>
          <a:prstGeom prst="rect">
            <a:avLst/>
          </a:prstGeom>
        </p:spPr>
      </p:pic>
      <p:sp>
        <p:nvSpPr>
          <p:cNvPr id="4" name="Espace réservé du numéro de diapositive 3">
            <a:extLst>
              <a:ext uri="{FF2B5EF4-FFF2-40B4-BE49-F238E27FC236}">
                <a16:creationId xmlns:a16="http://schemas.microsoft.com/office/drawing/2014/main" id="{33443B9B-FD77-A5EA-9068-ACABED26F8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27</a:t>
            </a:fld>
            <a:endParaRPr lang="fr-FR"/>
          </a:p>
        </p:txBody>
      </p:sp>
    </p:spTree>
    <p:extLst>
      <p:ext uri="{BB962C8B-B14F-4D97-AF65-F5344CB8AC3E}">
        <p14:creationId xmlns:p14="http://schemas.microsoft.com/office/powerpoint/2010/main" val="3879241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Bilan en production — SLA atteints</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170432"/>
          <a:ext cx="8412480" cy="2916935"/>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486155">
                <a:tc>
                  <a:txBody>
                    <a:bodyPr/>
                    <a:lstStyle/>
                    <a:p>
                      <a:pPr algn="ctr"/>
                      <a:r>
                        <a:rPr sz="1100" b="1">
                          <a:solidFill>
                            <a:srgbClr val="FFFFFF"/>
                          </a:solidFill>
                          <a:latin typeface="Arial"/>
                        </a:rPr>
                        <a:t>SLA</a:t>
                      </a:r>
                    </a:p>
                  </a:txBody>
                  <a:tcPr>
                    <a:solidFill>
                      <a:srgbClr val="FFAB40"/>
                    </a:solidFill>
                  </a:tcPr>
                </a:tc>
                <a:tc>
                  <a:txBody>
                    <a:bodyPr/>
                    <a:lstStyle/>
                    <a:p>
                      <a:pPr algn="ctr"/>
                      <a:r>
                        <a:rPr sz="1100" b="1">
                          <a:solidFill>
                            <a:srgbClr val="FFFFFF"/>
                          </a:solidFill>
                          <a:latin typeface="Arial"/>
                        </a:rPr>
                        <a:t>Valeur mesurée</a:t>
                      </a:r>
                    </a:p>
                  </a:txBody>
                  <a:tcPr>
                    <a:solidFill>
                      <a:srgbClr val="FFAB40"/>
                    </a:solidFill>
                  </a:tcPr>
                </a:tc>
                <a:extLst>
                  <a:ext uri="{0D108BD9-81ED-4DB2-BD59-A6C34878D82A}">
                    <a16:rowId xmlns:a16="http://schemas.microsoft.com/office/drawing/2014/main" val="10000"/>
                  </a:ext>
                </a:extLst>
              </a:tr>
              <a:tr h="486155">
                <a:tc>
                  <a:txBody>
                    <a:bodyPr/>
                    <a:lstStyle/>
                    <a:p>
                      <a:pPr algn="l"/>
                      <a:r>
                        <a:rPr sz="1050">
                          <a:solidFill>
                            <a:srgbClr val="212121"/>
                          </a:solidFill>
                          <a:latin typeface="Arial"/>
                        </a:rPr>
                        <a:t>Disponibilité OLTP</a:t>
                      </a:r>
                    </a:p>
                  </a:txBody>
                  <a:tcPr>
                    <a:solidFill>
                      <a:srgbClr val="FFFFFF"/>
                    </a:solidFill>
                  </a:tcPr>
                </a:tc>
                <a:tc>
                  <a:txBody>
                    <a:bodyPr/>
                    <a:lstStyle/>
                    <a:p>
                      <a:pPr algn="ctr"/>
                      <a:r>
                        <a:rPr sz="1050">
                          <a:solidFill>
                            <a:srgbClr val="212121"/>
                          </a:solidFill>
                          <a:latin typeface="Arial"/>
                        </a:rPr>
                        <a:t>99.99 % (&lt; 52 min/an)</a:t>
                      </a:r>
                    </a:p>
                  </a:txBody>
                  <a:tcPr>
                    <a:solidFill>
                      <a:srgbClr val="FFFFFF"/>
                    </a:solidFill>
                  </a:tcPr>
                </a:tc>
                <a:extLst>
                  <a:ext uri="{0D108BD9-81ED-4DB2-BD59-A6C34878D82A}">
                    <a16:rowId xmlns:a16="http://schemas.microsoft.com/office/drawing/2014/main" val="10001"/>
                  </a:ext>
                </a:extLst>
              </a:tr>
              <a:tr h="486155">
                <a:tc>
                  <a:txBody>
                    <a:bodyPr/>
                    <a:lstStyle/>
                    <a:p>
                      <a:pPr algn="l"/>
                      <a:r>
                        <a:rPr sz="1050">
                          <a:solidFill>
                            <a:srgbClr val="212121"/>
                          </a:solidFill>
                          <a:latin typeface="Arial"/>
                        </a:rPr>
                        <a:t>Latence autorisation</a:t>
                      </a:r>
                    </a:p>
                  </a:txBody>
                  <a:tcPr>
                    <a:solidFill>
                      <a:srgbClr val="EEEEEE"/>
                    </a:solidFill>
                  </a:tcPr>
                </a:tc>
                <a:tc>
                  <a:txBody>
                    <a:bodyPr/>
                    <a:lstStyle/>
                    <a:p>
                      <a:pPr algn="ctr"/>
                      <a:r>
                        <a:rPr sz="1050">
                          <a:solidFill>
                            <a:srgbClr val="212121"/>
                          </a:solidFill>
                          <a:latin typeface="Arial"/>
                        </a:rPr>
                        <a:t>&lt; 100 ms (p99)</a:t>
                      </a:r>
                    </a:p>
                  </a:txBody>
                  <a:tcPr>
                    <a:solidFill>
                      <a:srgbClr val="EEEEEE"/>
                    </a:solidFill>
                  </a:tcPr>
                </a:tc>
                <a:extLst>
                  <a:ext uri="{0D108BD9-81ED-4DB2-BD59-A6C34878D82A}">
                    <a16:rowId xmlns:a16="http://schemas.microsoft.com/office/drawing/2014/main" val="10002"/>
                  </a:ext>
                </a:extLst>
              </a:tr>
              <a:tr h="486155">
                <a:tc>
                  <a:txBody>
                    <a:bodyPr/>
                    <a:lstStyle/>
                    <a:p>
                      <a:pPr algn="l"/>
                      <a:r>
                        <a:rPr sz="1050">
                          <a:solidFill>
                            <a:srgbClr val="212121"/>
                          </a:solidFill>
                          <a:latin typeface="Arial"/>
                        </a:rPr>
                        <a:t>Failover Aurora</a:t>
                      </a:r>
                    </a:p>
                  </a:txBody>
                  <a:tcPr>
                    <a:solidFill>
                      <a:srgbClr val="FFFFFF"/>
                    </a:solidFill>
                  </a:tcPr>
                </a:tc>
                <a:tc>
                  <a:txBody>
                    <a:bodyPr/>
                    <a:lstStyle/>
                    <a:p>
                      <a:pPr algn="ctr"/>
                      <a:r>
                        <a:rPr sz="1050">
                          <a:solidFill>
                            <a:srgbClr val="212121"/>
                          </a:solidFill>
                          <a:latin typeface="Arial"/>
                        </a:rPr>
                        <a:t>&lt; 30 s (22 s mesuré)</a:t>
                      </a:r>
                    </a:p>
                  </a:txBody>
                  <a:tcPr>
                    <a:solidFill>
                      <a:srgbClr val="FFFFFF"/>
                    </a:solidFill>
                  </a:tcPr>
                </a:tc>
                <a:extLst>
                  <a:ext uri="{0D108BD9-81ED-4DB2-BD59-A6C34878D82A}">
                    <a16:rowId xmlns:a16="http://schemas.microsoft.com/office/drawing/2014/main" val="10003"/>
                  </a:ext>
                </a:extLst>
              </a:tr>
              <a:tr h="486155">
                <a:tc>
                  <a:txBody>
                    <a:bodyPr/>
                    <a:lstStyle/>
                    <a:p>
                      <a:pPr algn="l"/>
                      <a:r>
                        <a:rPr sz="1050">
                          <a:solidFill>
                            <a:srgbClr val="212121"/>
                          </a:solidFill>
                          <a:latin typeface="Arial"/>
                        </a:rPr>
                        <a:t>Fraîcheur OLAP</a:t>
                      </a:r>
                    </a:p>
                  </a:txBody>
                  <a:tcPr>
                    <a:solidFill>
                      <a:srgbClr val="EEEEEE"/>
                    </a:solidFill>
                  </a:tcPr>
                </a:tc>
                <a:tc>
                  <a:txBody>
                    <a:bodyPr/>
                    <a:lstStyle/>
                    <a:p>
                      <a:pPr algn="ctr"/>
                      <a:r>
                        <a:rPr sz="1050">
                          <a:solidFill>
                            <a:srgbClr val="212121"/>
                          </a:solidFill>
                          <a:latin typeface="Arial"/>
                        </a:rPr>
                        <a:t>&lt; 5 min (CDC continu)</a:t>
                      </a:r>
                    </a:p>
                  </a:txBody>
                  <a:tcPr>
                    <a:solidFill>
                      <a:srgbClr val="EEEEEE"/>
                    </a:solidFill>
                  </a:tcPr>
                </a:tc>
                <a:extLst>
                  <a:ext uri="{0D108BD9-81ED-4DB2-BD59-A6C34878D82A}">
                    <a16:rowId xmlns:a16="http://schemas.microsoft.com/office/drawing/2014/main" val="10004"/>
                  </a:ext>
                </a:extLst>
              </a:tr>
              <a:tr h="486160">
                <a:tc>
                  <a:txBody>
                    <a:bodyPr/>
                    <a:lstStyle/>
                    <a:p>
                      <a:pPr algn="l"/>
                      <a:r>
                        <a:rPr sz="1050">
                          <a:solidFill>
                            <a:srgbClr val="212121"/>
                          </a:solidFill>
                          <a:latin typeface="Arial"/>
                        </a:rPr>
                        <a:t>RTO / RPO</a:t>
                      </a:r>
                    </a:p>
                  </a:txBody>
                  <a:tcPr>
                    <a:solidFill>
                      <a:srgbClr val="FFFFFF"/>
                    </a:solidFill>
                  </a:tcPr>
                </a:tc>
                <a:tc>
                  <a:txBody>
                    <a:bodyPr/>
                    <a:lstStyle/>
                    <a:p>
                      <a:pPr algn="ctr"/>
                      <a:r>
                        <a:rPr sz="1050">
                          <a:solidFill>
                            <a:srgbClr val="212121"/>
                          </a:solidFill>
                          <a:latin typeface="Arial"/>
                        </a:rPr>
                        <a:t>&lt; 1 h / &lt; 1 s</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GameDay mensuel</a:t>
            </a:r>
          </a:p>
        </p:txBody>
      </p:sp>
      <p:sp>
        <p:nvSpPr>
          <p:cNvPr id="6" name="TextBox 5"/>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Infrastructure as Code (Terraform)</a:t>
            </a:r>
          </a:p>
        </p:txBody>
      </p:sp>
      <p:sp>
        <p:nvSpPr>
          <p:cNvPr id="7" name="TextBox 6"/>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Blue-Green Deployment sans coupure</a:t>
            </a:r>
          </a:p>
        </p:txBody>
      </p:sp>
      <p:sp>
        <p:nvSpPr>
          <p:cNvPr id="8" name="Espace réservé du numéro de diapositive 7">
            <a:extLst>
              <a:ext uri="{FF2B5EF4-FFF2-40B4-BE49-F238E27FC236}">
                <a16:creationId xmlns:a16="http://schemas.microsoft.com/office/drawing/2014/main" id="{BE41CC2F-D0E4-4D93-C13F-1EBACEC108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28</a:t>
            </a:fld>
            <a:endParaRPr lang="fr-F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Conclusion — fiabilité, performance, conformité</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70432"/>
            <a:ext cx="7863840" cy="457200"/>
          </a:xfrm>
          <a:prstGeom prst="rect">
            <a:avLst/>
          </a:prstGeom>
          <a:noFill/>
        </p:spPr>
        <p:txBody>
          <a:bodyPr wrap="square" lIns="0" tIns="0" rIns="0" bIns="0" anchor="t">
            <a:spAutoFit/>
          </a:bodyPr>
          <a:lstStyle/>
          <a:p>
            <a:pPr algn="l"/>
            <a:r>
              <a:rPr sz="1600" b="0" i="0">
                <a:solidFill>
                  <a:srgbClr val="595959"/>
                </a:solidFill>
                <a:latin typeface="Arial"/>
              </a:rPr>
              <a:t>•  3 systèmes, 1 pipeline CDC</a:t>
            </a:r>
          </a:p>
        </p:txBody>
      </p:sp>
      <p:sp>
        <p:nvSpPr>
          <p:cNvPr id="5" name="TextBox 4"/>
          <p:cNvSpPr txBox="1"/>
          <p:nvPr/>
        </p:nvSpPr>
        <p:spPr>
          <a:xfrm>
            <a:off x="640080" y="1673352"/>
            <a:ext cx="7863840" cy="457200"/>
          </a:xfrm>
          <a:prstGeom prst="rect">
            <a:avLst/>
          </a:prstGeom>
          <a:noFill/>
        </p:spPr>
        <p:txBody>
          <a:bodyPr wrap="square" lIns="0" tIns="0" rIns="0" bIns="0" anchor="t">
            <a:spAutoFit/>
          </a:bodyPr>
          <a:lstStyle/>
          <a:p>
            <a:pPr algn="l"/>
            <a:r>
              <a:rPr sz="1600" b="0" i="0">
                <a:solidFill>
                  <a:srgbClr val="595959"/>
                </a:solidFill>
                <a:latin typeface="Arial"/>
              </a:rPr>
              <a:t>•  Conformité par construction</a:t>
            </a:r>
          </a:p>
        </p:txBody>
      </p:sp>
      <p:sp>
        <p:nvSpPr>
          <p:cNvPr id="6" name="TextBox 5"/>
          <p:cNvSpPr txBox="1"/>
          <p:nvPr/>
        </p:nvSpPr>
        <p:spPr>
          <a:xfrm>
            <a:off x="640080" y="2176272"/>
            <a:ext cx="7863840" cy="457200"/>
          </a:xfrm>
          <a:prstGeom prst="rect">
            <a:avLst/>
          </a:prstGeom>
          <a:noFill/>
        </p:spPr>
        <p:txBody>
          <a:bodyPr wrap="square" lIns="0" tIns="0" rIns="0" bIns="0" anchor="t">
            <a:spAutoFit/>
          </a:bodyPr>
          <a:lstStyle/>
          <a:p>
            <a:pPr algn="l"/>
            <a:r>
              <a:rPr sz="1600" b="0" i="0">
                <a:solidFill>
                  <a:srgbClr val="595959"/>
                </a:solidFill>
                <a:latin typeface="Arial"/>
              </a:rPr>
              <a:t>•  Capacité à évoluer préservée</a:t>
            </a:r>
          </a:p>
        </p:txBody>
      </p:sp>
      <p:sp>
        <p:nvSpPr>
          <p:cNvPr id="8" name="Google Shape;76;p15">
            <a:extLst>
              <a:ext uri="{FF2B5EF4-FFF2-40B4-BE49-F238E27FC236}">
                <a16:creationId xmlns:a16="http://schemas.microsoft.com/office/drawing/2014/main" id="{DADA808F-1D64-7F11-5E2D-30C7ABE04DF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Espace réservé du numéro de diapositive 6">
            <a:extLst>
              <a:ext uri="{FF2B5EF4-FFF2-40B4-BE49-F238E27FC236}">
                <a16:creationId xmlns:a16="http://schemas.microsoft.com/office/drawing/2014/main" id="{8F4FD222-AE43-84A6-A549-5D558A757A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29</a:t>
            </a:fld>
            <a:endParaRPr lang="fr-F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85F8-557B-FE39-CECF-E1A45CB1F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CC063-AB07-8CBA-801B-E7C6AE5D3CB8}"/>
              </a:ext>
            </a:extLst>
          </p:cNvPr>
          <p:cNvSpPr>
            <a:spLocks noGrp="1"/>
          </p:cNvSpPr>
          <p:nvPr>
            <p:ph type="title"/>
          </p:nvPr>
        </p:nvSpPr>
        <p:spPr>
          <a:xfrm>
            <a:off x="1701800" y="2049991"/>
            <a:ext cx="5740400" cy="754742"/>
          </a:xfrm>
        </p:spPr>
        <p:txBody>
          <a:bodyPr/>
          <a:lstStyle/>
          <a:p>
            <a:pPr algn="ctr"/>
            <a:r>
              <a:rPr lang="fr-FR" sz="4000" b="1" dirty="0">
                <a:solidFill>
                  <a:srgbClr val="212121"/>
                </a:solidFill>
                <a:latin typeface="Arial"/>
              </a:rPr>
              <a:t>Conclusion</a:t>
            </a:r>
            <a:r>
              <a:rPr sz="4000" b="1" dirty="0">
                <a:solidFill>
                  <a:srgbClr val="212121"/>
                </a:solidFill>
                <a:latin typeface="Arial"/>
              </a:rPr>
              <a:t> — Bloc 2 </a:t>
            </a:r>
          </a:p>
        </p:txBody>
      </p:sp>
      <p:sp>
        <p:nvSpPr>
          <p:cNvPr id="3" name="Rectangle 2">
            <a:extLst>
              <a:ext uri="{FF2B5EF4-FFF2-40B4-BE49-F238E27FC236}">
                <a16:creationId xmlns:a16="http://schemas.microsoft.com/office/drawing/2014/main" id="{E6F4FFE3-60D3-3916-8578-18455C151015}"/>
              </a:ext>
            </a:extLst>
          </p:cNvPr>
          <p:cNvSpPr/>
          <p:nvPr/>
        </p:nvSpPr>
        <p:spPr>
          <a:xfrm>
            <a:off x="4114800" y="1417320"/>
            <a:ext cx="9144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Google Shape;76;p15">
            <a:extLst>
              <a:ext uri="{FF2B5EF4-FFF2-40B4-BE49-F238E27FC236}">
                <a16:creationId xmlns:a16="http://schemas.microsoft.com/office/drawing/2014/main" id="{BE7CDC3E-0F7B-8240-0E51-085506E654C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D055E54E-FBDD-409C-C08B-CED6DA20AA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30</a:t>
            </a:fld>
            <a:endParaRPr lang="fr-FR"/>
          </a:p>
        </p:txBody>
      </p:sp>
    </p:spTree>
    <p:extLst>
      <p:ext uri="{BB962C8B-B14F-4D97-AF65-F5344CB8AC3E}">
        <p14:creationId xmlns:p14="http://schemas.microsoft.com/office/powerpoint/2010/main" val="3896757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800" y="1999779"/>
            <a:ext cx="5740400" cy="754742"/>
          </a:xfrm>
        </p:spPr>
        <p:txBody>
          <a:bodyPr/>
          <a:lstStyle/>
          <a:p>
            <a:pPr algn="ctr"/>
            <a:r>
              <a:rPr sz="4000" b="1" dirty="0">
                <a:solidFill>
                  <a:srgbClr val="212121"/>
                </a:solidFill>
                <a:latin typeface="Arial"/>
              </a:rPr>
              <a:t>Questions — Bloc 2 ?</a:t>
            </a:r>
          </a:p>
        </p:txBody>
      </p:sp>
      <p:sp>
        <p:nvSpPr>
          <p:cNvPr id="3" name="Rectangle 2"/>
          <p:cNvSpPr/>
          <p:nvPr/>
        </p:nvSpPr>
        <p:spPr>
          <a:xfrm>
            <a:off x="4114800" y="1417320"/>
            <a:ext cx="9144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Google Shape;76;p15">
            <a:extLst>
              <a:ext uri="{FF2B5EF4-FFF2-40B4-BE49-F238E27FC236}">
                <a16:creationId xmlns:a16="http://schemas.microsoft.com/office/drawing/2014/main" id="{BCF871B6-E3B4-4230-93BB-54CC17F61069}"/>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45C0E7BB-D59A-CD4E-5152-726C667A9C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31</a:t>
            </a:fld>
            <a:endParaRPr lang="fr-F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11708" y="744575"/>
            <a:ext cx="8520600" cy="815676"/>
          </a:xfrm>
        </p:spPr>
        <p:txBody>
          <a:bodyPr/>
          <a:lstStyle/>
          <a:p>
            <a:pPr algn="ctr"/>
            <a:r>
              <a:rPr sz="3200" b="1" i="0" dirty="0" err="1">
                <a:solidFill>
                  <a:srgbClr val="212121"/>
                </a:solidFill>
                <a:latin typeface="Arial"/>
              </a:rPr>
              <a:t>Détection</a:t>
            </a:r>
            <a:r>
              <a:rPr sz="3200" b="1" i="0" dirty="0">
                <a:solidFill>
                  <a:srgbClr val="212121"/>
                </a:solidFill>
                <a:latin typeface="Arial"/>
              </a:rPr>
              <a:t> </a:t>
            </a:r>
            <a:r>
              <a:rPr sz="3200" b="1" i="0" dirty="0" err="1">
                <a:solidFill>
                  <a:srgbClr val="212121"/>
                </a:solidFill>
                <a:latin typeface="Arial"/>
              </a:rPr>
              <a:t>automatique</a:t>
            </a:r>
            <a:r>
              <a:rPr sz="3200" b="1" i="0" dirty="0">
                <a:solidFill>
                  <a:srgbClr val="212121"/>
                </a:solidFill>
                <a:latin typeface="Arial"/>
              </a:rPr>
              <a:t> de </a:t>
            </a:r>
            <a:r>
              <a:rPr sz="3200" b="1" i="0" dirty="0" err="1">
                <a:solidFill>
                  <a:srgbClr val="212121"/>
                </a:solidFill>
                <a:latin typeface="Arial"/>
              </a:rPr>
              <a:t>fraude</a:t>
            </a:r>
            <a:endParaRPr sz="3200" b="1" i="0" dirty="0">
              <a:solidFill>
                <a:srgbClr val="212121"/>
              </a:solidFill>
              <a:latin typeface="Arial"/>
            </a:endParaRPr>
          </a:p>
        </p:txBody>
      </p:sp>
      <p:sp>
        <p:nvSpPr>
          <p:cNvPr id="3" name="Subtitle 2"/>
          <p:cNvSpPr>
            <a:spLocks noGrp="1"/>
          </p:cNvSpPr>
          <p:nvPr>
            <p:ph type="subTitle" idx="1"/>
          </p:nvPr>
        </p:nvSpPr>
        <p:spPr>
          <a:xfrm>
            <a:off x="311700" y="1696289"/>
            <a:ext cx="8520600" cy="656561"/>
          </a:xfrm>
        </p:spPr>
        <p:txBody>
          <a:bodyPr/>
          <a:lstStyle/>
          <a:p>
            <a:pPr algn="ctr"/>
            <a:r>
              <a:rPr sz="1500" b="0" i="0" dirty="0">
                <a:solidFill>
                  <a:srgbClr val="595959"/>
                </a:solidFill>
                <a:latin typeface="Arial"/>
              </a:rPr>
              <a:t>Bloc 3 — </a:t>
            </a:r>
            <a:r>
              <a:rPr sz="1500" b="0" i="0" dirty="0" err="1">
                <a:solidFill>
                  <a:srgbClr val="595959"/>
                </a:solidFill>
                <a:latin typeface="Arial"/>
              </a:rPr>
              <a:t>Concevoir</a:t>
            </a:r>
            <a:r>
              <a:rPr sz="1500" b="0" i="0" dirty="0">
                <a:solidFill>
                  <a:srgbClr val="595959"/>
                </a:solidFill>
                <a:latin typeface="Arial"/>
              </a:rPr>
              <a:t> et </a:t>
            </a:r>
            <a:r>
              <a:rPr sz="1500" b="0" i="0" dirty="0" err="1">
                <a:solidFill>
                  <a:srgbClr val="595959"/>
                </a:solidFill>
                <a:latin typeface="Arial"/>
              </a:rPr>
              <a:t>mettre</a:t>
            </a:r>
            <a:r>
              <a:rPr sz="1500" b="0" i="0" dirty="0">
                <a:solidFill>
                  <a:srgbClr val="595959"/>
                </a:solidFill>
                <a:latin typeface="Arial"/>
              </a:rPr>
              <a:t> </a:t>
            </a:r>
            <a:r>
              <a:rPr sz="1500" b="0" i="0" dirty="0" err="1">
                <a:solidFill>
                  <a:srgbClr val="595959"/>
                </a:solidFill>
                <a:latin typeface="Arial"/>
              </a:rPr>
              <a:t>en</a:t>
            </a:r>
            <a:r>
              <a:rPr sz="1500" b="0" i="0" dirty="0">
                <a:solidFill>
                  <a:srgbClr val="595959"/>
                </a:solidFill>
                <a:latin typeface="Arial"/>
              </a:rPr>
              <a:t> </a:t>
            </a:r>
            <a:r>
              <a:rPr sz="1500" b="0" i="0" dirty="0" err="1">
                <a:solidFill>
                  <a:srgbClr val="595959"/>
                </a:solidFill>
                <a:latin typeface="Arial"/>
              </a:rPr>
              <a:t>œuvre</a:t>
            </a:r>
            <a:r>
              <a:rPr sz="1500" b="0" i="0" dirty="0">
                <a:solidFill>
                  <a:srgbClr val="595959"/>
                </a:solidFill>
                <a:latin typeface="Arial"/>
              </a:rPr>
              <a:t> des pipelines de données (pour </a:t>
            </a:r>
            <a:r>
              <a:rPr sz="1500" b="0" i="0" dirty="0" err="1">
                <a:solidFill>
                  <a:srgbClr val="595959"/>
                </a:solidFill>
                <a:latin typeface="Arial"/>
              </a:rPr>
              <a:t>l'IA</a:t>
            </a:r>
            <a:r>
              <a:rPr sz="1500" b="0" i="0" dirty="0">
                <a:solidFill>
                  <a:srgbClr val="595959"/>
                </a:solidFill>
                <a:latin typeface="Arial"/>
              </a:rPr>
              <a:t>)</a:t>
            </a:r>
          </a:p>
        </p:txBody>
      </p:sp>
      <p:sp>
        <p:nvSpPr>
          <p:cNvPr id="4" name="Rectangle 3"/>
          <p:cNvSpPr/>
          <p:nvPr/>
        </p:nvSpPr>
        <p:spPr>
          <a:xfrm>
            <a:off x="4023360" y="566928"/>
            <a:ext cx="109728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Google Shape;55;p13">
            <a:extLst>
              <a:ext uri="{FF2B5EF4-FFF2-40B4-BE49-F238E27FC236}">
                <a16:creationId xmlns:a16="http://schemas.microsoft.com/office/drawing/2014/main" id="{2F7A1223-7B62-7024-7F3C-22594C47AB03}"/>
              </a:ext>
            </a:extLst>
          </p:cNvPr>
          <p:cNvPicPr preferRelativeResize="0"/>
          <p:nvPr/>
        </p:nvPicPr>
        <p:blipFill>
          <a:blip r:embed="rId2">
            <a:alphaModFix/>
          </a:blip>
          <a:stretch>
            <a:fillRect/>
          </a:stretch>
        </p:blipFill>
        <p:spPr>
          <a:xfrm>
            <a:off x="4572000" y="2352850"/>
            <a:ext cx="3818450" cy="25477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69254"/>
            <a:ext cx="8520600" cy="572700"/>
          </a:xfrm>
        </p:spPr>
        <p:txBody>
          <a:bodyPr/>
          <a:lstStyle/>
          <a:p>
            <a:r>
              <a:rPr b="1" dirty="0" err="1">
                <a:solidFill>
                  <a:srgbClr val="212121"/>
                </a:solidFill>
                <a:latin typeface="Arial"/>
              </a:rPr>
              <a:t>Sommaire</a:t>
            </a:r>
            <a:endParaRPr b="1" dirty="0">
              <a:solidFill>
                <a:srgbClr val="212121"/>
              </a:solidFill>
              <a:latin typeface="Arial"/>
            </a:endParaRPr>
          </a:p>
        </p:txBody>
      </p:sp>
      <p:sp>
        <p:nvSpPr>
          <p:cNvPr id="3" name="Text Placeholder 2"/>
          <p:cNvSpPr>
            <a:spLocks noGrp="1"/>
          </p:cNvSpPr>
          <p:nvPr>
            <p:ph type="body" idx="1"/>
          </p:nvPr>
        </p:nvSpPr>
        <p:spPr>
          <a:xfrm>
            <a:off x="311700" y="741954"/>
            <a:ext cx="8520600" cy="4100286"/>
          </a:xfrm>
        </p:spPr>
        <p:txBody>
          <a:bodyPr wrap="square"/>
          <a:lstStyle/>
          <a:p>
            <a:pPr>
              <a:spcAft>
                <a:spcPts val="1000"/>
              </a:spcAft>
            </a:pPr>
            <a:r>
              <a:rPr sz="1400" b="0" i="0" dirty="0">
                <a:solidFill>
                  <a:srgbClr val="595959"/>
                </a:solidFill>
                <a:latin typeface="Arial"/>
              </a:rPr>
              <a:t>1 milliard </a:t>
            </a:r>
            <a:r>
              <a:rPr sz="1400" b="0" i="0" dirty="0" err="1">
                <a:solidFill>
                  <a:srgbClr val="595959"/>
                </a:solidFill>
                <a:latin typeface="Arial"/>
              </a:rPr>
              <a:t>d'euros</a:t>
            </a:r>
            <a:r>
              <a:rPr sz="1400" b="0" i="0" dirty="0">
                <a:solidFill>
                  <a:srgbClr val="595959"/>
                </a:solidFill>
                <a:latin typeface="Arial"/>
              </a:rPr>
              <a:t> de </a:t>
            </a:r>
            <a:r>
              <a:rPr sz="1400" b="0" i="0" dirty="0" err="1">
                <a:solidFill>
                  <a:srgbClr val="595959"/>
                </a:solidFill>
                <a:latin typeface="Arial"/>
              </a:rPr>
              <a:t>fraude</a:t>
            </a:r>
            <a:r>
              <a:rPr sz="1400" b="0" i="0" dirty="0">
                <a:solidFill>
                  <a:srgbClr val="595959"/>
                </a:solidFill>
                <a:latin typeface="Arial"/>
              </a:rPr>
              <a:t> par an — un </a:t>
            </a:r>
            <a:r>
              <a:rPr sz="1400" b="0" i="0" dirty="0" err="1">
                <a:solidFill>
                  <a:srgbClr val="595959"/>
                </a:solidFill>
                <a:latin typeface="Arial"/>
              </a:rPr>
              <a:t>besoin</a:t>
            </a:r>
            <a:r>
              <a:rPr sz="1400" b="0" i="0" dirty="0">
                <a:solidFill>
                  <a:srgbClr val="595959"/>
                </a:solidFill>
                <a:latin typeface="Arial"/>
              </a:rPr>
              <a:t> double</a:t>
            </a:r>
          </a:p>
          <a:p>
            <a:pPr>
              <a:spcAft>
                <a:spcPts val="1000"/>
              </a:spcAft>
            </a:pPr>
            <a:r>
              <a:rPr sz="1400" b="0" i="0" dirty="0">
                <a:solidFill>
                  <a:srgbClr val="595959"/>
                </a:solidFill>
                <a:latin typeface="Arial"/>
              </a:rPr>
              <a:t>Architecture </a:t>
            </a:r>
            <a:r>
              <a:rPr sz="1400" b="0" i="0" dirty="0" err="1">
                <a:solidFill>
                  <a:srgbClr val="595959"/>
                </a:solidFill>
                <a:latin typeface="Arial"/>
              </a:rPr>
              <a:t>retenue</a:t>
            </a:r>
            <a:r>
              <a:rPr sz="1400" b="0" i="0" dirty="0">
                <a:solidFill>
                  <a:srgbClr val="595959"/>
                </a:solidFill>
                <a:latin typeface="Arial"/>
              </a:rPr>
              <a:t> : simple et </a:t>
            </a:r>
            <a:r>
              <a:rPr sz="1400" b="0" i="0" dirty="0" err="1">
                <a:solidFill>
                  <a:srgbClr val="595959"/>
                </a:solidFill>
                <a:latin typeface="Arial"/>
              </a:rPr>
              <a:t>assumée</a:t>
            </a:r>
            <a:endParaRPr sz="1400" b="0" i="0" dirty="0">
              <a:solidFill>
                <a:srgbClr val="595959"/>
              </a:solidFill>
              <a:latin typeface="Arial"/>
            </a:endParaRPr>
          </a:p>
          <a:p>
            <a:pPr>
              <a:spcAft>
                <a:spcPts val="1000"/>
              </a:spcAft>
            </a:pPr>
            <a:r>
              <a:rPr sz="1400" b="0" i="0" dirty="0">
                <a:solidFill>
                  <a:srgbClr val="595959"/>
                </a:solidFill>
                <a:latin typeface="Arial"/>
              </a:rPr>
              <a:t>Flux temps </a:t>
            </a:r>
            <a:r>
              <a:rPr sz="1400" b="0" i="0" dirty="0" err="1">
                <a:solidFill>
                  <a:srgbClr val="595959"/>
                </a:solidFill>
                <a:latin typeface="Arial"/>
              </a:rPr>
              <a:t>réel</a:t>
            </a:r>
            <a:r>
              <a:rPr sz="1400" b="0" i="0" dirty="0">
                <a:solidFill>
                  <a:srgbClr val="595959"/>
                </a:solidFill>
                <a:latin typeface="Arial"/>
              </a:rPr>
              <a:t> — de la transaction à </a:t>
            </a:r>
            <a:r>
              <a:rPr sz="1400" b="0" i="0" dirty="0" err="1">
                <a:solidFill>
                  <a:srgbClr val="595959"/>
                </a:solidFill>
                <a:latin typeface="Arial"/>
              </a:rPr>
              <a:t>l'alerte</a:t>
            </a:r>
            <a:endParaRPr sz="1400" b="0" i="0" dirty="0">
              <a:solidFill>
                <a:srgbClr val="595959"/>
              </a:solidFill>
              <a:latin typeface="Arial"/>
            </a:endParaRPr>
          </a:p>
          <a:p>
            <a:pPr>
              <a:spcAft>
                <a:spcPts val="1000"/>
              </a:spcAft>
            </a:pPr>
            <a:r>
              <a:rPr sz="1400" b="0" i="0" dirty="0">
                <a:solidFill>
                  <a:srgbClr val="595959"/>
                </a:solidFill>
                <a:latin typeface="Arial"/>
              </a:rPr>
              <a:t>Architecture </a:t>
            </a:r>
            <a:r>
              <a:rPr sz="1400" b="0" i="0" dirty="0" err="1">
                <a:solidFill>
                  <a:srgbClr val="595959"/>
                </a:solidFill>
                <a:latin typeface="Arial"/>
              </a:rPr>
              <a:t>globale</a:t>
            </a:r>
            <a:r>
              <a:rPr sz="1400" b="0" i="0" dirty="0">
                <a:solidFill>
                  <a:srgbClr val="595959"/>
                </a:solidFill>
                <a:latin typeface="Arial"/>
              </a:rPr>
              <a:t> — deux </a:t>
            </a:r>
            <a:r>
              <a:rPr sz="1400" b="0" i="0" dirty="0" err="1">
                <a:solidFill>
                  <a:srgbClr val="595959"/>
                </a:solidFill>
                <a:latin typeface="Arial"/>
              </a:rPr>
              <a:t>boucles</a:t>
            </a:r>
            <a:r>
              <a:rPr sz="1400" b="0" i="0" dirty="0">
                <a:solidFill>
                  <a:srgbClr val="595959"/>
                </a:solidFill>
                <a:latin typeface="Arial"/>
              </a:rPr>
              <a:t>, un point de </a:t>
            </a:r>
            <a:r>
              <a:rPr sz="1400" b="0" i="0" dirty="0" err="1">
                <a:solidFill>
                  <a:srgbClr val="595959"/>
                </a:solidFill>
                <a:latin typeface="Arial"/>
              </a:rPr>
              <a:t>croisement</a:t>
            </a:r>
            <a:endParaRPr sz="1400" b="0" i="0" dirty="0">
              <a:solidFill>
                <a:srgbClr val="595959"/>
              </a:solidFill>
              <a:latin typeface="Arial"/>
            </a:endParaRPr>
          </a:p>
          <a:p>
            <a:pPr>
              <a:spcAft>
                <a:spcPts val="1000"/>
              </a:spcAft>
            </a:pPr>
            <a:r>
              <a:rPr sz="1400" b="0" i="0" dirty="0" err="1">
                <a:solidFill>
                  <a:srgbClr val="595959"/>
                </a:solidFill>
                <a:latin typeface="Arial"/>
              </a:rPr>
              <a:t>Réentraînement</a:t>
            </a:r>
            <a:r>
              <a:rPr sz="1400" b="0" i="0" dirty="0">
                <a:solidFill>
                  <a:srgbClr val="595959"/>
                </a:solidFill>
                <a:latin typeface="Arial"/>
              </a:rPr>
              <a:t> — un push de code, pas un DAG nocturne</a:t>
            </a:r>
          </a:p>
          <a:p>
            <a:pPr>
              <a:spcAft>
                <a:spcPts val="1000"/>
              </a:spcAft>
            </a:pPr>
            <a:r>
              <a:rPr sz="1400" b="0" i="0" dirty="0" err="1">
                <a:solidFill>
                  <a:srgbClr val="595959"/>
                </a:solidFill>
                <a:latin typeface="Arial"/>
              </a:rPr>
              <a:t>Modèle</a:t>
            </a:r>
            <a:r>
              <a:rPr sz="1400" b="0" i="0" dirty="0">
                <a:solidFill>
                  <a:srgbClr val="595959"/>
                </a:solidFill>
                <a:latin typeface="Arial"/>
              </a:rPr>
              <a:t> ML — un </a:t>
            </a:r>
            <a:r>
              <a:rPr sz="1400" b="0" i="0" dirty="0" err="1">
                <a:solidFill>
                  <a:srgbClr val="595959"/>
                </a:solidFill>
                <a:latin typeface="Arial"/>
              </a:rPr>
              <a:t>entraînement</a:t>
            </a:r>
            <a:r>
              <a:rPr sz="1400" b="0" i="0" dirty="0">
                <a:solidFill>
                  <a:srgbClr val="595959"/>
                </a:solidFill>
                <a:latin typeface="Arial"/>
              </a:rPr>
              <a:t> </a:t>
            </a:r>
            <a:r>
              <a:rPr sz="1400" b="0" i="0" dirty="0" err="1">
                <a:solidFill>
                  <a:srgbClr val="595959"/>
                </a:solidFill>
                <a:latin typeface="Arial"/>
              </a:rPr>
              <a:t>réel</a:t>
            </a:r>
            <a:r>
              <a:rPr sz="1400" b="0" i="0" dirty="0">
                <a:solidFill>
                  <a:srgbClr val="595959"/>
                </a:solidFill>
                <a:latin typeface="Arial"/>
              </a:rPr>
              <a:t>, </a:t>
            </a:r>
            <a:r>
              <a:rPr sz="1400" b="0" i="0" dirty="0" err="1">
                <a:solidFill>
                  <a:srgbClr val="595959"/>
                </a:solidFill>
                <a:latin typeface="Arial"/>
              </a:rPr>
              <a:t>lu</a:t>
            </a:r>
            <a:r>
              <a:rPr sz="1400" b="0" i="0" dirty="0">
                <a:solidFill>
                  <a:srgbClr val="595959"/>
                </a:solidFill>
                <a:latin typeface="Arial"/>
              </a:rPr>
              <a:t> </a:t>
            </a:r>
            <a:r>
              <a:rPr sz="1400" b="0" i="0" dirty="0" err="1">
                <a:solidFill>
                  <a:srgbClr val="595959"/>
                </a:solidFill>
                <a:latin typeface="Arial"/>
              </a:rPr>
              <a:t>honnêtement</a:t>
            </a:r>
            <a:endParaRPr sz="1400" b="0" i="0" dirty="0">
              <a:solidFill>
                <a:srgbClr val="595959"/>
              </a:solidFill>
              <a:latin typeface="Arial"/>
            </a:endParaRPr>
          </a:p>
          <a:p>
            <a:pPr>
              <a:spcAft>
                <a:spcPts val="1000"/>
              </a:spcAft>
            </a:pPr>
            <a:r>
              <a:rPr sz="1400" b="0" i="0" dirty="0">
                <a:solidFill>
                  <a:srgbClr val="595959"/>
                </a:solidFill>
                <a:latin typeface="Arial"/>
              </a:rPr>
              <a:t>Sécurité &amp; </a:t>
            </a:r>
            <a:r>
              <a:rPr sz="1400" b="0" i="0" dirty="0" err="1">
                <a:solidFill>
                  <a:srgbClr val="595959"/>
                </a:solidFill>
                <a:latin typeface="Arial"/>
              </a:rPr>
              <a:t>conformité</a:t>
            </a:r>
            <a:r>
              <a:rPr sz="1400" b="0" i="0" dirty="0">
                <a:solidFill>
                  <a:srgbClr val="595959"/>
                </a:solidFill>
                <a:latin typeface="Arial"/>
              </a:rPr>
              <a:t> — </a:t>
            </a:r>
            <a:r>
              <a:rPr sz="1400" b="0" i="0" dirty="0" err="1">
                <a:solidFill>
                  <a:srgbClr val="595959"/>
                </a:solidFill>
                <a:latin typeface="Arial"/>
              </a:rPr>
              <a:t>ce</a:t>
            </a:r>
            <a:r>
              <a:rPr sz="1400" b="0" i="0" dirty="0">
                <a:solidFill>
                  <a:srgbClr val="595959"/>
                </a:solidFill>
                <a:latin typeface="Arial"/>
              </a:rPr>
              <a:t> qui </a:t>
            </a:r>
            <a:r>
              <a:rPr sz="1400" b="0" i="0" dirty="0" err="1">
                <a:solidFill>
                  <a:srgbClr val="595959"/>
                </a:solidFill>
                <a:latin typeface="Arial"/>
              </a:rPr>
              <a:t>reste</a:t>
            </a:r>
            <a:r>
              <a:rPr sz="1400" b="0" i="0" dirty="0">
                <a:solidFill>
                  <a:srgbClr val="595959"/>
                </a:solidFill>
                <a:latin typeface="Arial"/>
              </a:rPr>
              <a:t> à </a:t>
            </a:r>
            <a:r>
              <a:rPr sz="1400" b="0" i="0" dirty="0" err="1">
                <a:solidFill>
                  <a:srgbClr val="595959"/>
                </a:solidFill>
                <a:latin typeface="Arial"/>
              </a:rPr>
              <a:t>corriger</a:t>
            </a:r>
            <a:endParaRPr sz="1400" b="0" i="0" dirty="0">
              <a:solidFill>
                <a:srgbClr val="595959"/>
              </a:solidFill>
              <a:latin typeface="Arial"/>
            </a:endParaRPr>
          </a:p>
          <a:p>
            <a:pPr>
              <a:spcAft>
                <a:spcPts val="1000"/>
              </a:spcAft>
            </a:pPr>
            <a:r>
              <a:rPr sz="1400" b="0" i="0" dirty="0" err="1">
                <a:solidFill>
                  <a:srgbClr val="595959"/>
                </a:solidFill>
                <a:latin typeface="Arial"/>
              </a:rPr>
              <a:t>Qualité</a:t>
            </a:r>
            <a:r>
              <a:rPr sz="1400" b="0" i="0" dirty="0">
                <a:solidFill>
                  <a:srgbClr val="595959"/>
                </a:solidFill>
                <a:latin typeface="Arial"/>
              </a:rPr>
              <a:t> des données &amp; monitoring — </a:t>
            </a:r>
            <a:r>
              <a:rPr sz="1400" b="0" i="0" dirty="0" err="1">
                <a:solidFill>
                  <a:srgbClr val="595959"/>
                </a:solidFill>
                <a:latin typeface="Arial"/>
              </a:rPr>
              <a:t>honnêtes</a:t>
            </a:r>
            <a:r>
              <a:rPr sz="1400" b="0" i="0" dirty="0">
                <a:solidFill>
                  <a:srgbClr val="595959"/>
                </a:solidFill>
                <a:latin typeface="Arial"/>
              </a:rPr>
              <a:t> sur les </a:t>
            </a:r>
            <a:r>
              <a:rPr sz="1400" b="0" i="0" dirty="0" err="1">
                <a:solidFill>
                  <a:srgbClr val="595959"/>
                </a:solidFill>
                <a:latin typeface="Arial"/>
              </a:rPr>
              <a:t>limites</a:t>
            </a:r>
            <a:endParaRPr sz="1400" b="0" i="0" dirty="0">
              <a:solidFill>
                <a:srgbClr val="595959"/>
              </a:solidFill>
              <a:latin typeface="Arial"/>
            </a:endParaRPr>
          </a:p>
          <a:p>
            <a:pPr>
              <a:spcAft>
                <a:spcPts val="1000"/>
              </a:spcAft>
            </a:pPr>
            <a:r>
              <a:rPr sz="1400" b="0" i="0" dirty="0">
                <a:solidFill>
                  <a:srgbClr val="595959"/>
                </a:solidFill>
                <a:latin typeface="Arial"/>
              </a:rPr>
              <a:t>Trois </a:t>
            </a:r>
            <a:r>
              <a:rPr sz="1400" b="0" i="0" dirty="0" err="1">
                <a:solidFill>
                  <a:srgbClr val="595959"/>
                </a:solidFill>
                <a:latin typeface="Arial"/>
              </a:rPr>
              <a:t>itérations</a:t>
            </a:r>
            <a:r>
              <a:rPr sz="1400" b="0" i="0" dirty="0">
                <a:solidFill>
                  <a:srgbClr val="595959"/>
                </a:solidFill>
                <a:latin typeface="Arial"/>
              </a:rPr>
              <a:t> : de </a:t>
            </a:r>
            <a:r>
              <a:rPr sz="1400" b="0" i="0" dirty="0" err="1">
                <a:solidFill>
                  <a:srgbClr val="595959"/>
                </a:solidFill>
                <a:latin typeface="Arial"/>
              </a:rPr>
              <a:t>jefraudai</a:t>
            </a:r>
            <a:r>
              <a:rPr sz="1400" b="0" i="0" dirty="0">
                <a:solidFill>
                  <a:srgbClr val="595959"/>
                </a:solidFill>
                <a:latin typeface="Arial"/>
              </a:rPr>
              <a:t> à </a:t>
            </a:r>
            <a:r>
              <a:rPr sz="1400" b="0" i="0" dirty="0" err="1">
                <a:solidFill>
                  <a:srgbClr val="595959"/>
                </a:solidFill>
                <a:latin typeface="Arial"/>
              </a:rPr>
              <a:t>FraudHunter</a:t>
            </a:r>
            <a:endParaRPr sz="1400" b="0" i="0" dirty="0">
              <a:solidFill>
                <a:srgbClr val="595959"/>
              </a:solidFill>
              <a:latin typeface="Arial"/>
            </a:endParaRPr>
          </a:p>
          <a:p>
            <a:pPr>
              <a:spcAft>
                <a:spcPts val="1000"/>
              </a:spcAft>
            </a:pPr>
            <a:r>
              <a:rPr sz="1400" b="0" i="0" dirty="0">
                <a:solidFill>
                  <a:srgbClr val="595959"/>
                </a:solidFill>
                <a:latin typeface="Arial"/>
              </a:rPr>
              <a:t>Stack technique </a:t>
            </a:r>
            <a:r>
              <a:rPr sz="1400" b="0" i="0" dirty="0" err="1">
                <a:solidFill>
                  <a:srgbClr val="595959"/>
                </a:solidFill>
                <a:latin typeface="Arial"/>
              </a:rPr>
              <a:t>réellement</a:t>
            </a:r>
            <a:r>
              <a:rPr sz="1400" b="0" i="0" dirty="0">
                <a:solidFill>
                  <a:srgbClr val="595959"/>
                </a:solidFill>
                <a:latin typeface="Arial"/>
              </a:rPr>
              <a:t> </a:t>
            </a:r>
            <a:r>
              <a:rPr sz="1400" b="0" i="0" dirty="0" err="1">
                <a:solidFill>
                  <a:srgbClr val="595959"/>
                </a:solidFill>
                <a:latin typeface="Arial"/>
              </a:rPr>
              <a:t>utilisée</a:t>
            </a:r>
            <a:endParaRPr sz="1400" b="0" i="0" dirty="0">
              <a:solidFill>
                <a:srgbClr val="595959"/>
              </a:solidFill>
              <a:latin typeface="Arial"/>
            </a:endParaRPr>
          </a:p>
          <a:p>
            <a:pPr>
              <a:spcAft>
                <a:spcPts val="1000"/>
              </a:spcAft>
            </a:pPr>
            <a:r>
              <a:rPr sz="1400" b="0" i="0" dirty="0">
                <a:solidFill>
                  <a:srgbClr val="595959"/>
                </a:solidFill>
                <a:latin typeface="Arial"/>
              </a:rPr>
              <a:t>Bilan et </a:t>
            </a:r>
            <a:r>
              <a:rPr sz="1400" b="0" i="0" dirty="0" err="1">
                <a:solidFill>
                  <a:srgbClr val="595959"/>
                </a:solidFill>
                <a:latin typeface="Arial"/>
              </a:rPr>
              <a:t>ce</a:t>
            </a:r>
            <a:r>
              <a:rPr sz="1400" b="0" i="0" dirty="0">
                <a:solidFill>
                  <a:srgbClr val="595959"/>
                </a:solidFill>
                <a:latin typeface="Arial"/>
              </a:rPr>
              <a:t> qui </a:t>
            </a:r>
            <a:r>
              <a:rPr sz="1400" b="0" i="0" dirty="0" err="1">
                <a:solidFill>
                  <a:srgbClr val="595959"/>
                </a:solidFill>
                <a:latin typeface="Arial"/>
              </a:rPr>
              <a:t>reste</a:t>
            </a:r>
            <a:r>
              <a:rPr sz="1400" b="0" i="0" dirty="0">
                <a:solidFill>
                  <a:srgbClr val="595959"/>
                </a:solidFill>
                <a:latin typeface="Arial"/>
              </a:rPr>
              <a:t> à faire</a:t>
            </a:r>
          </a:p>
        </p:txBody>
      </p:sp>
      <p:sp>
        <p:nvSpPr>
          <p:cNvPr id="5" name="Google Shape;76;p15">
            <a:extLst>
              <a:ext uri="{FF2B5EF4-FFF2-40B4-BE49-F238E27FC236}">
                <a16:creationId xmlns:a16="http://schemas.microsoft.com/office/drawing/2014/main" id="{A4FBBEA4-ADAB-888A-3734-EAC65957C7DD}"/>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BC974CFD-BFE3-92F0-1603-146D221DAD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33</a:t>
            </a:fld>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b="1" dirty="0">
                <a:solidFill>
                  <a:srgbClr val="212121"/>
                </a:solidFill>
                <a:latin typeface="Arial"/>
              </a:rPr>
              <a:t>1 milliard </a:t>
            </a:r>
            <a:r>
              <a:rPr sz="2000" b="1" dirty="0" err="1">
                <a:solidFill>
                  <a:srgbClr val="212121"/>
                </a:solidFill>
                <a:latin typeface="Arial"/>
              </a:rPr>
              <a:t>d'euros</a:t>
            </a:r>
            <a:r>
              <a:rPr sz="2000" b="1" dirty="0">
                <a:solidFill>
                  <a:srgbClr val="212121"/>
                </a:solidFill>
                <a:latin typeface="Arial"/>
              </a:rPr>
              <a:t> de </a:t>
            </a:r>
            <a:r>
              <a:rPr sz="2000" b="1" dirty="0" err="1">
                <a:solidFill>
                  <a:srgbClr val="212121"/>
                </a:solidFill>
                <a:latin typeface="Arial"/>
              </a:rPr>
              <a:t>fraude</a:t>
            </a:r>
            <a:r>
              <a:rPr sz="2000" b="1" dirty="0">
                <a:solidFill>
                  <a:srgbClr val="212121"/>
                </a:solidFill>
                <a:latin typeface="Arial"/>
              </a:rPr>
              <a:t> par an — un </a:t>
            </a:r>
            <a:r>
              <a:rPr sz="2000" b="1" dirty="0" err="1">
                <a:solidFill>
                  <a:srgbClr val="212121"/>
                </a:solidFill>
                <a:latin typeface="Arial"/>
              </a:rPr>
              <a:t>besoin</a:t>
            </a:r>
            <a:r>
              <a:rPr sz="2000" b="1" dirty="0">
                <a:solidFill>
                  <a:srgbClr val="212121"/>
                </a:solidFill>
                <a:latin typeface="Arial"/>
              </a:rPr>
              <a:t> double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170432"/>
            <a:ext cx="2651760"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1 Md €</a:t>
            </a:r>
          </a:p>
          <a:p>
            <a:pPr algn="ctr"/>
            <a:r>
              <a:rPr sz="1100" b="0" i="0">
                <a:solidFill>
                  <a:srgbClr val="595959"/>
                </a:solidFill>
                <a:latin typeface="Arial"/>
              </a:rPr>
              <a:t>fraude carte UE/an (BCE 2019)</a:t>
            </a:r>
          </a:p>
        </p:txBody>
      </p:sp>
      <p:sp>
        <p:nvSpPr>
          <p:cNvPr id="5" name="Rounded Rectangle 4"/>
          <p:cNvSpPr/>
          <p:nvPr/>
        </p:nvSpPr>
        <p:spPr>
          <a:xfrm>
            <a:off x="3246120" y="1170432"/>
            <a:ext cx="2651760"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2</a:t>
            </a:r>
          </a:p>
          <a:p>
            <a:pPr algn="ctr"/>
            <a:r>
              <a:rPr sz="1100" b="0" i="0">
                <a:solidFill>
                  <a:srgbClr val="595959"/>
                </a:solidFill>
                <a:latin typeface="Arial"/>
              </a:rPr>
              <a:t>besoins : alerte immédiate + revue quotidienne</a:t>
            </a:r>
          </a:p>
        </p:txBody>
      </p:sp>
      <p:sp>
        <p:nvSpPr>
          <p:cNvPr id="6" name="Rounded Rectangle 5"/>
          <p:cNvSpPr/>
          <p:nvPr/>
        </p:nvSpPr>
        <p:spPr>
          <a:xfrm>
            <a:off x="6126480" y="1170432"/>
            <a:ext cx="2651760"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dirty="0">
                <a:solidFill>
                  <a:srgbClr val="212121"/>
                </a:solidFill>
                <a:latin typeface="Arial"/>
              </a:rPr>
              <a:t>0</a:t>
            </a:r>
          </a:p>
          <a:p>
            <a:pPr algn="ctr"/>
            <a:r>
              <a:rPr sz="1100" b="0" i="0" dirty="0">
                <a:solidFill>
                  <a:srgbClr val="595959"/>
                </a:solidFill>
                <a:latin typeface="Arial"/>
              </a:rPr>
              <a:t>service tiers </a:t>
            </a:r>
            <a:r>
              <a:rPr sz="1100" b="0" i="0" dirty="0" err="1">
                <a:solidFill>
                  <a:srgbClr val="595959"/>
                </a:solidFill>
                <a:latin typeface="Arial"/>
              </a:rPr>
              <a:t>payant</a:t>
            </a:r>
            <a:r>
              <a:rPr sz="1100" b="0" i="0" dirty="0">
                <a:solidFill>
                  <a:srgbClr val="595959"/>
                </a:solidFill>
                <a:latin typeface="Arial"/>
              </a:rPr>
              <a:t> </a:t>
            </a:r>
            <a:r>
              <a:rPr sz="1100" b="0" i="0" dirty="0" err="1">
                <a:solidFill>
                  <a:srgbClr val="595959"/>
                </a:solidFill>
                <a:latin typeface="Arial"/>
              </a:rPr>
              <a:t>utilisé</a:t>
            </a:r>
            <a:endParaRPr sz="1100" b="0" i="0" dirty="0">
              <a:solidFill>
                <a:srgbClr val="595959"/>
              </a:solidFill>
              <a:latin typeface="Arial"/>
            </a:endParaRPr>
          </a:p>
        </p:txBody>
      </p:sp>
      <p:sp>
        <p:nvSpPr>
          <p:cNvPr id="7" name="TextBox 6"/>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Alerte immédiate si fraude</a:t>
            </a:r>
          </a:p>
        </p:txBody>
      </p:sp>
      <p:sp>
        <p:nvSpPr>
          <p:cNvPr id="8" name="TextBox 7"/>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Revue quotidienne de la veille</a:t>
            </a:r>
          </a:p>
        </p:txBody>
      </p:sp>
      <p:sp>
        <p:nvSpPr>
          <p:cNvPr id="9" name="TextBox 8"/>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Pipeline évalué, pas l'algo</a:t>
            </a:r>
          </a:p>
        </p:txBody>
      </p:sp>
      <p:sp>
        <p:nvSpPr>
          <p:cNvPr id="10" name="TextBox 9"/>
          <p:cNvSpPr txBox="1"/>
          <p:nvPr/>
        </p:nvSpPr>
        <p:spPr>
          <a:xfrm>
            <a:off x="365760" y="4608575"/>
            <a:ext cx="8412480" cy="256032"/>
          </a:xfrm>
          <a:prstGeom prst="rect">
            <a:avLst/>
          </a:prstGeom>
          <a:noFill/>
        </p:spPr>
        <p:txBody>
          <a:bodyPr wrap="square" lIns="0" tIns="0" rIns="0" bIns="0" anchor="t">
            <a:spAutoFit/>
          </a:bodyPr>
          <a:lstStyle/>
          <a:p>
            <a:pPr algn="ctr"/>
            <a:r>
              <a:rPr sz="1000" b="0" i="1" dirty="0">
                <a:solidFill>
                  <a:srgbClr val="595959"/>
                </a:solidFill>
                <a:latin typeface="Arial"/>
              </a:rPr>
              <a:t>Le cahier des charges </a:t>
            </a:r>
            <a:r>
              <a:rPr sz="1000" b="0" i="1" dirty="0" err="1">
                <a:solidFill>
                  <a:srgbClr val="595959"/>
                </a:solidFill>
                <a:latin typeface="Arial"/>
              </a:rPr>
              <a:t>évalue</a:t>
            </a:r>
            <a:r>
              <a:rPr sz="1000" b="0" i="1" dirty="0">
                <a:solidFill>
                  <a:srgbClr val="595959"/>
                </a:solidFill>
                <a:latin typeface="Arial"/>
              </a:rPr>
              <a:t> le pipeline de données, pas la performance de </a:t>
            </a:r>
            <a:r>
              <a:rPr sz="1000" b="0" i="1" dirty="0" err="1">
                <a:solidFill>
                  <a:srgbClr val="595959"/>
                </a:solidFill>
                <a:latin typeface="Arial"/>
              </a:rPr>
              <a:t>l'algorithme</a:t>
            </a:r>
            <a:endParaRPr sz="1000" b="0" i="1" dirty="0">
              <a:solidFill>
                <a:srgbClr val="595959"/>
              </a:solidFill>
              <a:latin typeface="Arial"/>
            </a:endParaRPr>
          </a:p>
        </p:txBody>
      </p:sp>
      <p:sp>
        <p:nvSpPr>
          <p:cNvPr id="12" name="Google Shape;76;p15">
            <a:extLst>
              <a:ext uri="{FF2B5EF4-FFF2-40B4-BE49-F238E27FC236}">
                <a16:creationId xmlns:a16="http://schemas.microsoft.com/office/drawing/2014/main" id="{6D9DF533-2CCC-F9AB-8F73-E47B6CE64FA8}"/>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Espace réservé du numéro de diapositive 10">
            <a:extLst>
              <a:ext uri="{FF2B5EF4-FFF2-40B4-BE49-F238E27FC236}">
                <a16:creationId xmlns:a16="http://schemas.microsoft.com/office/drawing/2014/main" id="{9DE51C1D-C85F-B06E-F3AA-ADD30D6D9D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34</a:t>
            </a:fld>
            <a:endParaRPr lang="fr-F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449" y="155449"/>
            <a:ext cx="8520600" cy="572700"/>
          </a:xfrm>
        </p:spPr>
        <p:txBody>
          <a:bodyPr/>
          <a:lstStyle/>
          <a:p>
            <a:r>
              <a:rPr lang="fr-FR" sz="2400" b="1" dirty="0">
                <a:solidFill>
                  <a:srgbClr val="212121"/>
                </a:solidFill>
                <a:latin typeface="Arial"/>
              </a:rPr>
              <a:t>Besoin et </a:t>
            </a:r>
            <a:r>
              <a:rPr sz="2400" b="1" dirty="0">
                <a:solidFill>
                  <a:srgbClr val="212121"/>
                </a:solidFill>
                <a:latin typeface="Arial"/>
              </a:rPr>
              <a:t>Architecture </a:t>
            </a:r>
            <a:r>
              <a:rPr sz="2400" b="1" dirty="0" err="1">
                <a:solidFill>
                  <a:srgbClr val="212121"/>
                </a:solidFill>
                <a:latin typeface="Arial"/>
              </a:rPr>
              <a:t>retenue</a:t>
            </a:r>
            <a:r>
              <a:rPr sz="2400" b="1" dirty="0">
                <a:solidFill>
                  <a:srgbClr val="212121"/>
                </a:solidFill>
                <a:latin typeface="Arial"/>
              </a:rPr>
              <a:t> : simple et </a:t>
            </a:r>
            <a:r>
              <a:rPr sz="2400" b="1" dirty="0" err="1">
                <a:solidFill>
                  <a:srgbClr val="212121"/>
                </a:solidFill>
                <a:latin typeface="Arial"/>
              </a:rPr>
              <a:t>assumée</a:t>
            </a:r>
            <a:endParaRPr sz="2400" b="1" dirty="0">
              <a:solidFill>
                <a:srgbClr val="212121"/>
              </a:solidFill>
              <a:latin typeface="Arial"/>
            </a:endParaRP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74320" y="2848793"/>
            <a:ext cx="1863089"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API HF</a:t>
            </a:r>
          </a:p>
          <a:p>
            <a:pPr algn="ctr"/>
            <a:r>
              <a:rPr sz="1000" b="0" i="0">
                <a:solidFill>
                  <a:srgbClr val="595959"/>
                </a:solidFill>
                <a:latin typeface="Arial"/>
              </a:rPr>
              <a:t>transactions démo</a:t>
            </a:r>
          </a:p>
        </p:txBody>
      </p:sp>
      <p:sp>
        <p:nvSpPr>
          <p:cNvPr id="5" name="Rectangle 4"/>
          <p:cNvSpPr/>
          <p:nvPr/>
        </p:nvSpPr>
        <p:spPr>
          <a:xfrm>
            <a:off x="274320" y="2848793"/>
            <a:ext cx="186308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2137409" y="3580314"/>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457449" y="2848793"/>
            <a:ext cx="1863089"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dirty="0">
                <a:solidFill>
                  <a:srgbClr val="212121"/>
                </a:solidFill>
                <a:latin typeface="Arial"/>
              </a:rPr>
              <a:t>Node-RED</a:t>
            </a:r>
          </a:p>
          <a:p>
            <a:pPr algn="ctr"/>
            <a:r>
              <a:rPr sz="1000" b="0" i="0" dirty="0" err="1">
                <a:solidFill>
                  <a:srgbClr val="595959"/>
                </a:solidFill>
                <a:latin typeface="Arial"/>
              </a:rPr>
              <a:t>collecte</a:t>
            </a:r>
            <a:r>
              <a:rPr sz="1000" b="0" i="0" dirty="0">
                <a:solidFill>
                  <a:srgbClr val="595959"/>
                </a:solidFill>
                <a:latin typeface="Arial"/>
              </a:rPr>
              <a:t>, 5s</a:t>
            </a:r>
          </a:p>
        </p:txBody>
      </p:sp>
      <p:sp>
        <p:nvSpPr>
          <p:cNvPr id="8" name="Rectangle 7"/>
          <p:cNvSpPr/>
          <p:nvPr/>
        </p:nvSpPr>
        <p:spPr>
          <a:xfrm>
            <a:off x="2457449" y="2848793"/>
            <a:ext cx="186308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4320539" y="3580314"/>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640580" y="2848793"/>
            <a:ext cx="1863089"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dirty="0" err="1">
                <a:solidFill>
                  <a:srgbClr val="212121"/>
                </a:solidFill>
                <a:latin typeface="Arial"/>
              </a:rPr>
              <a:t>Mosquitto</a:t>
            </a:r>
            <a:endParaRPr sz="1200" b="1" i="0" dirty="0">
              <a:solidFill>
                <a:srgbClr val="212121"/>
              </a:solidFill>
              <a:latin typeface="Arial"/>
            </a:endParaRPr>
          </a:p>
          <a:p>
            <a:pPr algn="ctr"/>
            <a:r>
              <a:rPr sz="1000" b="0" i="0" dirty="0">
                <a:solidFill>
                  <a:srgbClr val="595959"/>
                </a:solidFill>
                <a:latin typeface="Arial"/>
              </a:rPr>
              <a:t>MQTT, 1 broker</a:t>
            </a:r>
          </a:p>
        </p:txBody>
      </p:sp>
      <p:sp>
        <p:nvSpPr>
          <p:cNvPr id="11" name="Rectangle 10"/>
          <p:cNvSpPr/>
          <p:nvPr/>
        </p:nvSpPr>
        <p:spPr>
          <a:xfrm>
            <a:off x="4640580" y="2848793"/>
            <a:ext cx="186308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503669" y="3580314"/>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823710" y="2848793"/>
            <a:ext cx="1863089"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consumer.py</a:t>
            </a:r>
          </a:p>
          <a:p>
            <a:pPr algn="ctr"/>
            <a:r>
              <a:rPr sz="1000" b="0" i="0">
                <a:solidFill>
                  <a:srgbClr val="595959"/>
                </a:solidFill>
                <a:latin typeface="Arial"/>
              </a:rPr>
              <a:t>AutoGluon + MLflow</a:t>
            </a:r>
          </a:p>
        </p:txBody>
      </p:sp>
      <p:sp>
        <p:nvSpPr>
          <p:cNvPr id="14" name="Rectangle 13"/>
          <p:cNvSpPr/>
          <p:nvPr/>
        </p:nvSpPr>
        <p:spPr>
          <a:xfrm>
            <a:off x="6823710" y="2848793"/>
            <a:ext cx="186308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58" y="4402837"/>
            <a:ext cx="2731007" cy="292608"/>
          </a:xfrm>
          <a:prstGeom prst="rect">
            <a:avLst/>
          </a:prstGeom>
          <a:noFill/>
        </p:spPr>
        <p:txBody>
          <a:bodyPr wrap="square" lIns="0" tIns="0" rIns="0" bIns="0" anchor="ctr">
            <a:spAutoFit/>
          </a:bodyPr>
          <a:lstStyle/>
          <a:p>
            <a:pPr algn="l"/>
            <a:r>
              <a:rPr sz="1100" b="0" i="0">
                <a:solidFill>
                  <a:srgbClr val="595959"/>
                </a:solidFill>
                <a:latin typeface="Arial"/>
              </a:rPr>
              <a:t>• Cahier des charges autorise l'écart</a:t>
            </a:r>
          </a:p>
        </p:txBody>
      </p:sp>
      <p:sp>
        <p:nvSpPr>
          <p:cNvPr id="16" name="TextBox 15"/>
          <p:cNvSpPr txBox="1"/>
          <p:nvPr/>
        </p:nvSpPr>
        <p:spPr>
          <a:xfrm>
            <a:off x="3206493" y="4402837"/>
            <a:ext cx="2731007" cy="292608"/>
          </a:xfrm>
          <a:prstGeom prst="rect">
            <a:avLst/>
          </a:prstGeom>
          <a:noFill/>
        </p:spPr>
        <p:txBody>
          <a:bodyPr wrap="square" lIns="0" tIns="0" rIns="0" bIns="0" anchor="ctr">
            <a:spAutoFit/>
          </a:bodyPr>
          <a:lstStyle/>
          <a:p>
            <a:pPr algn="l"/>
            <a:r>
              <a:rPr sz="1100" b="0" i="0">
                <a:solidFill>
                  <a:srgbClr val="595959"/>
                </a:solidFill>
                <a:latin typeface="Arial"/>
              </a:rPr>
              <a:t>• Zéro service tiers payant</a:t>
            </a:r>
          </a:p>
        </p:txBody>
      </p:sp>
      <p:sp>
        <p:nvSpPr>
          <p:cNvPr id="17" name="TextBox 16"/>
          <p:cNvSpPr txBox="1"/>
          <p:nvPr/>
        </p:nvSpPr>
        <p:spPr>
          <a:xfrm>
            <a:off x="6047230" y="4402837"/>
            <a:ext cx="2731007" cy="292608"/>
          </a:xfrm>
          <a:prstGeom prst="rect">
            <a:avLst/>
          </a:prstGeom>
          <a:noFill/>
        </p:spPr>
        <p:txBody>
          <a:bodyPr wrap="square" lIns="0" tIns="0" rIns="0" bIns="0" anchor="ctr">
            <a:spAutoFit/>
          </a:bodyPr>
          <a:lstStyle/>
          <a:p>
            <a:pPr algn="l"/>
            <a:r>
              <a:rPr sz="1100" b="0" i="0">
                <a:solidFill>
                  <a:srgbClr val="595959"/>
                </a:solidFill>
                <a:latin typeface="Arial"/>
              </a:rPr>
              <a:t>• 100% reproductible en local</a:t>
            </a:r>
          </a:p>
        </p:txBody>
      </p:sp>
      <p:sp>
        <p:nvSpPr>
          <p:cNvPr id="18" name="TextBox 17"/>
          <p:cNvSpPr txBox="1"/>
          <p:nvPr/>
        </p:nvSpPr>
        <p:spPr>
          <a:xfrm>
            <a:off x="365758" y="4732019"/>
            <a:ext cx="8412480" cy="256032"/>
          </a:xfrm>
          <a:prstGeom prst="rect">
            <a:avLst/>
          </a:prstGeom>
          <a:noFill/>
        </p:spPr>
        <p:txBody>
          <a:bodyPr wrap="square" lIns="0" tIns="0" rIns="0" bIns="0" anchor="t">
            <a:spAutoFit/>
          </a:bodyPr>
          <a:lstStyle/>
          <a:p>
            <a:pPr algn="ctr"/>
            <a:r>
              <a:rPr sz="1000" b="0" i="1">
                <a:solidFill>
                  <a:srgbClr val="595959"/>
                </a:solidFill>
                <a:latin typeface="Arial"/>
              </a:rPr>
              <a:t>Pas la Lambda Architecture envisagée initialement (Kafka / Flink / Airflow)</a:t>
            </a:r>
          </a:p>
        </p:txBody>
      </p:sp>
      <p:sp>
        <p:nvSpPr>
          <p:cNvPr id="20" name="Google Shape;76;p15">
            <a:extLst>
              <a:ext uri="{FF2B5EF4-FFF2-40B4-BE49-F238E27FC236}">
                <a16:creationId xmlns:a16="http://schemas.microsoft.com/office/drawing/2014/main" id="{EBE96DEE-7484-DFA7-6E73-B2FB9488479D}"/>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Image 21">
            <a:extLst>
              <a:ext uri="{FF2B5EF4-FFF2-40B4-BE49-F238E27FC236}">
                <a16:creationId xmlns:a16="http://schemas.microsoft.com/office/drawing/2014/main" id="{7F73AF0E-E55F-712B-461D-F716DE17FA33}"/>
              </a:ext>
            </a:extLst>
          </p:cNvPr>
          <p:cNvPicPr>
            <a:picLocks noChangeAspect="1"/>
          </p:cNvPicPr>
          <p:nvPr/>
        </p:nvPicPr>
        <p:blipFill>
          <a:blip r:embed="rId3"/>
          <a:stretch>
            <a:fillRect/>
          </a:stretch>
        </p:blipFill>
        <p:spPr>
          <a:xfrm>
            <a:off x="777875" y="888155"/>
            <a:ext cx="6877050" cy="1638300"/>
          </a:xfrm>
          <a:prstGeom prst="rect">
            <a:avLst/>
          </a:prstGeom>
        </p:spPr>
      </p:pic>
      <p:sp>
        <p:nvSpPr>
          <p:cNvPr id="19" name="Espace réservé du numéro de diapositive 18">
            <a:extLst>
              <a:ext uri="{FF2B5EF4-FFF2-40B4-BE49-F238E27FC236}">
                <a16:creationId xmlns:a16="http://schemas.microsoft.com/office/drawing/2014/main" id="{B63C5AE4-C466-D0D0-C23A-41A1660063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35</a:t>
            </a:fld>
            <a:endParaRPr lang="fr-F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Flux temps réel — de la transaction à l'alerte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897379"/>
            <a:ext cx="1426463"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Node-RED</a:t>
            </a:r>
          </a:p>
          <a:p>
            <a:pPr algn="ctr"/>
            <a:r>
              <a:rPr sz="1000" b="0" i="0">
                <a:solidFill>
                  <a:srgbClr val="595959"/>
                </a:solidFill>
                <a:latin typeface="Arial"/>
              </a:rPr>
              <a:t>poll API / 5s</a:t>
            </a:r>
          </a:p>
        </p:txBody>
      </p:sp>
      <p:sp>
        <p:nvSpPr>
          <p:cNvPr id="5" name="Rectangle 4"/>
          <p:cNvSpPr/>
          <p:nvPr/>
        </p:nvSpPr>
        <p:spPr>
          <a:xfrm>
            <a:off x="365760" y="1897379"/>
            <a:ext cx="1426463"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1792224" y="2628900"/>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112263" y="1897379"/>
            <a:ext cx="1426463"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Mosquitto</a:t>
            </a:r>
          </a:p>
          <a:p>
            <a:pPr algn="ctr"/>
            <a:r>
              <a:rPr sz="1000" b="0" i="0">
                <a:solidFill>
                  <a:srgbClr val="595959"/>
                </a:solidFill>
                <a:latin typeface="Arial"/>
              </a:rPr>
              <a:t>payments/incoming, QoS 1</a:t>
            </a:r>
          </a:p>
        </p:txBody>
      </p:sp>
      <p:sp>
        <p:nvSpPr>
          <p:cNvPr id="8" name="Rectangle 7"/>
          <p:cNvSpPr/>
          <p:nvPr/>
        </p:nvSpPr>
        <p:spPr>
          <a:xfrm>
            <a:off x="2112263" y="1897379"/>
            <a:ext cx="1426463"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3538727" y="2628900"/>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858768" y="1897379"/>
            <a:ext cx="1426463"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consumer.py</a:t>
            </a:r>
          </a:p>
          <a:p>
            <a:pPr algn="ctr"/>
            <a:r>
              <a:rPr sz="1000" b="0" i="0">
                <a:solidFill>
                  <a:srgbClr val="595959"/>
                </a:solidFill>
                <a:latin typeface="Arial"/>
              </a:rPr>
              <a:t>clean + predict</a:t>
            </a:r>
          </a:p>
        </p:txBody>
      </p:sp>
      <p:sp>
        <p:nvSpPr>
          <p:cNvPr id="11" name="Rectangle 10"/>
          <p:cNvSpPr/>
          <p:nvPr/>
        </p:nvSpPr>
        <p:spPr>
          <a:xfrm>
            <a:off x="3858768" y="1897379"/>
            <a:ext cx="1426463"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5285231" y="2628900"/>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605271" y="1897379"/>
            <a:ext cx="1426463"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PostgreSQL</a:t>
            </a:r>
          </a:p>
          <a:p>
            <a:pPr algn="ctr"/>
            <a:r>
              <a:rPr sz="1000" b="0" i="0">
                <a:solidFill>
                  <a:srgbClr val="595959"/>
                </a:solidFill>
                <a:latin typeface="Arial"/>
              </a:rPr>
              <a:t>table predictions</a:t>
            </a:r>
          </a:p>
        </p:txBody>
      </p:sp>
      <p:sp>
        <p:nvSpPr>
          <p:cNvPr id="14" name="Rectangle 13"/>
          <p:cNvSpPr/>
          <p:nvPr/>
        </p:nvSpPr>
        <p:spPr>
          <a:xfrm>
            <a:off x="5605271" y="1897379"/>
            <a:ext cx="1426463"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7031735" y="2628900"/>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51775" y="1897379"/>
            <a:ext cx="1426463" cy="1463040"/>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E-mail</a:t>
            </a:r>
          </a:p>
          <a:p>
            <a:pPr algn="ctr"/>
            <a:r>
              <a:rPr sz="1000" b="0" i="0">
                <a:solidFill>
                  <a:srgbClr val="595959"/>
                </a:solidFill>
                <a:latin typeface="Arial"/>
              </a:rPr>
              <a:t>alerte si score ≥ seuil</a:t>
            </a:r>
          </a:p>
        </p:txBody>
      </p:sp>
      <p:sp>
        <p:nvSpPr>
          <p:cNvPr id="17" name="Rectangle 16"/>
          <p:cNvSpPr/>
          <p:nvPr/>
        </p:nvSpPr>
        <p:spPr>
          <a:xfrm>
            <a:off x="7351775" y="1897379"/>
            <a:ext cx="1426463"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Sans modèle chargé → transaction ignorée</a:t>
            </a:r>
          </a:p>
        </p:txBody>
      </p:sp>
      <p:sp>
        <p:nvSpPr>
          <p:cNvPr id="19" name="TextBox 18"/>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Pas de budget de latence formalisé</a:t>
            </a:r>
          </a:p>
        </p:txBody>
      </p:sp>
      <p:sp>
        <p:nvSpPr>
          <p:cNvPr id="20" name="TextBox 19"/>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Repli console si SMTP absent</a:t>
            </a:r>
          </a:p>
        </p:txBody>
      </p:sp>
      <p:sp>
        <p:nvSpPr>
          <p:cNvPr id="22" name="Google Shape;76;p15">
            <a:extLst>
              <a:ext uri="{FF2B5EF4-FFF2-40B4-BE49-F238E27FC236}">
                <a16:creationId xmlns:a16="http://schemas.microsoft.com/office/drawing/2014/main" id="{84270125-E283-A5DB-5BB6-0C9353EF18A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Espace réservé du numéro de diapositive 20">
            <a:extLst>
              <a:ext uri="{FF2B5EF4-FFF2-40B4-BE49-F238E27FC236}">
                <a16:creationId xmlns:a16="http://schemas.microsoft.com/office/drawing/2014/main" id="{FFE79E8C-5B33-F5D1-F01B-A217CE728F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36</a:t>
            </a:fld>
            <a:endParaRPr lang="fr-F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b="1" dirty="0">
                <a:solidFill>
                  <a:srgbClr val="212121"/>
                </a:solidFill>
                <a:latin typeface="Arial"/>
              </a:rPr>
              <a:t>Architecture </a:t>
            </a:r>
            <a:r>
              <a:rPr sz="2000" b="1" dirty="0" err="1">
                <a:solidFill>
                  <a:srgbClr val="212121"/>
                </a:solidFill>
                <a:latin typeface="Arial"/>
              </a:rPr>
              <a:t>globale</a:t>
            </a:r>
            <a:r>
              <a:rPr sz="2000" b="1" dirty="0">
                <a:solidFill>
                  <a:srgbClr val="212121"/>
                </a:solidFill>
                <a:latin typeface="Arial"/>
              </a:rPr>
              <a:t> — deux </a:t>
            </a:r>
            <a:r>
              <a:rPr sz="2000" b="1" dirty="0" err="1">
                <a:solidFill>
                  <a:srgbClr val="212121"/>
                </a:solidFill>
                <a:latin typeface="Arial"/>
              </a:rPr>
              <a:t>boucles</a:t>
            </a:r>
            <a:r>
              <a:rPr sz="2000" b="1" dirty="0">
                <a:solidFill>
                  <a:srgbClr val="212121"/>
                </a:solidFill>
                <a:latin typeface="Arial"/>
              </a:rPr>
              <a:t>, un point de </a:t>
            </a:r>
            <a:r>
              <a:rPr sz="2000" b="1" dirty="0" err="1">
                <a:solidFill>
                  <a:srgbClr val="212121"/>
                </a:solidFill>
                <a:latin typeface="Arial"/>
              </a:rPr>
              <a:t>croisement</a:t>
            </a:r>
            <a:endParaRPr sz="2000" b="1" dirty="0">
              <a:solidFill>
                <a:srgbClr val="212121"/>
              </a:solidFill>
              <a:latin typeface="Arial"/>
            </a:endParaRP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371600" cy="886967"/>
          </a:xfrm>
          <a:prstGeom prst="rect">
            <a:avLst/>
          </a:prstGeom>
          <a:noFill/>
        </p:spPr>
        <p:txBody>
          <a:bodyPr wrap="square" lIns="0" tIns="0" rIns="0" bIns="0" anchor="ctr">
            <a:spAutoFit/>
          </a:bodyPr>
          <a:lstStyle/>
          <a:p>
            <a:pPr algn="l"/>
            <a:r>
              <a:rPr sz="1100" b="1" i="0">
                <a:solidFill>
                  <a:srgbClr val="212121"/>
                </a:solidFill>
                <a:latin typeface="Arial"/>
              </a:rPr>
              <a:t>Boucle de données (temps réel)</a:t>
            </a:r>
          </a:p>
        </p:txBody>
      </p:sp>
      <p:sp>
        <p:nvSpPr>
          <p:cNvPr id="5" name="Rounded Rectangle 4"/>
          <p:cNvSpPr/>
          <p:nvPr/>
        </p:nvSpPr>
        <p:spPr>
          <a:xfrm>
            <a:off x="1828800" y="1170432"/>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API paiements</a:t>
            </a:r>
          </a:p>
        </p:txBody>
      </p:sp>
      <p:sp>
        <p:nvSpPr>
          <p:cNvPr id="6" name="Rectangle 5"/>
          <p:cNvSpPr/>
          <p:nvPr/>
        </p:nvSpPr>
        <p:spPr>
          <a:xfrm>
            <a:off x="1828800" y="1170432"/>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598164" y="1170432"/>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Node-RED</a:t>
            </a:r>
          </a:p>
        </p:txBody>
      </p:sp>
      <p:sp>
        <p:nvSpPr>
          <p:cNvPr id="8" name="Rectangle 7"/>
          <p:cNvSpPr/>
          <p:nvPr/>
        </p:nvSpPr>
        <p:spPr>
          <a:xfrm>
            <a:off x="3598164" y="1170432"/>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67528" y="1170432"/>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Mosquitto</a:t>
            </a:r>
          </a:p>
        </p:txBody>
      </p:sp>
      <p:sp>
        <p:nvSpPr>
          <p:cNvPr id="10" name="Rectangle 9"/>
          <p:cNvSpPr/>
          <p:nvPr/>
        </p:nvSpPr>
        <p:spPr>
          <a:xfrm>
            <a:off x="5367528" y="1170432"/>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136892" y="1170432"/>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Consumer</a:t>
            </a:r>
          </a:p>
        </p:txBody>
      </p:sp>
      <p:sp>
        <p:nvSpPr>
          <p:cNvPr id="12" name="Rectangle 11"/>
          <p:cNvSpPr/>
          <p:nvPr/>
        </p:nvSpPr>
        <p:spPr>
          <a:xfrm>
            <a:off x="7136892" y="1170432"/>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2185415"/>
            <a:ext cx="1371600" cy="886967"/>
          </a:xfrm>
          <a:prstGeom prst="rect">
            <a:avLst/>
          </a:prstGeom>
          <a:noFill/>
        </p:spPr>
        <p:txBody>
          <a:bodyPr wrap="square" lIns="0" tIns="0" rIns="0" bIns="0" anchor="ctr">
            <a:spAutoFit/>
          </a:bodyPr>
          <a:lstStyle/>
          <a:p>
            <a:pPr algn="l"/>
            <a:r>
              <a:rPr sz="1100" b="1" i="0" dirty="0">
                <a:solidFill>
                  <a:srgbClr val="212121"/>
                </a:solidFill>
                <a:latin typeface="Arial"/>
              </a:rPr>
              <a:t>Boucle de </a:t>
            </a:r>
            <a:r>
              <a:rPr sz="1100" b="1" i="0" dirty="0" err="1">
                <a:solidFill>
                  <a:srgbClr val="212121"/>
                </a:solidFill>
                <a:latin typeface="Arial"/>
              </a:rPr>
              <a:t>modèle</a:t>
            </a:r>
            <a:r>
              <a:rPr sz="1100" b="1" i="0" dirty="0">
                <a:solidFill>
                  <a:srgbClr val="212121"/>
                </a:solidFill>
                <a:latin typeface="Arial"/>
              </a:rPr>
              <a:t> (CI/CD)</a:t>
            </a:r>
          </a:p>
        </p:txBody>
      </p:sp>
      <p:sp>
        <p:nvSpPr>
          <p:cNvPr id="14" name="Rounded Rectangle 13"/>
          <p:cNvSpPr/>
          <p:nvPr/>
        </p:nvSpPr>
        <p:spPr>
          <a:xfrm>
            <a:off x="1828800" y="2185415"/>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Gitea</a:t>
            </a:r>
          </a:p>
        </p:txBody>
      </p:sp>
      <p:sp>
        <p:nvSpPr>
          <p:cNvPr id="15" name="Rectangle 14"/>
          <p:cNvSpPr/>
          <p:nvPr/>
        </p:nvSpPr>
        <p:spPr>
          <a:xfrm>
            <a:off x="1828800" y="2185415"/>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598164" y="2185415"/>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Gitea Actions</a:t>
            </a:r>
          </a:p>
        </p:txBody>
      </p:sp>
      <p:sp>
        <p:nvSpPr>
          <p:cNvPr id="17" name="Rectangle 16"/>
          <p:cNvSpPr/>
          <p:nvPr/>
        </p:nvSpPr>
        <p:spPr>
          <a:xfrm>
            <a:off x="3598164" y="2185415"/>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367528" y="2185415"/>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MLflow</a:t>
            </a:r>
          </a:p>
        </p:txBody>
      </p:sp>
      <p:sp>
        <p:nvSpPr>
          <p:cNvPr id="19" name="Rectangle 18"/>
          <p:cNvSpPr/>
          <p:nvPr/>
        </p:nvSpPr>
        <p:spPr>
          <a:xfrm>
            <a:off x="5367528" y="2185415"/>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136892" y="2185415"/>
            <a:ext cx="1641348"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Signal MQTT</a:t>
            </a:r>
          </a:p>
        </p:txBody>
      </p:sp>
      <p:sp>
        <p:nvSpPr>
          <p:cNvPr id="21" name="Rectangle 20"/>
          <p:cNvSpPr/>
          <p:nvPr/>
        </p:nvSpPr>
        <p:spPr>
          <a:xfrm>
            <a:off x="7136892" y="2185415"/>
            <a:ext cx="1641348"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3200400"/>
            <a:ext cx="1371600" cy="886967"/>
          </a:xfrm>
          <a:prstGeom prst="rect">
            <a:avLst/>
          </a:prstGeom>
          <a:noFill/>
        </p:spPr>
        <p:txBody>
          <a:bodyPr wrap="square" lIns="0" tIns="0" rIns="0" bIns="0" anchor="ctr">
            <a:spAutoFit/>
          </a:bodyPr>
          <a:lstStyle/>
          <a:p>
            <a:pPr algn="l"/>
            <a:r>
              <a:rPr sz="1100" b="1" i="0">
                <a:solidFill>
                  <a:srgbClr val="212121"/>
                </a:solidFill>
                <a:latin typeface="Arial"/>
              </a:rPr>
              <a:t>Restitution</a:t>
            </a:r>
          </a:p>
        </p:txBody>
      </p:sp>
      <p:sp>
        <p:nvSpPr>
          <p:cNvPr id="23" name="Rounded Rectangle 22"/>
          <p:cNvSpPr/>
          <p:nvPr/>
        </p:nvSpPr>
        <p:spPr>
          <a:xfrm>
            <a:off x="1828800" y="3200400"/>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PostgreSQL</a:t>
            </a:r>
          </a:p>
        </p:txBody>
      </p:sp>
      <p:sp>
        <p:nvSpPr>
          <p:cNvPr id="24" name="Rectangle 23"/>
          <p:cNvSpPr/>
          <p:nvPr/>
        </p:nvSpPr>
        <p:spPr>
          <a:xfrm>
            <a:off x="1828800" y="3200400"/>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187952" y="3200400"/>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Grafana</a:t>
            </a:r>
          </a:p>
        </p:txBody>
      </p:sp>
      <p:sp>
        <p:nvSpPr>
          <p:cNvPr id="26" name="Rectangle 25"/>
          <p:cNvSpPr/>
          <p:nvPr/>
        </p:nvSpPr>
        <p:spPr>
          <a:xfrm>
            <a:off x="4187952" y="3200400"/>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547104" y="3200400"/>
            <a:ext cx="2231136" cy="88696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Alerte e-mail</a:t>
            </a:r>
          </a:p>
        </p:txBody>
      </p:sp>
      <p:sp>
        <p:nvSpPr>
          <p:cNvPr id="28" name="Rectangle 27"/>
          <p:cNvSpPr/>
          <p:nvPr/>
        </p:nvSpPr>
        <p:spPr>
          <a:xfrm>
            <a:off x="6547104" y="3200400"/>
            <a:ext cx="223113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1 seul broker Mosquitto, 2 topics</a:t>
            </a:r>
          </a:p>
        </p:txBody>
      </p:sp>
      <p:sp>
        <p:nvSpPr>
          <p:cNvPr id="30" name="TextBox 29"/>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Gitea Actions publie lui-même le signal</a:t>
            </a:r>
          </a:p>
        </p:txBody>
      </p:sp>
      <p:sp>
        <p:nvSpPr>
          <p:cNvPr id="31" name="TextBox 30"/>
          <p:cNvSpPr txBox="1"/>
          <p:nvPr/>
        </p:nvSpPr>
        <p:spPr>
          <a:xfrm>
            <a:off x="5937502" y="4258761"/>
            <a:ext cx="2840737" cy="169277"/>
          </a:xfrm>
          <a:prstGeom prst="rect">
            <a:avLst/>
          </a:prstGeom>
          <a:noFill/>
        </p:spPr>
        <p:txBody>
          <a:bodyPr wrap="square" lIns="0" tIns="0" rIns="0" bIns="0" anchor="ctr">
            <a:spAutoFit/>
          </a:bodyPr>
          <a:lstStyle/>
          <a:p>
            <a:pPr algn="l"/>
            <a:r>
              <a:rPr sz="1100" b="0" i="0" dirty="0">
                <a:solidFill>
                  <a:srgbClr val="595959"/>
                </a:solidFill>
                <a:latin typeface="Arial"/>
              </a:rPr>
              <a:t>• Consumer ne recharge </a:t>
            </a:r>
            <a:r>
              <a:rPr sz="1100" b="0" i="0" dirty="0" err="1">
                <a:solidFill>
                  <a:srgbClr val="595959"/>
                </a:solidFill>
                <a:latin typeface="Arial"/>
              </a:rPr>
              <a:t>que</a:t>
            </a:r>
            <a:r>
              <a:rPr sz="1100" b="0" i="0" dirty="0">
                <a:solidFill>
                  <a:srgbClr val="595959"/>
                </a:solidFill>
                <a:latin typeface="Arial"/>
              </a:rPr>
              <a:t> sur signal </a:t>
            </a:r>
            <a:r>
              <a:rPr sz="1100" b="0" i="0" dirty="0" err="1">
                <a:solidFill>
                  <a:srgbClr val="595959"/>
                </a:solidFill>
                <a:latin typeface="Arial"/>
              </a:rPr>
              <a:t>reçu</a:t>
            </a:r>
            <a:endParaRPr sz="1100" b="0" i="0" dirty="0">
              <a:solidFill>
                <a:srgbClr val="595959"/>
              </a:solidFill>
              <a:latin typeface="Arial"/>
            </a:endParaRPr>
          </a:p>
        </p:txBody>
      </p:sp>
      <p:sp>
        <p:nvSpPr>
          <p:cNvPr id="32" name="TextBox 31"/>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Le consumer Python est le seul point où les deux boucles se croisent</a:t>
            </a:r>
          </a:p>
        </p:txBody>
      </p:sp>
      <p:sp>
        <p:nvSpPr>
          <p:cNvPr id="34" name="Google Shape;76;p15">
            <a:extLst>
              <a:ext uri="{FF2B5EF4-FFF2-40B4-BE49-F238E27FC236}">
                <a16:creationId xmlns:a16="http://schemas.microsoft.com/office/drawing/2014/main" id="{9E85C243-E516-6F2E-61C7-C321085F56AB}"/>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Espace réservé du numéro de diapositive 32">
            <a:extLst>
              <a:ext uri="{FF2B5EF4-FFF2-40B4-BE49-F238E27FC236}">
                <a16:creationId xmlns:a16="http://schemas.microsoft.com/office/drawing/2014/main" id="{1F877F55-E0F4-19C4-269E-362DE24787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37</a:t>
            </a:fld>
            <a:endParaRPr lang="fr-F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F5B06-2C92-83D1-BB9B-A060D53BEC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DFE19-AD80-A24E-A352-AAF6F498A5E4}"/>
              </a:ext>
            </a:extLst>
          </p:cNvPr>
          <p:cNvSpPr>
            <a:spLocks noGrp="1"/>
          </p:cNvSpPr>
          <p:nvPr>
            <p:ph type="title"/>
          </p:nvPr>
        </p:nvSpPr>
        <p:spPr/>
        <p:txBody>
          <a:bodyPr/>
          <a:lstStyle/>
          <a:p>
            <a:r>
              <a:rPr lang="fr-FR" sz="2000" b="1" dirty="0">
                <a:solidFill>
                  <a:srgbClr val="212121"/>
                </a:solidFill>
                <a:latin typeface="Arial"/>
              </a:rPr>
              <a:t>Pipeline</a:t>
            </a:r>
            <a:r>
              <a:rPr sz="2000" b="1" dirty="0">
                <a:solidFill>
                  <a:srgbClr val="212121"/>
                </a:solidFill>
                <a:latin typeface="Arial"/>
              </a:rPr>
              <a:t> — </a:t>
            </a:r>
            <a:r>
              <a:rPr lang="fr-FR" sz="2000" b="1" dirty="0">
                <a:solidFill>
                  <a:srgbClr val="212121"/>
                </a:solidFill>
                <a:latin typeface="Arial"/>
              </a:rPr>
              <a:t>CI/CD</a:t>
            </a:r>
            <a:endParaRPr sz="2000" b="1" dirty="0">
              <a:solidFill>
                <a:srgbClr val="212121"/>
              </a:solidFill>
              <a:latin typeface="Arial"/>
            </a:endParaRPr>
          </a:p>
        </p:txBody>
      </p:sp>
      <p:sp>
        <p:nvSpPr>
          <p:cNvPr id="3" name="Rectangle 2">
            <a:extLst>
              <a:ext uri="{FF2B5EF4-FFF2-40B4-BE49-F238E27FC236}">
                <a16:creationId xmlns:a16="http://schemas.microsoft.com/office/drawing/2014/main" id="{1225AF14-6F1A-954F-03CC-B142A7A92FB4}"/>
              </a:ext>
            </a:extLst>
          </p:cNvPr>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FFD61809-937D-B60F-92E2-0C418E2345D5}"/>
              </a:ext>
            </a:extLst>
          </p:cNvPr>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Déclencheur réel : git push sur main (Gitea Actions)</a:t>
            </a:r>
          </a:p>
        </p:txBody>
      </p:sp>
      <p:pic>
        <p:nvPicPr>
          <p:cNvPr id="5" name="Image 4">
            <a:extLst>
              <a:ext uri="{FF2B5EF4-FFF2-40B4-BE49-F238E27FC236}">
                <a16:creationId xmlns:a16="http://schemas.microsoft.com/office/drawing/2014/main" id="{B7F50CFA-5F66-860C-7959-C757AA1C24F4}"/>
              </a:ext>
            </a:extLst>
          </p:cNvPr>
          <p:cNvPicPr>
            <a:picLocks noChangeAspect="1"/>
          </p:cNvPicPr>
          <p:nvPr/>
        </p:nvPicPr>
        <p:blipFill>
          <a:blip r:embed="rId3"/>
          <a:stretch>
            <a:fillRect/>
          </a:stretch>
        </p:blipFill>
        <p:spPr>
          <a:xfrm>
            <a:off x="290512" y="1300162"/>
            <a:ext cx="8562975" cy="2543175"/>
          </a:xfrm>
          <a:prstGeom prst="rect">
            <a:avLst/>
          </a:prstGeom>
        </p:spPr>
      </p:pic>
      <p:sp>
        <p:nvSpPr>
          <p:cNvPr id="4" name="Espace réservé du numéro de diapositive 3">
            <a:extLst>
              <a:ext uri="{FF2B5EF4-FFF2-40B4-BE49-F238E27FC236}">
                <a16:creationId xmlns:a16="http://schemas.microsoft.com/office/drawing/2014/main" id="{B0FBC646-7362-45AB-0298-E22477531A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38</a:t>
            </a:fld>
            <a:endParaRPr lang="fr-FR"/>
          </a:p>
        </p:txBody>
      </p:sp>
    </p:spTree>
    <p:extLst>
      <p:ext uri="{BB962C8B-B14F-4D97-AF65-F5344CB8AC3E}">
        <p14:creationId xmlns:p14="http://schemas.microsoft.com/office/powerpoint/2010/main" val="2966200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b="1" dirty="0" err="1">
                <a:solidFill>
                  <a:srgbClr val="212121"/>
                </a:solidFill>
                <a:latin typeface="Arial"/>
              </a:rPr>
              <a:t>Réentraînement</a:t>
            </a:r>
            <a:r>
              <a:rPr sz="2000" b="1" dirty="0">
                <a:solidFill>
                  <a:srgbClr val="212121"/>
                </a:solidFill>
                <a:latin typeface="Arial"/>
              </a:rPr>
              <a:t> — un push de code, pas </a:t>
            </a:r>
            <a:r>
              <a:rPr lang="fr-FR" sz="2000" b="1" dirty="0">
                <a:solidFill>
                  <a:srgbClr val="212121"/>
                </a:solidFill>
                <a:latin typeface="Arial"/>
              </a:rPr>
              <a:t>de</a:t>
            </a:r>
            <a:r>
              <a:rPr sz="2000" b="1" dirty="0">
                <a:solidFill>
                  <a:srgbClr val="212121"/>
                </a:solidFill>
                <a:latin typeface="Arial"/>
              </a:rPr>
              <a:t> DAG</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4258761"/>
            <a:ext cx="2979783" cy="169277"/>
          </a:xfrm>
          <a:prstGeom prst="rect">
            <a:avLst/>
          </a:prstGeom>
          <a:noFill/>
        </p:spPr>
        <p:txBody>
          <a:bodyPr wrap="square" lIns="0" tIns="0" rIns="0" bIns="0" anchor="ctr">
            <a:spAutoFit/>
          </a:bodyPr>
          <a:lstStyle/>
          <a:p>
            <a:pPr algn="l"/>
            <a:r>
              <a:rPr sz="1100" b="0" i="0" dirty="0">
                <a:solidFill>
                  <a:srgbClr val="595959"/>
                </a:solidFill>
                <a:latin typeface="Arial"/>
              </a:rPr>
              <a:t>• Promotion </a:t>
            </a:r>
            <a:r>
              <a:rPr sz="1100" b="0" i="0" dirty="0" err="1">
                <a:solidFill>
                  <a:srgbClr val="595959"/>
                </a:solidFill>
                <a:latin typeface="Arial"/>
              </a:rPr>
              <a:t>seulement</a:t>
            </a:r>
            <a:r>
              <a:rPr sz="1100" b="0" i="0" dirty="0">
                <a:solidFill>
                  <a:srgbClr val="595959"/>
                </a:solidFill>
                <a:latin typeface="Arial"/>
              </a:rPr>
              <a:t> </a:t>
            </a:r>
            <a:r>
              <a:rPr sz="1100" b="0" i="0" dirty="0" err="1">
                <a:solidFill>
                  <a:srgbClr val="595959"/>
                </a:solidFill>
                <a:latin typeface="Arial"/>
              </a:rPr>
              <a:t>si</a:t>
            </a:r>
            <a:r>
              <a:rPr sz="1100" b="0" i="0" dirty="0">
                <a:solidFill>
                  <a:srgbClr val="595959"/>
                </a:solidFill>
                <a:latin typeface="Arial"/>
              </a:rPr>
              <a:t> </a:t>
            </a:r>
            <a:r>
              <a:rPr sz="1100" b="0" i="0" dirty="0" err="1">
                <a:solidFill>
                  <a:srgbClr val="595959"/>
                </a:solidFill>
                <a:latin typeface="Arial"/>
              </a:rPr>
              <a:t>meilleur</a:t>
            </a:r>
            <a:r>
              <a:rPr sz="1100" b="0" i="0" dirty="0">
                <a:solidFill>
                  <a:srgbClr val="595959"/>
                </a:solidFill>
                <a:latin typeface="Arial"/>
              </a:rPr>
              <a:t> (F1 </a:t>
            </a:r>
            <a:r>
              <a:rPr sz="1100" b="0" i="0" dirty="0" err="1">
                <a:solidFill>
                  <a:srgbClr val="595959"/>
                </a:solidFill>
                <a:latin typeface="Arial"/>
              </a:rPr>
              <a:t>d'abord</a:t>
            </a:r>
            <a:r>
              <a:rPr sz="1100" b="0" i="0" dirty="0">
                <a:solidFill>
                  <a:srgbClr val="595959"/>
                </a:solidFill>
                <a:latin typeface="Arial"/>
              </a:rPr>
              <a:t>)</a:t>
            </a:r>
          </a:p>
        </p:txBody>
      </p:sp>
      <p:sp>
        <p:nvSpPr>
          <p:cNvPr id="28" name="TextBox 27"/>
          <p:cNvSpPr txBox="1"/>
          <p:nvPr/>
        </p:nvSpPr>
        <p:spPr>
          <a:xfrm>
            <a:off x="3316225" y="4197096"/>
            <a:ext cx="2731007" cy="292608"/>
          </a:xfrm>
          <a:prstGeom prst="rect">
            <a:avLst/>
          </a:prstGeom>
          <a:noFill/>
        </p:spPr>
        <p:txBody>
          <a:bodyPr wrap="square" lIns="0" tIns="0" rIns="0" bIns="0" anchor="ctr">
            <a:spAutoFit/>
          </a:bodyPr>
          <a:lstStyle/>
          <a:p>
            <a:pPr algn="l"/>
            <a:r>
              <a:rPr sz="1100" b="0" i="0" dirty="0">
                <a:solidFill>
                  <a:srgbClr val="595959"/>
                </a:solidFill>
                <a:latin typeface="Arial"/>
              </a:rPr>
              <a:t>• Consumer recharge sans </a:t>
            </a:r>
            <a:r>
              <a:rPr sz="1100" b="0" i="0" dirty="0" err="1">
                <a:solidFill>
                  <a:srgbClr val="595959"/>
                </a:solidFill>
                <a:latin typeface="Arial"/>
              </a:rPr>
              <a:t>redémarrage</a:t>
            </a:r>
            <a:endParaRPr sz="1100" b="0" i="0" dirty="0">
              <a:solidFill>
                <a:srgbClr val="595959"/>
              </a:solidFill>
              <a:latin typeface="Arial"/>
            </a:endParaRPr>
          </a:p>
        </p:txBody>
      </p:sp>
      <p:sp>
        <p:nvSpPr>
          <p:cNvPr id="29" name="TextBox 28"/>
          <p:cNvSpPr txBox="1"/>
          <p:nvPr/>
        </p:nvSpPr>
        <p:spPr>
          <a:xfrm>
            <a:off x="6047232" y="4197096"/>
            <a:ext cx="2731007" cy="292608"/>
          </a:xfrm>
          <a:prstGeom prst="rect">
            <a:avLst/>
          </a:prstGeom>
          <a:noFill/>
        </p:spPr>
        <p:txBody>
          <a:bodyPr wrap="square" lIns="0" tIns="0" rIns="0" bIns="0" anchor="ctr">
            <a:spAutoFit/>
          </a:bodyPr>
          <a:lstStyle/>
          <a:p>
            <a:pPr algn="l"/>
            <a:r>
              <a:rPr sz="1100" b="0" i="0" dirty="0">
                <a:solidFill>
                  <a:srgbClr val="595959"/>
                </a:solidFill>
                <a:latin typeface="Arial"/>
              </a:rPr>
              <a:t>• Signal MQTT </a:t>
            </a:r>
            <a:r>
              <a:rPr sz="1100" b="0" i="0" dirty="0" err="1">
                <a:solidFill>
                  <a:srgbClr val="595959"/>
                </a:solidFill>
                <a:latin typeface="Arial"/>
              </a:rPr>
              <a:t>publié</a:t>
            </a:r>
            <a:r>
              <a:rPr sz="1100" b="0" i="0" dirty="0">
                <a:solidFill>
                  <a:srgbClr val="595959"/>
                </a:solidFill>
                <a:latin typeface="Arial"/>
              </a:rPr>
              <a:t> dans </a:t>
            </a:r>
            <a:r>
              <a:rPr sz="1100" b="0" i="0" dirty="0" err="1">
                <a:solidFill>
                  <a:srgbClr val="595959"/>
                </a:solidFill>
                <a:latin typeface="Arial"/>
              </a:rPr>
              <a:t>tous</a:t>
            </a:r>
            <a:r>
              <a:rPr sz="1100" b="0" i="0" dirty="0">
                <a:solidFill>
                  <a:srgbClr val="595959"/>
                </a:solidFill>
                <a:latin typeface="Arial"/>
              </a:rPr>
              <a:t> les </a:t>
            </a:r>
            <a:r>
              <a:rPr sz="1100" b="0" i="0" dirty="0" err="1">
                <a:solidFill>
                  <a:srgbClr val="595959"/>
                </a:solidFill>
                <a:latin typeface="Arial"/>
              </a:rPr>
              <a:t>cas</a:t>
            </a:r>
            <a:endParaRPr sz="1100" b="0" i="0" dirty="0">
              <a:solidFill>
                <a:srgbClr val="595959"/>
              </a:solidFill>
              <a:latin typeface="Arial"/>
            </a:endParaRPr>
          </a:p>
        </p:txBody>
      </p:sp>
      <p:sp>
        <p:nvSpPr>
          <p:cNvPr id="30" name="TextBox 29"/>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Déclencheur réel : git push sur main (Gitea Actions)</a:t>
            </a:r>
          </a:p>
        </p:txBody>
      </p:sp>
      <p:pic>
        <p:nvPicPr>
          <p:cNvPr id="34" name="Image 33">
            <a:extLst>
              <a:ext uri="{FF2B5EF4-FFF2-40B4-BE49-F238E27FC236}">
                <a16:creationId xmlns:a16="http://schemas.microsoft.com/office/drawing/2014/main" id="{A34D8618-202E-7BFB-2F40-763E0D7302C5}"/>
              </a:ext>
            </a:extLst>
          </p:cNvPr>
          <p:cNvPicPr>
            <a:picLocks noChangeAspect="1"/>
          </p:cNvPicPr>
          <p:nvPr/>
        </p:nvPicPr>
        <p:blipFill>
          <a:blip r:embed="rId3"/>
          <a:stretch>
            <a:fillRect/>
          </a:stretch>
        </p:blipFill>
        <p:spPr>
          <a:xfrm>
            <a:off x="323850" y="1100137"/>
            <a:ext cx="8496300" cy="2943225"/>
          </a:xfrm>
          <a:prstGeom prst="rect">
            <a:avLst/>
          </a:prstGeom>
        </p:spPr>
      </p:pic>
      <p:sp>
        <p:nvSpPr>
          <p:cNvPr id="4" name="Espace réservé du numéro de diapositive 3">
            <a:extLst>
              <a:ext uri="{FF2B5EF4-FFF2-40B4-BE49-F238E27FC236}">
                <a16:creationId xmlns:a16="http://schemas.microsoft.com/office/drawing/2014/main" id="{17560BB7-0483-7BC3-E5CF-870B34927B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39</a:t>
            </a:fld>
            <a:endParaRPr lang="fr-F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Sécurité &amp; conformité — ce qui reste à corriger</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170432"/>
            <a:ext cx="4069079" cy="291693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l"/>
            <a:r>
              <a:rPr sz="1300" b="1" i="0">
                <a:solidFill>
                  <a:srgbClr val="212121"/>
                </a:solidFill>
                <a:latin typeface="Arial"/>
              </a:rPr>
              <a:t>En place</a:t>
            </a:r>
          </a:p>
          <a:p>
            <a:pPr algn="l"/>
            <a:r>
              <a:rPr sz="1100" b="0" i="0">
                <a:solidFill>
                  <a:srgbClr val="595959"/>
                </a:solidFill>
                <a:latin typeface="Arial"/>
              </a:rPr>
              <a:t>Secrets en variables d'environnement</a:t>
            </a:r>
          </a:p>
          <a:p>
            <a:pPr algn="l"/>
            <a:r>
              <a:rPr sz="1100" b="0" i="0">
                <a:solidFill>
                  <a:srgbClr val="595959"/>
                </a:solidFill>
                <a:latin typeface="Arial"/>
              </a:rPr>
              <a:t>Réseau Docker isolé (fraudhunter-net)</a:t>
            </a:r>
          </a:p>
          <a:p>
            <a:pPr algn="l"/>
            <a:r>
              <a:rPr sz="1100" b="0" i="0">
                <a:solidFill>
                  <a:srgbClr val="595959"/>
                </a:solidFill>
                <a:latin typeface="Arial"/>
              </a:rPr>
              <a:t>Accès au socket Docker limité au runner CI</a:t>
            </a:r>
          </a:p>
        </p:txBody>
      </p:sp>
      <p:sp>
        <p:nvSpPr>
          <p:cNvPr id="5" name="Rectangle 4"/>
          <p:cNvSpPr/>
          <p:nvPr/>
        </p:nvSpPr>
        <p:spPr>
          <a:xfrm>
            <a:off x="365760" y="1170432"/>
            <a:ext cx="406907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709159" y="1170432"/>
            <a:ext cx="4069079" cy="291693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l"/>
            <a:r>
              <a:rPr sz="1300" b="1" i="0">
                <a:solidFill>
                  <a:srgbClr val="212121"/>
                </a:solidFill>
                <a:latin typeface="Arial"/>
              </a:rPr>
              <a:t>À corriger avant tout usage réel</a:t>
            </a:r>
          </a:p>
          <a:p>
            <a:pPr algn="l"/>
            <a:r>
              <a:rPr sz="1100" b="0" i="0">
                <a:solidFill>
                  <a:srgbClr val="595959"/>
                </a:solidFill>
                <a:latin typeface="Arial"/>
              </a:rPr>
              <a:t>cc_num stocké en clair dans predictions</a:t>
            </a:r>
          </a:p>
          <a:p>
            <a:pPr algn="l"/>
            <a:r>
              <a:rPr sz="1100" b="0" i="0">
                <a:solidFill>
                  <a:srgbClr val="595959"/>
                </a:solidFill>
                <a:latin typeface="Arial"/>
              </a:rPr>
              <a:t>Pseudonymisation conçue, non codée</a:t>
            </a:r>
          </a:p>
          <a:p>
            <a:pPr algn="l"/>
            <a:r>
              <a:rPr sz="1100" b="0" i="0">
                <a:solidFill>
                  <a:srgbClr val="595959"/>
                </a:solidFill>
                <a:latin typeface="Arial"/>
              </a:rPr>
              <a:t>Pas de chiffrement au repos configuré</a:t>
            </a:r>
          </a:p>
        </p:txBody>
      </p:sp>
      <p:sp>
        <p:nvSpPr>
          <p:cNvPr id="7" name="Rectangle 6"/>
          <p:cNvSpPr/>
          <p:nvPr/>
        </p:nvSpPr>
        <p:spPr>
          <a:xfrm>
            <a:off x="4709159" y="1170432"/>
            <a:ext cx="4069079" cy="54864"/>
          </a:xfrm>
          <a:prstGeom prst="rect">
            <a:avLst/>
          </a:prstGeom>
          <a:solidFill>
            <a:srgbClr val="E64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Dataset Kaggle public (fraudTest.csv)</a:t>
            </a:r>
          </a:p>
        </p:txBody>
      </p:sp>
      <p:sp>
        <p:nvSpPr>
          <p:cNvPr id="9" name="TextBox 8"/>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Pas de données clients réelles utilisées</a:t>
            </a:r>
          </a:p>
        </p:txBody>
      </p:sp>
      <p:sp>
        <p:nvSpPr>
          <p:cNvPr id="10" name="TextBox 9"/>
          <p:cNvSpPr txBox="1"/>
          <p:nvPr/>
        </p:nvSpPr>
        <p:spPr>
          <a:xfrm>
            <a:off x="6047232" y="4258761"/>
            <a:ext cx="3002425" cy="169277"/>
          </a:xfrm>
          <a:prstGeom prst="rect">
            <a:avLst/>
          </a:prstGeom>
          <a:noFill/>
        </p:spPr>
        <p:txBody>
          <a:bodyPr wrap="square" lIns="0" tIns="0" rIns="0" bIns="0" anchor="ctr">
            <a:spAutoFit/>
          </a:bodyPr>
          <a:lstStyle/>
          <a:p>
            <a:pPr algn="l"/>
            <a:r>
              <a:rPr sz="1100" b="0" i="0" dirty="0">
                <a:solidFill>
                  <a:srgbClr val="595959"/>
                </a:solidFill>
                <a:latin typeface="Arial"/>
              </a:rPr>
              <a:t>• </a:t>
            </a:r>
            <a:r>
              <a:rPr sz="1100" b="0" i="0" dirty="0" err="1">
                <a:solidFill>
                  <a:srgbClr val="595959"/>
                </a:solidFill>
                <a:latin typeface="Arial"/>
              </a:rPr>
              <a:t>Pseudonymisation</a:t>
            </a:r>
            <a:r>
              <a:rPr sz="1100" b="0" i="0" dirty="0">
                <a:solidFill>
                  <a:srgbClr val="595959"/>
                </a:solidFill>
                <a:latin typeface="Arial"/>
              </a:rPr>
              <a:t> = </a:t>
            </a:r>
            <a:r>
              <a:rPr sz="1100" b="0" i="0" dirty="0" err="1">
                <a:solidFill>
                  <a:srgbClr val="595959"/>
                </a:solidFill>
                <a:latin typeface="Arial"/>
              </a:rPr>
              <a:t>priorité</a:t>
            </a:r>
            <a:r>
              <a:rPr sz="1100" b="0" i="0" dirty="0">
                <a:solidFill>
                  <a:srgbClr val="595959"/>
                </a:solidFill>
                <a:latin typeface="Arial"/>
              </a:rPr>
              <a:t> avant mise </a:t>
            </a:r>
            <a:r>
              <a:rPr sz="1100" b="0" i="0" dirty="0" err="1">
                <a:solidFill>
                  <a:srgbClr val="595959"/>
                </a:solidFill>
                <a:latin typeface="Arial"/>
              </a:rPr>
              <a:t>en</a:t>
            </a:r>
            <a:r>
              <a:rPr sz="1100" b="0" i="0" dirty="0">
                <a:solidFill>
                  <a:srgbClr val="595959"/>
                </a:solidFill>
                <a:latin typeface="Arial"/>
              </a:rPr>
              <a:t> </a:t>
            </a:r>
            <a:r>
              <a:rPr sz="1100" b="0" i="0" dirty="0" err="1">
                <a:solidFill>
                  <a:srgbClr val="595959"/>
                </a:solidFill>
                <a:latin typeface="Arial"/>
              </a:rPr>
              <a:t>réel</a:t>
            </a:r>
            <a:endParaRPr sz="1100" b="0" i="0" dirty="0">
              <a:solidFill>
                <a:srgbClr val="595959"/>
              </a:solidFill>
              <a:latin typeface="Arial"/>
            </a:endParaRPr>
          </a:p>
        </p:txBody>
      </p:sp>
      <p:sp>
        <p:nvSpPr>
          <p:cNvPr id="12" name="Google Shape;76;p15">
            <a:extLst>
              <a:ext uri="{FF2B5EF4-FFF2-40B4-BE49-F238E27FC236}">
                <a16:creationId xmlns:a16="http://schemas.microsoft.com/office/drawing/2014/main" id="{729D3ED1-5D10-879B-6F91-9F17CB46FB2F}"/>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Espace réservé du numéro de diapositive 10">
            <a:extLst>
              <a:ext uri="{FF2B5EF4-FFF2-40B4-BE49-F238E27FC236}">
                <a16:creationId xmlns:a16="http://schemas.microsoft.com/office/drawing/2014/main" id="{A70B795C-0967-6FDB-EE8C-D875E4AFB5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40</a:t>
            </a:fld>
            <a:endParaRPr lang="fr-F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b="1" dirty="0" err="1">
                <a:solidFill>
                  <a:srgbClr val="212121"/>
                </a:solidFill>
                <a:latin typeface="Arial"/>
              </a:rPr>
              <a:t>Qualité</a:t>
            </a:r>
            <a:r>
              <a:rPr sz="2000" b="1" dirty="0">
                <a:solidFill>
                  <a:srgbClr val="212121"/>
                </a:solidFill>
                <a:latin typeface="Arial"/>
              </a:rPr>
              <a:t> des données &amp; monitoring — </a:t>
            </a:r>
            <a:r>
              <a:rPr sz="2000" b="1" dirty="0" err="1">
                <a:solidFill>
                  <a:srgbClr val="212121"/>
                </a:solidFill>
                <a:latin typeface="Arial"/>
              </a:rPr>
              <a:t>honnêtes</a:t>
            </a:r>
            <a:r>
              <a:rPr sz="2000" b="1" dirty="0">
                <a:solidFill>
                  <a:srgbClr val="212121"/>
                </a:solidFill>
                <a:latin typeface="Arial"/>
              </a:rPr>
              <a:t> sur les </a:t>
            </a:r>
            <a:r>
              <a:rPr sz="2000" b="1" dirty="0" err="1">
                <a:solidFill>
                  <a:srgbClr val="212121"/>
                </a:solidFill>
                <a:latin typeface="Arial"/>
              </a:rPr>
              <a:t>limites</a:t>
            </a:r>
            <a:endParaRPr sz="2000" b="1" dirty="0">
              <a:solidFill>
                <a:srgbClr val="212121"/>
              </a:solidFill>
              <a:latin typeface="Arial"/>
            </a:endParaRP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554480" cy="862583"/>
          </a:xfrm>
          <a:prstGeom prst="rect">
            <a:avLst/>
          </a:prstGeom>
          <a:noFill/>
        </p:spPr>
        <p:txBody>
          <a:bodyPr wrap="square" lIns="0" tIns="0" rIns="0" bIns="0" anchor="ctr">
            <a:spAutoFit/>
          </a:bodyPr>
          <a:lstStyle/>
          <a:p>
            <a:pPr algn="l"/>
            <a:r>
              <a:rPr sz="1100" b="1" i="0">
                <a:solidFill>
                  <a:srgbClr val="212121"/>
                </a:solidFill>
                <a:latin typeface="Arial"/>
              </a:rPr>
              <a:t>Qualité des données</a:t>
            </a:r>
          </a:p>
        </p:txBody>
      </p:sp>
      <p:sp>
        <p:nvSpPr>
          <p:cNvPr id="5" name="Rounded Rectangle 4"/>
          <p:cNvSpPr/>
          <p:nvPr/>
        </p:nvSpPr>
        <p:spPr>
          <a:xfrm>
            <a:off x="2011680" y="1170432"/>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Validation nulls / doublons</a:t>
            </a:r>
          </a:p>
        </p:txBody>
      </p:sp>
      <p:sp>
        <p:nvSpPr>
          <p:cNvPr id="6" name="Rounded Rectangle 5"/>
          <p:cNvSpPr/>
          <p:nvPr/>
        </p:nvSpPr>
        <p:spPr>
          <a:xfrm>
            <a:off x="4303776" y="1170432"/>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Rapport Evidently</a:t>
            </a:r>
          </a:p>
        </p:txBody>
      </p:sp>
      <p:sp>
        <p:nvSpPr>
          <p:cNvPr id="7" name="Rounded Rectangle 6"/>
          <p:cNvSpPr/>
          <p:nvPr/>
        </p:nvSpPr>
        <p:spPr>
          <a:xfrm>
            <a:off x="6595872" y="1170432"/>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Non bloquant</a:t>
            </a:r>
          </a:p>
        </p:txBody>
      </p:sp>
      <p:sp>
        <p:nvSpPr>
          <p:cNvPr id="8" name="TextBox 7"/>
          <p:cNvSpPr txBox="1"/>
          <p:nvPr/>
        </p:nvSpPr>
        <p:spPr>
          <a:xfrm>
            <a:off x="365760" y="2197608"/>
            <a:ext cx="1554480" cy="862583"/>
          </a:xfrm>
          <a:prstGeom prst="rect">
            <a:avLst/>
          </a:prstGeom>
          <a:noFill/>
        </p:spPr>
        <p:txBody>
          <a:bodyPr wrap="square" lIns="0" tIns="0" rIns="0" bIns="0" anchor="ctr">
            <a:spAutoFit/>
          </a:bodyPr>
          <a:lstStyle/>
          <a:p>
            <a:pPr algn="l"/>
            <a:r>
              <a:rPr sz="1100" b="1" i="0">
                <a:solidFill>
                  <a:srgbClr val="212121"/>
                </a:solidFill>
                <a:latin typeface="Arial"/>
              </a:rPr>
              <a:t>Monitoring technique</a:t>
            </a:r>
          </a:p>
        </p:txBody>
      </p:sp>
      <p:sp>
        <p:nvSpPr>
          <p:cNvPr id="9" name="Rounded Rectangle 8"/>
          <p:cNvSpPr/>
          <p:nvPr/>
        </p:nvSpPr>
        <p:spPr>
          <a:xfrm>
            <a:off x="2011680"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Grafana</a:t>
            </a:r>
          </a:p>
        </p:txBody>
      </p:sp>
      <p:sp>
        <p:nvSpPr>
          <p:cNvPr id="10" name="Rounded Rectangle 9"/>
          <p:cNvSpPr/>
          <p:nvPr/>
        </p:nvSpPr>
        <p:spPr>
          <a:xfrm>
            <a:off x="4303776"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Lecture directe PostgreSQL</a:t>
            </a:r>
          </a:p>
        </p:txBody>
      </p:sp>
      <p:sp>
        <p:nvSpPr>
          <p:cNvPr id="11" name="Rounded Rectangle 10"/>
          <p:cNvSpPr/>
          <p:nvPr/>
        </p:nvSpPr>
        <p:spPr>
          <a:xfrm>
            <a:off x="6595872" y="2197608"/>
            <a:ext cx="2182367"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Pas de Prometheus</a:t>
            </a:r>
          </a:p>
        </p:txBody>
      </p:sp>
      <p:sp>
        <p:nvSpPr>
          <p:cNvPr id="12" name="TextBox 11"/>
          <p:cNvSpPr txBox="1"/>
          <p:nvPr/>
        </p:nvSpPr>
        <p:spPr>
          <a:xfrm>
            <a:off x="365760" y="3224783"/>
            <a:ext cx="1554480" cy="862583"/>
          </a:xfrm>
          <a:prstGeom prst="rect">
            <a:avLst/>
          </a:prstGeom>
          <a:noFill/>
        </p:spPr>
        <p:txBody>
          <a:bodyPr wrap="square" lIns="0" tIns="0" rIns="0" bIns="0" anchor="ctr">
            <a:spAutoFit/>
          </a:bodyPr>
          <a:lstStyle/>
          <a:p>
            <a:pPr algn="l"/>
            <a:r>
              <a:rPr sz="1100" b="1" i="0">
                <a:solidFill>
                  <a:srgbClr val="212121"/>
                </a:solidFill>
                <a:latin typeface="Arial"/>
              </a:rPr>
              <a:t>Monitoring modèle</a:t>
            </a:r>
          </a:p>
        </p:txBody>
      </p:sp>
      <p:sp>
        <p:nvSpPr>
          <p:cNvPr id="13" name="Rounded Rectangle 12"/>
          <p:cNvSpPr/>
          <p:nvPr/>
        </p:nvSpPr>
        <p:spPr>
          <a:xfrm>
            <a:off x="2011680" y="3224783"/>
            <a:ext cx="3328415"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Dérive calculée à l'entraînement</a:t>
            </a:r>
          </a:p>
        </p:txBody>
      </p:sp>
      <p:sp>
        <p:nvSpPr>
          <p:cNvPr id="14" name="Rounded Rectangle 13"/>
          <p:cNvSpPr/>
          <p:nvPr/>
        </p:nvSpPr>
        <p:spPr>
          <a:xfrm>
            <a:off x="5449824" y="3224783"/>
            <a:ext cx="3328415" cy="86258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Pas de suivi continu en production</a:t>
            </a:r>
          </a:p>
        </p:txBody>
      </p:sp>
      <p:sp>
        <p:nvSpPr>
          <p:cNvPr id="15" name="TextBox 14"/>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Validation ne bloque jamais le pipeline</a:t>
            </a:r>
          </a:p>
        </p:txBody>
      </p:sp>
      <p:sp>
        <p:nvSpPr>
          <p:cNvPr id="16" name="TextBox 15"/>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Pas d'alerte automatique sur dérive</a:t>
            </a:r>
          </a:p>
        </p:txBody>
      </p:sp>
      <p:sp>
        <p:nvSpPr>
          <p:cNvPr id="17" name="TextBox 16"/>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Feature store absent de cette version</a:t>
            </a:r>
          </a:p>
        </p:txBody>
      </p:sp>
      <p:sp>
        <p:nvSpPr>
          <p:cNvPr id="19" name="Google Shape;76;p15">
            <a:extLst>
              <a:ext uri="{FF2B5EF4-FFF2-40B4-BE49-F238E27FC236}">
                <a16:creationId xmlns:a16="http://schemas.microsoft.com/office/drawing/2014/main" id="{D06DB0C5-BB28-53A3-ED61-0B025716EAB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Espace réservé du numéro de diapositive 17">
            <a:extLst>
              <a:ext uri="{FF2B5EF4-FFF2-40B4-BE49-F238E27FC236}">
                <a16:creationId xmlns:a16="http://schemas.microsoft.com/office/drawing/2014/main" id="{9DD08433-009D-D80C-1F5B-4397E3B0E9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41</a:t>
            </a:fld>
            <a:endParaRPr lang="fr-F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Trois itérations : de jefraudai à FraudHunter</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2377257"/>
            <a:ext cx="841248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033272"/>
            <a:ext cx="2651760" cy="12251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jefraudai</a:t>
            </a:r>
          </a:p>
        </p:txBody>
      </p:sp>
      <p:sp>
        <p:nvSpPr>
          <p:cNvPr id="6" name="Rectangle 5"/>
          <p:cNvSpPr/>
          <p:nvPr/>
        </p:nvSpPr>
        <p:spPr>
          <a:xfrm>
            <a:off x="365760" y="1033272"/>
            <a:ext cx="265176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2532705"/>
            <a:ext cx="2651760" cy="365760"/>
          </a:xfrm>
          <a:prstGeom prst="rect">
            <a:avLst/>
          </a:prstGeom>
          <a:noFill/>
        </p:spPr>
        <p:txBody>
          <a:bodyPr wrap="square" lIns="0" tIns="0" rIns="0" bIns="0" anchor="t">
            <a:spAutoFit/>
          </a:bodyPr>
          <a:lstStyle/>
          <a:p>
            <a:pPr algn="ctr"/>
            <a:r>
              <a:rPr sz="1000" b="0" i="0">
                <a:solidFill>
                  <a:srgbClr val="595959"/>
                </a:solidFill>
                <a:latin typeface="Arial"/>
              </a:rPr>
              <a:t>vision cible du cahier des charges</a:t>
            </a:r>
          </a:p>
        </p:txBody>
      </p:sp>
      <p:sp>
        <p:nvSpPr>
          <p:cNvPr id="8" name="Oval 7"/>
          <p:cNvSpPr/>
          <p:nvPr/>
        </p:nvSpPr>
        <p:spPr>
          <a:xfrm>
            <a:off x="1636776" y="2340681"/>
            <a:ext cx="109728" cy="10972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46120" y="1033272"/>
            <a:ext cx="2651760" cy="12251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jefraudai-local</a:t>
            </a:r>
          </a:p>
        </p:txBody>
      </p:sp>
      <p:sp>
        <p:nvSpPr>
          <p:cNvPr id="10" name="Rectangle 9"/>
          <p:cNvSpPr/>
          <p:nvPr/>
        </p:nvSpPr>
        <p:spPr>
          <a:xfrm>
            <a:off x="3246120" y="1033272"/>
            <a:ext cx="265176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46120" y="2532705"/>
            <a:ext cx="2651760" cy="365760"/>
          </a:xfrm>
          <a:prstGeom prst="rect">
            <a:avLst/>
          </a:prstGeom>
          <a:noFill/>
        </p:spPr>
        <p:txBody>
          <a:bodyPr wrap="square" lIns="0" tIns="0" rIns="0" bIns="0" anchor="t">
            <a:spAutoFit/>
          </a:bodyPr>
          <a:lstStyle/>
          <a:p>
            <a:pPr algn="ctr"/>
            <a:r>
              <a:rPr sz="1000" b="0" i="0">
                <a:solidFill>
                  <a:srgbClr val="595959"/>
                </a:solidFill>
                <a:latin typeface="Arial"/>
              </a:rPr>
              <a:t>portage 100% local, zéro tiers</a:t>
            </a:r>
          </a:p>
        </p:txBody>
      </p:sp>
      <p:sp>
        <p:nvSpPr>
          <p:cNvPr id="12" name="Oval 11"/>
          <p:cNvSpPr/>
          <p:nvPr/>
        </p:nvSpPr>
        <p:spPr>
          <a:xfrm>
            <a:off x="4517136" y="2340681"/>
            <a:ext cx="109728" cy="10972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26480" y="1033272"/>
            <a:ext cx="2651760" cy="12251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100" b="1" i="0">
                <a:solidFill>
                  <a:srgbClr val="212121"/>
                </a:solidFill>
                <a:latin typeface="Arial"/>
              </a:rPr>
              <a:t>FraudHunter</a:t>
            </a:r>
          </a:p>
        </p:txBody>
      </p:sp>
      <p:sp>
        <p:nvSpPr>
          <p:cNvPr id="14" name="Rectangle 13"/>
          <p:cNvSpPr/>
          <p:nvPr/>
        </p:nvSpPr>
        <p:spPr>
          <a:xfrm>
            <a:off x="6126480" y="1033272"/>
            <a:ext cx="265176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26480" y="2532705"/>
            <a:ext cx="2651760" cy="365760"/>
          </a:xfrm>
          <a:prstGeom prst="rect">
            <a:avLst/>
          </a:prstGeom>
          <a:noFill/>
        </p:spPr>
        <p:txBody>
          <a:bodyPr wrap="square" lIns="0" tIns="0" rIns="0" bIns="0" anchor="t">
            <a:spAutoFit/>
          </a:bodyPr>
          <a:lstStyle/>
          <a:p>
            <a:pPr algn="ctr"/>
            <a:r>
              <a:rPr sz="1000" b="0" i="0">
                <a:solidFill>
                  <a:srgbClr val="595959"/>
                </a:solidFill>
                <a:latin typeface="Arial"/>
              </a:rPr>
              <a:t>+ CI/CD Gitea Actions</a:t>
            </a:r>
          </a:p>
        </p:txBody>
      </p:sp>
      <p:sp>
        <p:nvSpPr>
          <p:cNvPr id="16" name="Oval 15"/>
          <p:cNvSpPr/>
          <p:nvPr/>
        </p:nvSpPr>
        <p:spPr>
          <a:xfrm>
            <a:off x="7397496" y="2340681"/>
            <a:ext cx="109728" cy="10972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Kafka/cloud → Mosquitto/Node-RED → CI/CD locale</a:t>
            </a:r>
          </a:p>
        </p:txBody>
      </p:sp>
      <p:sp>
        <p:nvSpPr>
          <p:cNvPr id="18" name="TextBox 17"/>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Chaque itération = un choix assumé et documenté</a:t>
            </a:r>
          </a:p>
        </p:txBody>
      </p:sp>
      <p:sp>
        <p:nvSpPr>
          <p:cNvPr id="19" name="TextBox 18"/>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Vision cible non reniée, sciemment simplifiée</a:t>
            </a:r>
          </a:p>
        </p:txBody>
      </p:sp>
      <p:sp>
        <p:nvSpPr>
          <p:cNvPr id="20" name="TextBox 19"/>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Les livrables 01 à 07 documentent la version FraudHunter, retenue et présentée aujourd'hui</a:t>
            </a:r>
          </a:p>
        </p:txBody>
      </p:sp>
      <p:sp>
        <p:nvSpPr>
          <p:cNvPr id="22" name="Google Shape;76;p15">
            <a:extLst>
              <a:ext uri="{FF2B5EF4-FFF2-40B4-BE49-F238E27FC236}">
                <a16:creationId xmlns:a16="http://schemas.microsoft.com/office/drawing/2014/main" id="{0F964278-797A-B467-6CFB-4442EFD71DE9}"/>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Espace réservé du numéro de diapositive 20">
            <a:extLst>
              <a:ext uri="{FF2B5EF4-FFF2-40B4-BE49-F238E27FC236}">
                <a16:creationId xmlns:a16="http://schemas.microsoft.com/office/drawing/2014/main" id="{CAF0C52B-1B07-EBD5-312C-7CCA597C2E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42</a:t>
            </a:fld>
            <a:endParaRPr lang="fr-F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Stack technique réellement utilisée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554480" cy="451713"/>
          </a:xfrm>
          <a:prstGeom prst="rect">
            <a:avLst/>
          </a:prstGeom>
          <a:noFill/>
        </p:spPr>
        <p:txBody>
          <a:bodyPr wrap="square" lIns="0" tIns="0" rIns="0" bIns="0" anchor="ctr">
            <a:spAutoFit/>
          </a:bodyPr>
          <a:lstStyle/>
          <a:p>
            <a:pPr algn="l"/>
            <a:r>
              <a:rPr sz="1100" b="1" i="0">
                <a:solidFill>
                  <a:srgbClr val="212121"/>
                </a:solidFill>
                <a:latin typeface="Arial"/>
              </a:rPr>
              <a:t>Ingestion</a:t>
            </a:r>
          </a:p>
        </p:txBody>
      </p:sp>
      <p:sp>
        <p:nvSpPr>
          <p:cNvPr id="5" name="Rounded Rectangle 4"/>
          <p:cNvSpPr/>
          <p:nvPr/>
        </p:nvSpPr>
        <p:spPr>
          <a:xfrm>
            <a:off x="2011680" y="1170432"/>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Node-RED</a:t>
            </a:r>
          </a:p>
        </p:txBody>
      </p:sp>
      <p:sp>
        <p:nvSpPr>
          <p:cNvPr id="6" name="Rounded Rectangle 5"/>
          <p:cNvSpPr/>
          <p:nvPr/>
        </p:nvSpPr>
        <p:spPr>
          <a:xfrm>
            <a:off x="5449824" y="1170432"/>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Mosquitto (MQTT)</a:t>
            </a:r>
          </a:p>
        </p:txBody>
      </p:sp>
      <p:sp>
        <p:nvSpPr>
          <p:cNvPr id="7" name="TextBox 6"/>
          <p:cNvSpPr txBox="1"/>
          <p:nvPr/>
        </p:nvSpPr>
        <p:spPr>
          <a:xfrm>
            <a:off x="365760" y="1786737"/>
            <a:ext cx="1554480" cy="451713"/>
          </a:xfrm>
          <a:prstGeom prst="rect">
            <a:avLst/>
          </a:prstGeom>
          <a:noFill/>
        </p:spPr>
        <p:txBody>
          <a:bodyPr wrap="square" lIns="0" tIns="0" rIns="0" bIns="0" anchor="ctr">
            <a:spAutoFit/>
          </a:bodyPr>
          <a:lstStyle/>
          <a:p>
            <a:pPr algn="l"/>
            <a:r>
              <a:rPr sz="1100" b="1" i="0">
                <a:solidFill>
                  <a:srgbClr val="212121"/>
                </a:solidFill>
                <a:latin typeface="Arial"/>
              </a:rPr>
              <a:t>ML</a:t>
            </a:r>
          </a:p>
        </p:txBody>
      </p:sp>
      <p:sp>
        <p:nvSpPr>
          <p:cNvPr id="8" name="Rounded Rectangle 7"/>
          <p:cNvSpPr/>
          <p:nvPr/>
        </p:nvSpPr>
        <p:spPr>
          <a:xfrm>
            <a:off x="2011680" y="1786737"/>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AutoGluon</a:t>
            </a:r>
          </a:p>
        </p:txBody>
      </p:sp>
      <p:sp>
        <p:nvSpPr>
          <p:cNvPr id="9" name="Rounded Rectangle 8"/>
          <p:cNvSpPr/>
          <p:nvPr/>
        </p:nvSpPr>
        <p:spPr>
          <a:xfrm>
            <a:off x="5449824" y="1786737"/>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MLflow</a:t>
            </a:r>
          </a:p>
        </p:txBody>
      </p:sp>
      <p:sp>
        <p:nvSpPr>
          <p:cNvPr id="10" name="TextBox 9"/>
          <p:cNvSpPr txBox="1"/>
          <p:nvPr/>
        </p:nvSpPr>
        <p:spPr>
          <a:xfrm>
            <a:off x="365760" y="2403043"/>
            <a:ext cx="1554480" cy="451713"/>
          </a:xfrm>
          <a:prstGeom prst="rect">
            <a:avLst/>
          </a:prstGeom>
          <a:noFill/>
        </p:spPr>
        <p:txBody>
          <a:bodyPr wrap="square" lIns="0" tIns="0" rIns="0" bIns="0" anchor="ctr">
            <a:spAutoFit/>
          </a:bodyPr>
          <a:lstStyle/>
          <a:p>
            <a:pPr algn="l"/>
            <a:r>
              <a:rPr sz="1100" b="1" i="0">
                <a:solidFill>
                  <a:srgbClr val="212121"/>
                </a:solidFill>
                <a:latin typeface="Arial"/>
              </a:rPr>
              <a:t>CI/CD</a:t>
            </a:r>
          </a:p>
        </p:txBody>
      </p:sp>
      <p:sp>
        <p:nvSpPr>
          <p:cNvPr id="11" name="Rounded Rectangle 10"/>
          <p:cNvSpPr/>
          <p:nvPr/>
        </p:nvSpPr>
        <p:spPr>
          <a:xfrm>
            <a:off x="2011680" y="2403043"/>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Gitea</a:t>
            </a:r>
          </a:p>
        </p:txBody>
      </p:sp>
      <p:sp>
        <p:nvSpPr>
          <p:cNvPr id="12" name="Rounded Rectangle 11"/>
          <p:cNvSpPr/>
          <p:nvPr/>
        </p:nvSpPr>
        <p:spPr>
          <a:xfrm>
            <a:off x="5449824" y="2403043"/>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Gitea Actions</a:t>
            </a:r>
          </a:p>
        </p:txBody>
      </p:sp>
      <p:sp>
        <p:nvSpPr>
          <p:cNvPr id="13" name="TextBox 12"/>
          <p:cNvSpPr txBox="1"/>
          <p:nvPr/>
        </p:nvSpPr>
        <p:spPr>
          <a:xfrm>
            <a:off x="365760" y="3019348"/>
            <a:ext cx="1554480" cy="451713"/>
          </a:xfrm>
          <a:prstGeom prst="rect">
            <a:avLst/>
          </a:prstGeom>
          <a:noFill/>
        </p:spPr>
        <p:txBody>
          <a:bodyPr wrap="square" lIns="0" tIns="0" rIns="0" bIns="0" anchor="ctr">
            <a:spAutoFit/>
          </a:bodyPr>
          <a:lstStyle/>
          <a:p>
            <a:pPr algn="l"/>
            <a:r>
              <a:rPr sz="1100" b="1" i="0">
                <a:solidFill>
                  <a:srgbClr val="212121"/>
                </a:solidFill>
                <a:latin typeface="Arial"/>
              </a:rPr>
              <a:t>Stockage &amp; restitution</a:t>
            </a:r>
          </a:p>
        </p:txBody>
      </p:sp>
      <p:sp>
        <p:nvSpPr>
          <p:cNvPr id="14" name="Rounded Rectangle 13"/>
          <p:cNvSpPr/>
          <p:nvPr/>
        </p:nvSpPr>
        <p:spPr>
          <a:xfrm>
            <a:off x="2011680" y="3019348"/>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PostgreSQL</a:t>
            </a:r>
          </a:p>
        </p:txBody>
      </p:sp>
      <p:sp>
        <p:nvSpPr>
          <p:cNvPr id="15" name="Rounded Rectangle 14"/>
          <p:cNvSpPr/>
          <p:nvPr/>
        </p:nvSpPr>
        <p:spPr>
          <a:xfrm>
            <a:off x="5449824" y="3019348"/>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Grafana</a:t>
            </a:r>
          </a:p>
        </p:txBody>
      </p:sp>
      <p:sp>
        <p:nvSpPr>
          <p:cNvPr id="16" name="TextBox 15"/>
          <p:cNvSpPr txBox="1"/>
          <p:nvPr/>
        </p:nvSpPr>
        <p:spPr>
          <a:xfrm>
            <a:off x="365760" y="3635654"/>
            <a:ext cx="1554480" cy="451713"/>
          </a:xfrm>
          <a:prstGeom prst="rect">
            <a:avLst/>
          </a:prstGeom>
          <a:noFill/>
        </p:spPr>
        <p:txBody>
          <a:bodyPr wrap="square" lIns="0" tIns="0" rIns="0" bIns="0" anchor="ctr">
            <a:spAutoFit/>
          </a:bodyPr>
          <a:lstStyle/>
          <a:p>
            <a:pPr algn="l"/>
            <a:r>
              <a:rPr sz="1100" b="1" i="0">
                <a:solidFill>
                  <a:srgbClr val="212121"/>
                </a:solidFill>
                <a:latin typeface="Arial"/>
              </a:rPr>
              <a:t>Alerting</a:t>
            </a:r>
          </a:p>
        </p:txBody>
      </p:sp>
      <p:sp>
        <p:nvSpPr>
          <p:cNvPr id="17" name="Rounded Rectangle 16"/>
          <p:cNvSpPr/>
          <p:nvPr/>
        </p:nvSpPr>
        <p:spPr>
          <a:xfrm>
            <a:off x="2011680" y="3635654"/>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SMTP</a:t>
            </a:r>
          </a:p>
        </p:txBody>
      </p:sp>
      <p:sp>
        <p:nvSpPr>
          <p:cNvPr id="18" name="Rounded Rectangle 17"/>
          <p:cNvSpPr/>
          <p:nvPr/>
        </p:nvSpPr>
        <p:spPr>
          <a:xfrm>
            <a:off x="5449824" y="3635654"/>
            <a:ext cx="3328415" cy="45171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repli console</a:t>
            </a:r>
          </a:p>
        </p:txBody>
      </p:sp>
      <p:sp>
        <p:nvSpPr>
          <p:cNvPr id="19" name="TextBox 18"/>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Zéro service cloud ou tiers payant</a:t>
            </a:r>
          </a:p>
        </p:txBody>
      </p:sp>
      <p:sp>
        <p:nvSpPr>
          <p:cNvPr id="20" name="TextBox 19"/>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100% reproductible en local</a:t>
            </a:r>
          </a:p>
        </p:txBody>
      </p:sp>
      <p:sp>
        <p:nvSpPr>
          <p:cNvPr id="21" name="TextBox 20"/>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gitea-runner = seul accès au socket Docker hôte</a:t>
            </a:r>
          </a:p>
        </p:txBody>
      </p:sp>
      <p:sp>
        <p:nvSpPr>
          <p:cNvPr id="22" name="TextBox 21"/>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9 services Docker Compose sur un unique réseau bridge fraudhunter-net</a:t>
            </a:r>
          </a:p>
        </p:txBody>
      </p:sp>
      <p:sp>
        <p:nvSpPr>
          <p:cNvPr id="24" name="Google Shape;76;p15">
            <a:extLst>
              <a:ext uri="{FF2B5EF4-FFF2-40B4-BE49-F238E27FC236}">
                <a16:creationId xmlns:a16="http://schemas.microsoft.com/office/drawing/2014/main" id="{1D0FC74A-374A-6CA3-4B70-E2143B8EA3DD}"/>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Espace réservé du numéro de diapositive 22">
            <a:extLst>
              <a:ext uri="{FF2B5EF4-FFF2-40B4-BE49-F238E27FC236}">
                <a16:creationId xmlns:a16="http://schemas.microsoft.com/office/drawing/2014/main" id="{CD90990D-D734-8254-B85B-C1D61B6E58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43</a:t>
            </a:fld>
            <a:endParaRPr lang="fr-F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Bilan et ce qui reste à faire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2158358849"/>
              </p:ext>
            </p:extLst>
          </p:nvPr>
        </p:nvGraphicFramePr>
        <p:xfrm>
          <a:off x="365760" y="1170432"/>
          <a:ext cx="8412480" cy="2916935"/>
        </p:xfrm>
        <a:graphic>
          <a:graphicData uri="http://schemas.openxmlformats.org/drawingml/2006/table">
            <a:tbl>
              <a:tblPr firstRow="1" bandRow="1">
                <a:tableStyleId>{5C22544A-7EE6-4342-B048-85BDC9FD1C3A}</a:tableStyleId>
              </a:tblPr>
              <a:tblGrid>
                <a:gridCol w="2892697">
                  <a:extLst>
                    <a:ext uri="{9D8B030D-6E8A-4147-A177-3AD203B41FA5}">
                      <a16:colId xmlns:a16="http://schemas.microsoft.com/office/drawing/2014/main" val="20000"/>
                    </a:ext>
                  </a:extLst>
                </a:gridCol>
                <a:gridCol w="5519783">
                  <a:extLst>
                    <a:ext uri="{9D8B030D-6E8A-4147-A177-3AD203B41FA5}">
                      <a16:colId xmlns:a16="http://schemas.microsoft.com/office/drawing/2014/main" val="20001"/>
                    </a:ext>
                  </a:extLst>
                </a:gridCol>
              </a:tblGrid>
              <a:tr h="729233">
                <a:tc>
                  <a:txBody>
                    <a:bodyPr/>
                    <a:lstStyle/>
                    <a:p>
                      <a:pPr algn="ctr"/>
                      <a:r>
                        <a:rPr sz="1100" b="1">
                          <a:solidFill>
                            <a:srgbClr val="FFFFFF"/>
                          </a:solidFill>
                          <a:latin typeface="Arial"/>
                        </a:rPr>
                        <a:t>Statut</a:t>
                      </a:r>
                    </a:p>
                  </a:txBody>
                  <a:tcPr>
                    <a:solidFill>
                      <a:srgbClr val="FFAB40"/>
                    </a:solidFill>
                  </a:tcPr>
                </a:tc>
                <a:tc>
                  <a:txBody>
                    <a:bodyPr/>
                    <a:lstStyle/>
                    <a:p>
                      <a:pPr algn="ctr"/>
                      <a:r>
                        <a:rPr sz="1100" b="1">
                          <a:solidFill>
                            <a:srgbClr val="FFFFFF"/>
                          </a:solidFill>
                          <a:latin typeface="Arial"/>
                        </a:rPr>
                        <a:t>Élément</a:t>
                      </a:r>
                    </a:p>
                  </a:txBody>
                  <a:tcPr>
                    <a:solidFill>
                      <a:srgbClr val="FFAB40"/>
                    </a:solidFill>
                  </a:tcPr>
                </a:tc>
                <a:extLst>
                  <a:ext uri="{0D108BD9-81ED-4DB2-BD59-A6C34878D82A}">
                    <a16:rowId xmlns:a16="http://schemas.microsoft.com/office/drawing/2014/main" val="10000"/>
                  </a:ext>
                </a:extLst>
              </a:tr>
              <a:tr h="729233">
                <a:tc>
                  <a:txBody>
                    <a:bodyPr/>
                    <a:lstStyle/>
                    <a:p>
                      <a:pPr algn="l"/>
                      <a:r>
                        <a:rPr sz="1050">
                          <a:solidFill>
                            <a:srgbClr val="212121"/>
                          </a:solidFill>
                          <a:latin typeface="Arial"/>
                        </a:rPr>
                        <a:t>En place</a:t>
                      </a:r>
                    </a:p>
                  </a:txBody>
                  <a:tcPr>
                    <a:solidFill>
                      <a:srgbClr val="FFFFFF"/>
                    </a:solidFill>
                  </a:tcPr>
                </a:tc>
                <a:tc>
                  <a:txBody>
                    <a:bodyPr/>
                    <a:lstStyle/>
                    <a:p>
                      <a:pPr algn="ctr"/>
                      <a:r>
                        <a:rPr sz="1050">
                          <a:solidFill>
                            <a:srgbClr val="212121"/>
                          </a:solidFill>
                          <a:latin typeface="Arial"/>
                        </a:rPr>
                        <a:t>Ingestion temps réel, inférence, alerte, CI/CD, promotion de modèle</a:t>
                      </a:r>
                    </a:p>
                  </a:txBody>
                  <a:tcPr>
                    <a:solidFill>
                      <a:srgbClr val="FFFFFF"/>
                    </a:solidFill>
                  </a:tcPr>
                </a:tc>
                <a:extLst>
                  <a:ext uri="{0D108BD9-81ED-4DB2-BD59-A6C34878D82A}">
                    <a16:rowId xmlns:a16="http://schemas.microsoft.com/office/drawing/2014/main" val="10001"/>
                  </a:ext>
                </a:extLst>
              </a:tr>
              <a:tr h="729233">
                <a:tc>
                  <a:txBody>
                    <a:bodyPr/>
                    <a:lstStyle/>
                    <a:p>
                      <a:pPr algn="l"/>
                      <a:r>
                        <a:rPr sz="1050">
                          <a:solidFill>
                            <a:srgbClr val="212121"/>
                          </a:solidFill>
                          <a:latin typeface="Arial"/>
                        </a:rPr>
                        <a:t>À vérifier</a:t>
                      </a:r>
                    </a:p>
                  </a:txBody>
                  <a:tcPr>
                    <a:solidFill>
                      <a:srgbClr val="EEEEEE"/>
                    </a:solidFill>
                  </a:tcPr>
                </a:tc>
                <a:tc>
                  <a:txBody>
                    <a:bodyPr/>
                    <a:lstStyle/>
                    <a:p>
                      <a:pPr algn="ctr"/>
                      <a:r>
                        <a:rPr sz="1050">
                          <a:solidFill>
                            <a:srgbClr val="212121"/>
                          </a:solidFill>
                          <a:latin typeface="Arial"/>
                        </a:rPr>
                        <a:t>Dashboard Grafana en conditions réelles, chaîne CI de bout en bout, poids du CSV</a:t>
                      </a:r>
                    </a:p>
                  </a:txBody>
                  <a:tcPr>
                    <a:solidFill>
                      <a:srgbClr val="EEEEEE"/>
                    </a:solidFill>
                  </a:tcPr>
                </a:tc>
                <a:extLst>
                  <a:ext uri="{0D108BD9-81ED-4DB2-BD59-A6C34878D82A}">
                    <a16:rowId xmlns:a16="http://schemas.microsoft.com/office/drawing/2014/main" val="10002"/>
                  </a:ext>
                </a:extLst>
              </a:tr>
              <a:tr h="729236">
                <a:tc>
                  <a:txBody>
                    <a:bodyPr/>
                    <a:lstStyle/>
                    <a:p>
                      <a:pPr algn="l"/>
                      <a:r>
                        <a:rPr sz="1050">
                          <a:solidFill>
                            <a:srgbClr val="212121"/>
                          </a:solidFill>
                          <a:latin typeface="Arial"/>
                        </a:rPr>
                        <a:t>Non branché</a:t>
                      </a:r>
                    </a:p>
                  </a:txBody>
                  <a:tcPr>
                    <a:solidFill>
                      <a:srgbClr val="FFFFFF"/>
                    </a:solidFill>
                  </a:tcPr>
                </a:tc>
                <a:tc>
                  <a:txBody>
                    <a:bodyPr/>
                    <a:lstStyle/>
                    <a:p>
                      <a:pPr algn="ctr"/>
                      <a:r>
                        <a:rPr sz="1050" dirty="0">
                          <a:solidFill>
                            <a:srgbClr val="212121"/>
                          </a:solidFill>
                          <a:latin typeface="Arial"/>
                        </a:rPr>
                        <a:t>watchdog.py (</a:t>
                      </a:r>
                      <a:r>
                        <a:rPr sz="1050" dirty="0" err="1">
                          <a:solidFill>
                            <a:srgbClr val="212121"/>
                          </a:solidFill>
                          <a:latin typeface="Arial"/>
                        </a:rPr>
                        <a:t>présent</a:t>
                      </a:r>
                      <a:r>
                        <a:rPr sz="1050" dirty="0">
                          <a:solidFill>
                            <a:srgbClr val="212121"/>
                          </a:solidFill>
                          <a:latin typeface="Arial"/>
                        </a:rPr>
                        <a:t>, jamais </a:t>
                      </a:r>
                      <a:r>
                        <a:rPr sz="1050" dirty="0" err="1">
                          <a:solidFill>
                            <a:srgbClr val="212121"/>
                          </a:solidFill>
                          <a:latin typeface="Arial"/>
                        </a:rPr>
                        <a:t>démarré</a:t>
                      </a:r>
                      <a:r>
                        <a:rPr sz="1050" dirty="0">
                          <a:solidFill>
                            <a:srgbClr val="212121"/>
                          </a:solidFill>
                          <a:latin typeface="Arial"/>
                        </a:rPr>
                        <a:t>), </a:t>
                      </a:r>
                      <a:r>
                        <a:rPr sz="1050" dirty="0" err="1">
                          <a:solidFill>
                            <a:srgbClr val="212121"/>
                          </a:solidFill>
                          <a:latin typeface="Arial"/>
                        </a:rPr>
                        <a:t>ré-entraînement</a:t>
                      </a:r>
                      <a:r>
                        <a:rPr sz="1050" dirty="0">
                          <a:solidFill>
                            <a:srgbClr val="212121"/>
                          </a:solidFill>
                          <a:latin typeface="Arial"/>
                        </a:rPr>
                        <a:t> </a:t>
                      </a:r>
                      <a:r>
                        <a:rPr sz="1050" dirty="0" err="1">
                          <a:solidFill>
                            <a:srgbClr val="212121"/>
                          </a:solidFill>
                          <a:latin typeface="Arial"/>
                        </a:rPr>
                        <a:t>planifié</a:t>
                      </a:r>
                      <a:r>
                        <a:rPr sz="1050" dirty="0">
                          <a:solidFill>
                            <a:srgbClr val="212121"/>
                          </a:solidFill>
                          <a:latin typeface="Arial"/>
                        </a:rPr>
                        <a:t> </a:t>
                      </a:r>
                      <a:r>
                        <a:rPr sz="1050" dirty="0" err="1">
                          <a:solidFill>
                            <a:srgbClr val="212121"/>
                          </a:solidFill>
                          <a:latin typeface="Arial"/>
                        </a:rPr>
                        <a:t>en</a:t>
                      </a:r>
                      <a:r>
                        <a:rPr sz="1050" dirty="0">
                          <a:solidFill>
                            <a:srgbClr val="212121"/>
                          </a:solidFill>
                          <a:latin typeface="Arial"/>
                        </a:rPr>
                        <a:t> </a:t>
                      </a:r>
                      <a:r>
                        <a:rPr sz="1050" dirty="0" err="1">
                          <a:solidFill>
                            <a:srgbClr val="212121"/>
                          </a:solidFill>
                          <a:latin typeface="Arial"/>
                        </a:rPr>
                        <a:t>cron</a:t>
                      </a:r>
                      <a:endParaRPr sz="1050" dirty="0">
                        <a:solidFill>
                          <a:srgbClr val="212121"/>
                        </a:solidFill>
                        <a:latin typeface="Arial"/>
                      </a:endParaRPr>
                    </a:p>
                  </a:txBody>
                  <a:tcP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904719" y="4141475"/>
            <a:ext cx="2731007" cy="169277"/>
          </a:xfrm>
          <a:prstGeom prst="rect">
            <a:avLst/>
          </a:prstGeom>
          <a:noFill/>
        </p:spPr>
        <p:txBody>
          <a:bodyPr wrap="square" lIns="0" tIns="0" rIns="0" bIns="0" anchor="ctr">
            <a:spAutoFit/>
          </a:bodyPr>
          <a:lstStyle/>
          <a:p>
            <a:pPr algn="ctr"/>
            <a:r>
              <a:rPr sz="1100" b="0" i="0" dirty="0">
                <a:solidFill>
                  <a:srgbClr val="595959"/>
                </a:solidFill>
                <a:latin typeface="Arial"/>
              </a:rPr>
              <a:t>• </a:t>
            </a:r>
            <a:r>
              <a:rPr sz="1100" b="0" i="0" dirty="0" err="1">
                <a:solidFill>
                  <a:srgbClr val="595959"/>
                </a:solidFill>
                <a:latin typeface="Arial"/>
              </a:rPr>
              <a:t>Pseudonymisation</a:t>
            </a:r>
            <a:r>
              <a:rPr sz="1100" b="0" i="0" dirty="0">
                <a:solidFill>
                  <a:srgbClr val="595959"/>
                </a:solidFill>
                <a:latin typeface="Arial"/>
              </a:rPr>
              <a:t> </a:t>
            </a:r>
            <a:r>
              <a:rPr sz="1100" b="0" i="0" dirty="0" err="1">
                <a:solidFill>
                  <a:srgbClr val="595959"/>
                </a:solidFill>
                <a:latin typeface="Arial"/>
              </a:rPr>
              <a:t>cc_num</a:t>
            </a:r>
            <a:r>
              <a:rPr sz="1100" b="0" i="0" dirty="0">
                <a:solidFill>
                  <a:srgbClr val="595959"/>
                </a:solidFill>
                <a:latin typeface="Arial"/>
              </a:rPr>
              <a:t> = </a:t>
            </a:r>
            <a:r>
              <a:rPr sz="1100" b="0" i="0" dirty="0" err="1">
                <a:solidFill>
                  <a:srgbClr val="595959"/>
                </a:solidFill>
                <a:latin typeface="Arial"/>
              </a:rPr>
              <a:t>priorité</a:t>
            </a:r>
            <a:endParaRPr sz="1100" b="0" i="0" dirty="0">
              <a:solidFill>
                <a:srgbClr val="595959"/>
              </a:solidFill>
              <a:latin typeface="Arial"/>
            </a:endParaRPr>
          </a:p>
        </p:txBody>
      </p:sp>
      <p:sp>
        <p:nvSpPr>
          <p:cNvPr id="7" name="TextBox 6"/>
          <p:cNvSpPr txBox="1"/>
          <p:nvPr/>
        </p:nvSpPr>
        <p:spPr>
          <a:xfrm>
            <a:off x="3959890" y="4141475"/>
            <a:ext cx="3807131" cy="169277"/>
          </a:xfrm>
          <a:prstGeom prst="rect">
            <a:avLst/>
          </a:prstGeom>
          <a:noFill/>
        </p:spPr>
        <p:txBody>
          <a:bodyPr wrap="square" lIns="0" tIns="0" rIns="0" bIns="0" anchor="ctr">
            <a:spAutoFit/>
          </a:bodyPr>
          <a:lstStyle/>
          <a:p>
            <a:pPr algn="ctr"/>
            <a:r>
              <a:rPr sz="1100" b="0" i="0" dirty="0">
                <a:solidFill>
                  <a:srgbClr val="595959"/>
                </a:solidFill>
                <a:latin typeface="Arial"/>
              </a:rPr>
              <a:t>• Feature store et </a:t>
            </a:r>
            <a:r>
              <a:rPr sz="1100" b="0" i="0" dirty="0" err="1">
                <a:solidFill>
                  <a:srgbClr val="595959"/>
                </a:solidFill>
                <a:latin typeface="Arial"/>
              </a:rPr>
              <a:t>dérive</a:t>
            </a:r>
            <a:r>
              <a:rPr sz="1100" b="0" i="0" dirty="0">
                <a:solidFill>
                  <a:srgbClr val="595959"/>
                </a:solidFill>
                <a:latin typeface="Arial"/>
              </a:rPr>
              <a:t> continue absents</a:t>
            </a:r>
          </a:p>
        </p:txBody>
      </p:sp>
      <p:sp>
        <p:nvSpPr>
          <p:cNvPr id="9" name="Google Shape;76;p15">
            <a:extLst>
              <a:ext uri="{FF2B5EF4-FFF2-40B4-BE49-F238E27FC236}">
                <a16:creationId xmlns:a16="http://schemas.microsoft.com/office/drawing/2014/main" id="{97D73A3E-3396-0514-8252-64EFA8480AFA}"/>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Espace réservé du numéro de diapositive 7">
            <a:extLst>
              <a:ext uri="{FF2B5EF4-FFF2-40B4-BE49-F238E27FC236}">
                <a16:creationId xmlns:a16="http://schemas.microsoft.com/office/drawing/2014/main" id="{1A24CB95-9264-82B2-479F-3AFB0F50A5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44</a:t>
            </a:fld>
            <a:endParaRPr lang="fr-F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40B89-8361-D931-6F79-307FD7264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41898-F988-1665-D4E7-067EEDE20946}"/>
              </a:ext>
            </a:extLst>
          </p:cNvPr>
          <p:cNvSpPr>
            <a:spLocks noGrp="1"/>
          </p:cNvSpPr>
          <p:nvPr>
            <p:ph type="title"/>
          </p:nvPr>
        </p:nvSpPr>
        <p:spPr>
          <a:xfrm>
            <a:off x="1473199" y="1976664"/>
            <a:ext cx="6001658" cy="595086"/>
          </a:xfrm>
        </p:spPr>
        <p:txBody>
          <a:bodyPr/>
          <a:lstStyle/>
          <a:p>
            <a:pPr algn="ctr"/>
            <a:r>
              <a:rPr lang="fr-FR" sz="4000" b="1" dirty="0">
                <a:solidFill>
                  <a:srgbClr val="212121"/>
                </a:solidFill>
                <a:latin typeface="Arial"/>
              </a:rPr>
              <a:t>Conclusion</a:t>
            </a:r>
            <a:r>
              <a:rPr sz="4000" b="1" dirty="0">
                <a:solidFill>
                  <a:srgbClr val="212121"/>
                </a:solidFill>
                <a:latin typeface="Arial"/>
              </a:rPr>
              <a:t> — Bloc 3 </a:t>
            </a:r>
          </a:p>
        </p:txBody>
      </p:sp>
      <p:sp>
        <p:nvSpPr>
          <p:cNvPr id="3" name="Rectangle 2">
            <a:extLst>
              <a:ext uri="{FF2B5EF4-FFF2-40B4-BE49-F238E27FC236}">
                <a16:creationId xmlns:a16="http://schemas.microsoft.com/office/drawing/2014/main" id="{8F009341-9BEE-05DC-17BE-364973137903}"/>
              </a:ext>
            </a:extLst>
          </p:cNvPr>
          <p:cNvSpPr/>
          <p:nvPr/>
        </p:nvSpPr>
        <p:spPr>
          <a:xfrm>
            <a:off x="4114800" y="1417320"/>
            <a:ext cx="9144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Google Shape;76;p15">
            <a:extLst>
              <a:ext uri="{FF2B5EF4-FFF2-40B4-BE49-F238E27FC236}">
                <a16:creationId xmlns:a16="http://schemas.microsoft.com/office/drawing/2014/main" id="{38F669D4-83C9-1EBD-9C0F-94D42B7D65EF}"/>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B16CEAD6-7E2B-A703-105C-B3438A705D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45</a:t>
            </a:fld>
            <a:endParaRPr lang="fr-FR"/>
          </a:p>
        </p:txBody>
      </p:sp>
    </p:spTree>
    <p:extLst>
      <p:ext uri="{BB962C8B-B14F-4D97-AF65-F5344CB8AC3E}">
        <p14:creationId xmlns:p14="http://schemas.microsoft.com/office/powerpoint/2010/main" val="6675300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199" y="1976664"/>
            <a:ext cx="6001658" cy="595086"/>
          </a:xfrm>
        </p:spPr>
        <p:txBody>
          <a:bodyPr/>
          <a:lstStyle/>
          <a:p>
            <a:pPr algn="ctr"/>
            <a:r>
              <a:rPr sz="4000" b="1" dirty="0">
                <a:solidFill>
                  <a:srgbClr val="212121"/>
                </a:solidFill>
                <a:latin typeface="Arial"/>
              </a:rPr>
              <a:t>Questions — Bloc 3 ?</a:t>
            </a:r>
          </a:p>
        </p:txBody>
      </p:sp>
      <p:sp>
        <p:nvSpPr>
          <p:cNvPr id="3" name="Rectangle 2"/>
          <p:cNvSpPr/>
          <p:nvPr/>
        </p:nvSpPr>
        <p:spPr>
          <a:xfrm>
            <a:off x="4114800" y="1417320"/>
            <a:ext cx="9144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Google Shape;76;p15">
            <a:extLst>
              <a:ext uri="{FF2B5EF4-FFF2-40B4-BE49-F238E27FC236}">
                <a16:creationId xmlns:a16="http://schemas.microsoft.com/office/drawing/2014/main" id="{F375E061-F810-58F9-3AB3-F55406AE09A5}"/>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38871901-82A3-2C4B-FA1A-C466DE9118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46</a:t>
            </a:fld>
            <a:endParaRPr lang="fr-F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11708" y="304800"/>
            <a:ext cx="8520600" cy="1145723"/>
          </a:xfrm>
        </p:spPr>
        <p:txBody>
          <a:bodyPr/>
          <a:lstStyle/>
          <a:p>
            <a:r>
              <a:rPr sz="3200" b="1" i="0" dirty="0" err="1">
                <a:solidFill>
                  <a:srgbClr val="212121"/>
                </a:solidFill>
                <a:latin typeface="Arial"/>
              </a:rPr>
              <a:t>Projet</a:t>
            </a:r>
            <a:r>
              <a:rPr sz="3200" b="1" i="0" dirty="0">
                <a:solidFill>
                  <a:srgbClr val="212121"/>
                </a:solidFill>
                <a:latin typeface="Arial"/>
              </a:rPr>
              <a:t> final — </a:t>
            </a:r>
            <a:r>
              <a:rPr sz="3200" b="1" i="0" dirty="0" err="1">
                <a:solidFill>
                  <a:srgbClr val="212121"/>
                </a:solidFill>
                <a:latin typeface="Arial"/>
              </a:rPr>
              <a:t>Plateforme</a:t>
            </a:r>
            <a:r>
              <a:rPr sz="3200" b="1" i="0" dirty="0">
                <a:solidFill>
                  <a:srgbClr val="212121"/>
                </a:solidFill>
                <a:latin typeface="Arial"/>
              </a:rPr>
              <a:t> </a:t>
            </a:r>
            <a:r>
              <a:rPr sz="3200" b="1" i="0" dirty="0" err="1">
                <a:solidFill>
                  <a:srgbClr val="212121"/>
                </a:solidFill>
                <a:latin typeface="Arial"/>
              </a:rPr>
              <a:t>MLOps</a:t>
            </a:r>
            <a:br>
              <a:rPr lang="fr-FR" sz="3200" b="1" dirty="0">
                <a:solidFill>
                  <a:srgbClr val="212121"/>
                </a:solidFill>
              </a:rPr>
            </a:br>
            <a:r>
              <a:rPr lang="fr-FR" sz="3200" b="1" dirty="0" err="1">
                <a:solidFill>
                  <a:srgbClr val="212121"/>
                </a:solidFill>
              </a:rPr>
              <a:t>watt_on_the_weather</a:t>
            </a:r>
            <a:endParaRPr sz="3200" b="1" i="0" dirty="0">
              <a:solidFill>
                <a:srgbClr val="212121"/>
              </a:solidFill>
              <a:latin typeface="Arial"/>
            </a:endParaRPr>
          </a:p>
        </p:txBody>
      </p:sp>
      <p:sp>
        <p:nvSpPr>
          <p:cNvPr id="3" name="Subtitle 2"/>
          <p:cNvSpPr>
            <a:spLocks noGrp="1"/>
          </p:cNvSpPr>
          <p:nvPr>
            <p:ph type="subTitle" idx="1"/>
          </p:nvPr>
        </p:nvSpPr>
        <p:spPr>
          <a:xfrm>
            <a:off x="311700" y="1580564"/>
            <a:ext cx="8520600" cy="705948"/>
          </a:xfrm>
        </p:spPr>
        <p:txBody>
          <a:bodyPr/>
          <a:lstStyle/>
          <a:p>
            <a:pPr algn="ctr"/>
            <a:r>
              <a:rPr sz="1500" b="0" i="0" dirty="0">
                <a:solidFill>
                  <a:srgbClr val="595959"/>
                </a:solidFill>
                <a:latin typeface="Arial"/>
              </a:rPr>
              <a:t>Bloc 4 — AI Solutions Design, </a:t>
            </a:r>
            <a:r>
              <a:rPr sz="1500" b="0" i="0" dirty="0" err="1">
                <a:solidFill>
                  <a:srgbClr val="595959"/>
                </a:solidFill>
                <a:latin typeface="Arial"/>
              </a:rPr>
              <a:t>Déploiement</a:t>
            </a:r>
            <a:r>
              <a:rPr sz="1500" b="0" i="0" dirty="0">
                <a:solidFill>
                  <a:srgbClr val="595959"/>
                </a:solidFill>
                <a:latin typeface="Arial"/>
              </a:rPr>
              <a:t> et Monitoring</a:t>
            </a:r>
          </a:p>
        </p:txBody>
      </p:sp>
      <p:sp>
        <p:nvSpPr>
          <p:cNvPr id="4" name="Rectangle 3"/>
          <p:cNvSpPr/>
          <p:nvPr/>
        </p:nvSpPr>
        <p:spPr>
          <a:xfrm>
            <a:off x="4023360" y="211030"/>
            <a:ext cx="109728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Google Shape;55;p13">
            <a:extLst>
              <a:ext uri="{FF2B5EF4-FFF2-40B4-BE49-F238E27FC236}">
                <a16:creationId xmlns:a16="http://schemas.microsoft.com/office/drawing/2014/main" id="{BA575E72-F4C2-EAE0-7858-4810FD2F30C6}"/>
              </a:ext>
            </a:extLst>
          </p:cNvPr>
          <p:cNvPicPr preferRelativeResize="0"/>
          <p:nvPr/>
        </p:nvPicPr>
        <p:blipFill>
          <a:blip r:embed="rId2">
            <a:alphaModFix/>
          </a:blip>
          <a:stretch>
            <a:fillRect/>
          </a:stretch>
        </p:blipFill>
        <p:spPr>
          <a:xfrm>
            <a:off x="4572000" y="2352850"/>
            <a:ext cx="3818450" cy="2547749"/>
          </a:xfrm>
          <a:prstGeom prst="rect">
            <a:avLst/>
          </a:prstGeom>
          <a:noFill/>
          <a:ln>
            <a:noFill/>
          </a:ln>
        </p:spPr>
      </p:pic>
      <p:pic>
        <p:nvPicPr>
          <p:cNvPr id="7" name="Image 6">
            <a:extLst>
              <a:ext uri="{FF2B5EF4-FFF2-40B4-BE49-F238E27FC236}">
                <a16:creationId xmlns:a16="http://schemas.microsoft.com/office/drawing/2014/main" id="{797805E2-2A6F-7DA3-D2BE-1727A18C1750}"/>
              </a:ext>
            </a:extLst>
          </p:cNvPr>
          <p:cNvPicPr>
            <a:picLocks noChangeAspect="1"/>
          </p:cNvPicPr>
          <p:nvPr/>
        </p:nvPicPr>
        <p:blipFill>
          <a:blip r:embed="rId3"/>
          <a:stretch>
            <a:fillRect/>
          </a:stretch>
        </p:blipFill>
        <p:spPr>
          <a:xfrm>
            <a:off x="0" y="2771553"/>
            <a:ext cx="4072367" cy="162853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38114"/>
            <a:ext cx="8520600" cy="572700"/>
          </a:xfrm>
        </p:spPr>
        <p:txBody>
          <a:bodyPr/>
          <a:lstStyle/>
          <a:p>
            <a:r>
              <a:rPr b="1" dirty="0" err="1">
                <a:solidFill>
                  <a:srgbClr val="212121"/>
                </a:solidFill>
                <a:latin typeface="Arial"/>
              </a:rPr>
              <a:t>Sommaire</a:t>
            </a:r>
            <a:endParaRPr b="1" dirty="0">
              <a:solidFill>
                <a:srgbClr val="212121"/>
              </a:solidFill>
              <a:latin typeface="Arial"/>
            </a:endParaRPr>
          </a:p>
        </p:txBody>
      </p:sp>
      <p:sp>
        <p:nvSpPr>
          <p:cNvPr id="3" name="Text Placeholder 2"/>
          <p:cNvSpPr>
            <a:spLocks noGrp="1"/>
          </p:cNvSpPr>
          <p:nvPr>
            <p:ph type="body" idx="1"/>
          </p:nvPr>
        </p:nvSpPr>
        <p:spPr>
          <a:xfrm>
            <a:off x="246386" y="710814"/>
            <a:ext cx="8520600" cy="4129700"/>
          </a:xfrm>
        </p:spPr>
        <p:txBody>
          <a:bodyPr wrap="square"/>
          <a:lstStyle/>
          <a:p>
            <a:pPr>
              <a:spcAft>
                <a:spcPts val="1000"/>
              </a:spcAft>
            </a:pPr>
            <a:r>
              <a:rPr sz="1200" b="0" i="0" dirty="0">
                <a:solidFill>
                  <a:srgbClr val="595959"/>
                </a:solidFill>
                <a:latin typeface="Arial"/>
              </a:rPr>
              <a:t>Démarche &amp; </a:t>
            </a:r>
            <a:r>
              <a:rPr sz="1200" b="0" i="0" dirty="0" err="1">
                <a:solidFill>
                  <a:srgbClr val="595959"/>
                </a:solidFill>
                <a:latin typeface="Arial"/>
              </a:rPr>
              <a:t>enjeu</a:t>
            </a:r>
            <a:r>
              <a:rPr sz="1200" b="0" i="0" dirty="0">
                <a:solidFill>
                  <a:srgbClr val="595959"/>
                </a:solidFill>
                <a:latin typeface="Arial"/>
              </a:rPr>
              <a:t> métier</a:t>
            </a:r>
          </a:p>
          <a:p>
            <a:pPr>
              <a:spcAft>
                <a:spcPts val="1000"/>
              </a:spcAft>
            </a:pPr>
            <a:r>
              <a:rPr sz="1200" b="0" i="0" dirty="0" err="1">
                <a:solidFill>
                  <a:srgbClr val="595959"/>
                </a:solidFill>
                <a:latin typeface="Arial"/>
              </a:rPr>
              <a:t>Objectifs</a:t>
            </a:r>
            <a:r>
              <a:rPr sz="1200" b="0" i="0" dirty="0">
                <a:solidFill>
                  <a:srgbClr val="595959"/>
                </a:solidFill>
                <a:latin typeface="Arial"/>
              </a:rPr>
              <a:t> </a:t>
            </a:r>
            <a:r>
              <a:rPr sz="1200" b="0" i="0" dirty="0" err="1">
                <a:solidFill>
                  <a:srgbClr val="595959"/>
                </a:solidFill>
                <a:latin typeface="Arial"/>
              </a:rPr>
              <a:t>mesurables</a:t>
            </a:r>
            <a:endParaRPr sz="1200" b="0" i="0" dirty="0">
              <a:solidFill>
                <a:srgbClr val="595959"/>
              </a:solidFill>
              <a:latin typeface="Arial"/>
            </a:endParaRPr>
          </a:p>
          <a:p>
            <a:pPr>
              <a:spcAft>
                <a:spcPts val="1000"/>
              </a:spcAft>
            </a:pPr>
            <a:r>
              <a:rPr sz="1200" b="0" i="0" dirty="0">
                <a:solidFill>
                  <a:srgbClr val="595959"/>
                </a:solidFill>
                <a:latin typeface="Arial"/>
              </a:rPr>
              <a:t>Données</a:t>
            </a:r>
          </a:p>
          <a:p>
            <a:pPr>
              <a:spcAft>
                <a:spcPts val="1000"/>
              </a:spcAft>
            </a:pPr>
            <a:r>
              <a:rPr sz="1200" b="0" i="0" dirty="0">
                <a:solidFill>
                  <a:srgbClr val="595959"/>
                </a:solidFill>
                <a:latin typeface="Arial"/>
              </a:rPr>
              <a:t>Cahier des charges → </a:t>
            </a:r>
            <a:r>
              <a:rPr sz="1200" b="0" i="0" dirty="0" err="1">
                <a:solidFill>
                  <a:srgbClr val="595959"/>
                </a:solidFill>
                <a:latin typeface="Arial"/>
              </a:rPr>
              <a:t>réalisation</a:t>
            </a:r>
            <a:endParaRPr sz="1200" b="0" i="0" dirty="0">
              <a:solidFill>
                <a:srgbClr val="595959"/>
              </a:solidFill>
              <a:latin typeface="Arial"/>
            </a:endParaRPr>
          </a:p>
          <a:p>
            <a:pPr>
              <a:spcAft>
                <a:spcPts val="1000"/>
              </a:spcAft>
            </a:pPr>
            <a:r>
              <a:rPr sz="1200" b="0" i="0" dirty="0">
                <a:solidFill>
                  <a:srgbClr val="595959"/>
                </a:solidFill>
                <a:latin typeface="Arial"/>
              </a:rPr>
              <a:t>Architecture </a:t>
            </a:r>
            <a:r>
              <a:rPr sz="1200" b="0" i="0" dirty="0" err="1">
                <a:solidFill>
                  <a:srgbClr val="595959"/>
                </a:solidFill>
                <a:latin typeface="Arial"/>
              </a:rPr>
              <a:t>globale</a:t>
            </a:r>
            <a:r>
              <a:rPr sz="1200" b="0" i="0" dirty="0">
                <a:solidFill>
                  <a:srgbClr val="595959"/>
                </a:solidFill>
                <a:latin typeface="Arial"/>
              </a:rPr>
              <a:t> — 11 services</a:t>
            </a:r>
          </a:p>
          <a:p>
            <a:pPr>
              <a:spcAft>
                <a:spcPts val="1000"/>
              </a:spcAft>
            </a:pPr>
            <a:r>
              <a:rPr sz="1200" b="0" i="0" dirty="0">
                <a:solidFill>
                  <a:srgbClr val="595959"/>
                </a:solidFill>
                <a:latin typeface="Arial"/>
              </a:rPr>
              <a:t>Boucle de simulation &amp; </a:t>
            </a:r>
            <a:r>
              <a:rPr sz="1200" b="0" i="0" dirty="0" err="1">
                <a:solidFill>
                  <a:srgbClr val="595959"/>
                </a:solidFill>
                <a:latin typeface="Arial"/>
              </a:rPr>
              <a:t>détection</a:t>
            </a:r>
            <a:r>
              <a:rPr sz="1200" b="0" i="0" dirty="0">
                <a:solidFill>
                  <a:srgbClr val="595959"/>
                </a:solidFill>
                <a:latin typeface="Arial"/>
              </a:rPr>
              <a:t> de </a:t>
            </a:r>
            <a:r>
              <a:rPr sz="1200" b="0" i="0" dirty="0" err="1">
                <a:solidFill>
                  <a:srgbClr val="595959"/>
                </a:solidFill>
                <a:latin typeface="Arial"/>
              </a:rPr>
              <a:t>dérive</a:t>
            </a:r>
            <a:endParaRPr sz="1200" b="0" i="0" dirty="0">
              <a:solidFill>
                <a:srgbClr val="595959"/>
              </a:solidFill>
              <a:latin typeface="Arial"/>
            </a:endParaRPr>
          </a:p>
          <a:p>
            <a:pPr>
              <a:spcAft>
                <a:spcPts val="1000"/>
              </a:spcAft>
            </a:pPr>
            <a:r>
              <a:rPr sz="1200" b="0" i="0" dirty="0" err="1">
                <a:solidFill>
                  <a:srgbClr val="595959"/>
                </a:solidFill>
                <a:latin typeface="Arial"/>
              </a:rPr>
              <a:t>Réentraînement</a:t>
            </a:r>
            <a:r>
              <a:rPr sz="1200" b="0" i="0" dirty="0">
                <a:solidFill>
                  <a:srgbClr val="595959"/>
                </a:solidFill>
                <a:latin typeface="Arial"/>
              </a:rPr>
              <a:t> — deux chemins, un seul code</a:t>
            </a:r>
          </a:p>
          <a:p>
            <a:pPr>
              <a:spcAft>
                <a:spcPts val="1000"/>
              </a:spcAft>
            </a:pPr>
            <a:r>
              <a:rPr sz="1200" b="0" i="0" dirty="0">
                <a:solidFill>
                  <a:srgbClr val="595959"/>
                </a:solidFill>
                <a:latin typeface="Arial"/>
              </a:rPr>
              <a:t>Pipeline CI/CD </a:t>
            </a:r>
            <a:r>
              <a:rPr sz="1200" b="0" i="0" dirty="0" err="1">
                <a:solidFill>
                  <a:srgbClr val="595959"/>
                </a:solidFill>
                <a:latin typeface="Arial"/>
              </a:rPr>
              <a:t>Gitea</a:t>
            </a:r>
            <a:endParaRPr sz="1200" b="0" i="0" dirty="0">
              <a:solidFill>
                <a:srgbClr val="595959"/>
              </a:solidFill>
              <a:latin typeface="Arial"/>
            </a:endParaRPr>
          </a:p>
          <a:p>
            <a:pPr>
              <a:spcAft>
                <a:spcPts val="1000"/>
              </a:spcAft>
            </a:pPr>
            <a:r>
              <a:rPr sz="1200" b="0" i="0" dirty="0">
                <a:solidFill>
                  <a:srgbClr val="595959"/>
                </a:solidFill>
                <a:latin typeface="Arial"/>
              </a:rPr>
              <a:t>Monitoring Grafana</a:t>
            </a:r>
          </a:p>
          <a:p>
            <a:pPr>
              <a:spcAft>
                <a:spcPts val="1000"/>
              </a:spcAft>
            </a:pPr>
            <a:r>
              <a:rPr sz="1200" b="0" i="0" dirty="0">
                <a:solidFill>
                  <a:srgbClr val="595959"/>
                </a:solidFill>
                <a:latin typeface="Arial"/>
              </a:rPr>
              <a:t>Stack technique</a:t>
            </a:r>
          </a:p>
          <a:p>
            <a:pPr>
              <a:spcAft>
                <a:spcPts val="1000"/>
              </a:spcAft>
            </a:pPr>
            <a:r>
              <a:rPr sz="1200" b="0" i="0" dirty="0" err="1">
                <a:solidFill>
                  <a:srgbClr val="595959"/>
                </a:solidFill>
                <a:latin typeface="Arial"/>
              </a:rPr>
              <a:t>Risques</a:t>
            </a:r>
            <a:r>
              <a:rPr sz="1200" b="0" i="0" dirty="0">
                <a:solidFill>
                  <a:srgbClr val="595959"/>
                </a:solidFill>
                <a:latin typeface="Arial"/>
              </a:rPr>
              <a:t> &amp; </a:t>
            </a:r>
            <a:r>
              <a:rPr sz="1200" b="0" i="0" dirty="0" err="1">
                <a:solidFill>
                  <a:srgbClr val="595959"/>
                </a:solidFill>
                <a:latin typeface="Arial"/>
              </a:rPr>
              <a:t>conformité</a:t>
            </a:r>
            <a:endParaRPr sz="1200" b="0" i="0" dirty="0">
              <a:solidFill>
                <a:srgbClr val="595959"/>
              </a:solidFill>
              <a:latin typeface="Arial"/>
            </a:endParaRPr>
          </a:p>
          <a:p>
            <a:pPr>
              <a:spcAft>
                <a:spcPts val="1000"/>
              </a:spcAft>
            </a:pPr>
            <a:r>
              <a:rPr sz="1200" b="0" i="0" dirty="0">
                <a:solidFill>
                  <a:srgbClr val="595959"/>
                </a:solidFill>
                <a:latin typeface="Arial"/>
              </a:rPr>
              <a:t>Bilan</a:t>
            </a:r>
          </a:p>
        </p:txBody>
      </p:sp>
      <p:sp>
        <p:nvSpPr>
          <p:cNvPr id="5" name="Google Shape;76;p15">
            <a:extLst>
              <a:ext uri="{FF2B5EF4-FFF2-40B4-BE49-F238E27FC236}">
                <a16:creationId xmlns:a16="http://schemas.microsoft.com/office/drawing/2014/main" id="{BB165614-91DD-ED65-9788-55AAC9214B8B}"/>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E4CBFD14-0DAE-C1E7-8E78-F92FC867E6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48</a:t>
            </a:fld>
            <a:endParaRPr lang="fr-F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Démarche &amp; enjeu métier</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170432"/>
            <a:ext cx="4069079" cy="291693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l"/>
            <a:r>
              <a:rPr sz="1300" b="1" i="0">
                <a:solidFill>
                  <a:srgbClr val="212121"/>
                </a:solidFill>
                <a:latin typeface="Arial"/>
              </a:rPr>
              <a:t>Sans prévision</a:t>
            </a:r>
          </a:p>
          <a:p>
            <a:pPr algn="l"/>
            <a:r>
              <a:rPr sz="1100" b="0" i="0">
                <a:solidFill>
                  <a:srgbClr val="595959"/>
                </a:solidFill>
                <a:latin typeface="Arial"/>
              </a:rPr>
              <a:t>Pic observé</a:t>
            </a:r>
          </a:p>
          <a:p>
            <a:pPr algn="l"/>
            <a:r>
              <a:rPr sz="1100" b="0" i="0">
                <a:solidFill>
                  <a:srgbClr val="595959"/>
                </a:solidFill>
                <a:latin typeface="Arial"/>
              </a:rPr>
              <a:t>Achat en urgence (marché spot)</a:t>
            </a:r>
          </a:p>
          <a:p>
            <a:pPr algn="l"/>
            <a:r>
              <a:rPr sz="1100" b="0" i="0">
                <a:solidFill>
                  <a:srgbClr val="595959"/>
                </a:solidFill>
                <a:latin typeface="Arial"/>
              </a:rPr>
              <a:t>Marge dégradée</a:t>
            </a:r>
          </a:p>
        </p:txBody>
      </p:sp>
      <p:sp>
        <p:nvSpPr>
          <p:cNvPr id="5" name="Rectangle 4"/>
          <p:cNvSpPr/>
          <p:nvPr/>
        </p:nvSpPr>
        <p:spPr>
          <a:xfrm>
            <a:off x="365760" y="1170432"/>
            <a:ext cx="4069079"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709159" y="1170432"/>
            <a:ext cx="4069079" cy="2916935"/>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l"/>
            <a:r>
              <a:rPr sz="1300" b="1" i="0">
                <a:solidFill>
                  <a:srgbClr val="212121"/>
                </a:solidFill>
                <a:latin typeface="Arial"/>
              </a:rPr>
              <a:t>Avec prédiction J+5</a:t>
            </a:r>
          </a:p>
          <a:p>
            <a:pPr algn="l"/>
            <a:r>
              <a:rPr sz="1100" b="0" i="0">
                <a:solidFill>
                  <a:srgbClr val="595959"/>
                </a:solidFill>
                <a:latin typeface="Arial"/>
              </a:rPr>
              <a:t>Prédiction J pour J+1..J+5</a:t>
            </a:r>
          </a:p>
          <a:p>
            <a:pPr algn="l"/>
            <a:r>
              <a:rPr sz="1100" b="0" i="0">
                <a:solidFill>
                  <a:srgbClr val="595959"/>
                </a:solidFill>
                <a:latin typeface="Arial"/>
              </a:rPr>
              <a:t>Achat anticipé</a:t>
            </a:r>
          </a:p>
          <a:p>
            <a:pPr algn="l"/>
            <a:r>
              <a:rPr sz="1100" b="0" i="0">
                <a:solidFill>
                  <a:srgbClr val="595959"/>
                </a:solidFill>
                <a:latin typeface="Arial"/>
              </a:rPr>
              <a:t>5 jours pour ajuster</a:t>
            </a:r>
          </a:p>
          <a:p>
            <a:pPr algn="l"/>
            <a:r>
              <a:rPr sz="1100" b="0" i="0">
                <a:solidFill>
                  <a:srgbClr val="595959"/>
                </a:solidFill>
                <a:latin typeface="Arial"/>
              </a:rPr>
              <a:t>Coûts réduits</a:t>
            </a:r>
          </a:p>
        </p:txBody>
      </p:sp>
      <p:sp>
        <p:nvSpPr>
          <p:cNvPr id="7" name="Rectangle 6"/>
          <p:cNvSpPr/>
          <p:nvPr/>
        </p:nvSpPr>
        <p:spPr>
          <a:xfrm>
            <a:off x="4709159" y="1170432"/>
            <a:ext cx="4069079" cy="54864"/>
          </a:xfrm>
          <a:prstGeom prst="rect">
            <a:avLst/>
          </a:prstGeom>
          <a:solidFill>
            <a:srgbClr val="E64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Cahier des charges strict</a:t>
            </a:r>
          </a:p>
        </p:txBody>
      </p:sp>
      <p:sp>
        <p:nvSpPr>
          <p:cNvPr id="9" name="TextBox 8"/>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Outils déjà maîtrisés</a:t>
            </a:r>
          </a:p>
        </p:txBody>
      </p:sp>
      <p:sp>
        <p:nvSpPr>
          <p:cNvPr id="10" name="TextBox 9"/>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Un rôle par service</a:t>
            </a:r>
          </a:p>
        </p:txBody>
      </p:sp>
      <p:sp>
        <p:nvSpPr>
          <p:cNvPr id="11" name="TextBox 10"/>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Prédire pour acheter l'énergie à l'avance plutôt que dans l'urgence</a:t>
            </a:r>
          </a:p>
        </p:txBody>
      </p:sp>
      <p:sp>
        <p:nvSpPr>
          <p:cNvPr id="13" name="Google Shape;76;p15">
            <a:extLst>
              <a:ext uri="{FF2B5EF4-FFF2-40B4-BE49-F238E27FC236}">
                <a16:creationId xmlns:a16="http://schemas.microsoft.com/office/drawing/2014/main" id="{4C694E09-D229-C47F-9F9B-D162FCC3AE08}"/>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Espace réservé du numéro de diapositive 11">
            <a:extLst>
              <a:ext uri="{FF2B5EF4-FFF2-40B4-BE49-F238E27FC236}">
                <a16:creationId xmlns:a16="http://schemas.microsoft.com/office/drawing/2014/main" id="{9E32D495-EBBC-397A-2C20-FEC5195753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49</a:t>
            </a:fld>
            <a:endParaRPr lang="fr-F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Objectifs mesurables</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170432"/>
            <a:ext cx="1931669" cy="341985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J+5</a:t>
            </a:r>
          </a:p>
          <a:p>
            <a:pPr algn="ctr"/>
            <a:r>
              <a:rPr sz="1100" b="0" i="0">
                <a:solidFill>
                  <a:srgbClr val="595959"/>
                </a:solidFill>
                <a:latin typeface="Arial"/>
              </a:rPr>
              <a:t>Horizon de prédiction</a:t>
            </a:r>
          </a:p>
        </p:txBody>
      </p:sp>
      <p:sp>
        <p:nvSpPr>
          <p:cNvPr id="5" name="Rounded Rectangle 4"/>
          <p:cNvSpPr/>
          <p:nvPr/>
        </p:nvSpPr>
        <p:spPr>
          <a:xfrm>
            <a:off x="2526029" y="1170432"/>
            <a:ext cx="1931669" cy="341985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&lt;15%</a:t>
            </a:r>
          </a:p>
          <a:p>
            <a:pPr algn="ctr"/>
            <a:r>
              <a:rPr sz="1100" b="0" i="0">
                <a:solidFill>
                  <a:srgbClr val="595959"/>
                </a:solidFill>
                <a:latin typeface="Arial"/>
              </a:rPr>
              <a:t>Seuil MAPE</a:t>
            </a:r>
          </a:p>
        </p:txBody>
      </p:sp>
      <p:sp>
        <p:nvSpPr>
          <p:cNvPr id="6" name="Rounded Rectangle 5"/>
          <p:cNvSpPr/>
          <p:nvPr/>
        </p:nvSpPr>
        <p:spPr>
          <a:xfrm>
            <a:off x="4686300" y="1170432"/>
            <a:ext cx="1931669" cy="341985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0</a:t>
            </a:r>
          </a:p>
          <a:p>
            <a:pPr algn="ctr"/>
            <a:r>
              <a:rPr sz="1100" b="0" i="0">
                <a:solidFill>
                  <a:srgbClr val="595959"/>
                </a:solidFill>
                <a:latin typeface="Arial"/>
              </a:rPr>
              <a:t>Interruption de service</a:t>
            </a:r>
          </a:p>
        </p:txBody>
      </p:sp>
      <p:sp>
        <p:nvSpPr>
          <p:cNvPr id="7" name="Rounded Rectangle 6"/>
          <p:cNvSpPr/>
          <p:nvPr/>
        </p:nvSpPr>
        <p:spPr>
          <a:xfrm>
            <a:off x="6846570" y="1170432"/>
            <a:ext cx="1931669" cy="341985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100%</a:t>
            </a:r>
          </a:p>
          <a:p>
            <a:pPr algn="ctr"/>
            <a:r>
              <a:rPr sz="1100" b="0" i="0">
                <a:solidFill>
                  <a:srgbClr val="595959"/>
                </a:solidFill>
                <a:latin typeface="Arial"/>
              </a:rPr>
              <a:t>Autonomie (local)</a:t>
            </a:r>
          </a:p>
        </p:txBody>
      </p:sp>
      <p:sp>
        <p:nvSpPr>
          <p:cNvPr id="9" name="Google Shape;76;p15">
            <a:extLst>
              <a:ext uri="{FF2B5EF4-FFF2-40B4-BE49-F238E27FC236}">
                <a16:creationId xmlns:a16="http://schemas.microsoft.com/office/drawing/2014/main" id="{A2FECB87-39EA-E22A-11C1-DB5CBD496C06}"/>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Espace réservé du numéro de diapositive 7">
            <a:extLst>
              <a:ext uri="{FF2B5EF4-FFF2-40B4-BE49-F238E27FC236}">
                <a16:creationId xmlns:a16="http://schemas.microsoft.com/office/drawing/2014/main" id="{818E1D9F-AC15-02EC-8CB1-8F0A96BBA8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50</a:t>
            </a:fld>
            <a:endParaRPr lang="fr-F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Données</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0454" y="2061055"/>
            <a:ext cx="1555983" cy="49115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dirty="0" err="1">
                <a:solidFill>
                  <a:srgbClr val="212121"/>
                </a:solidFill>
                <a:latin typeface="Arial"/>
              </a:rPr>
              <a:t>Météo</a:t>
            </a:r>
            <a:r>
              <a:rPr sz="1200" b="1" i="0" dirty="0">
                <a:solidFill>
                  <a:srgbClr val="212121"/>
                </a:solidFill>
                <a:latin typeface="Arial"/>
              </a:rPr>
              <a:t> + </a:t>
            </a:r>
            <a:r>
              <a:rPr sz="1200" b="1" i="0" dirty="0" err="1">
                <a:solidFill>
                  <a:srgbClr val="212121"/>
                </a:solidFill>
                <a:latin typeface="Arial"/>
              </a:rPr>
              <a:t>vacances</a:t>
            </a:r>
            <a:endParaRPr sz="1200" b="1" i="0" dirty="0">
              <a:solidFill>
                <a:srgbClr val="212121"/>
              </a:solidFill>
              <a:latin typeface="Arial"/>
            </a:endParaRPr>
          </a:p>
          <a:p>
            <a:pPr algn="ctr"/>
            <a:r>
              <a:rPr sz="1000" b="0" i="0" dirty="0" err="1">
                <a:solidFill>
                  <a:srgbClr val="595959"/>
                </a:solidFill>
                <a:latin typeface="Arial"/>
              </a:rPr>
              <a:t>réel</a:t>
            </a:r>
            <a:r>
              <a:rPr sz="1000" b="0" i="0" dirty="0">
                <a:solidFill>
                  <a:srgbClr val="595959"/>
                </a:solidFill>
                <a:latin typeface="Arial"/>
              </a:rPr>
              <a:t>, 13 </a:t>
            </a:r>
            <a:r>
              <a:rPr sz="1000" b="0" i="0" dirty="0" err="1">
                <a:solidFill>
                  <a:srgbClr val="595959"/>
                </a:solidFill>
                <a:latin typeface="Arial"/>
              </a:rPr>
              <a:t>régions</a:t>
            </a:r>
            <a:endParaRPr sz="1000" b="0" i="0" dirty="0">
              <a:solidFill>
                <a:srgbClr val="595959"/>
              </a:solidFill>
              <a:latin typeface="Arial"/>
            </a:endParaRPr>
          </a:p>
        </p:txBody>
      </p:sp>
      <p:cxnSp>
        <p:nvCxnSpPr>
          <p:cNvPr id="6" name="Connector 5"/>
          <p:cNvCxnSpPr/>
          <p:nvPr/>
        </p:nvCxnSpPr>
        <p:spPr>
          <a:xfrm>
            <a:off x="2356440" y="2290561"/>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676477" y="2052495"/>
            <a:ext cx="1642816" cy="507103"/>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Export Enedis</a:t>
            </a:r>
          </a:p>
          <a:p>
            <a:pPr algn="ctr"/>
            <a:r>
              <a:rPr sz="1000" b="0" i="0">
                <a:solidFill>
                  <a:srgbClr val="595959"/>
                </a:solidFill>
                <a:latin typeface="Arial"/>
              </a:rPr>
              <a:t>réel, 28,7M lignes</a:t>
            </a:r>
          </a:p>
        </p:txBody>
      </p:sp>
      <p:cxnSp>
        <p:nvCxnSpPr>
          <p:cNvPr id="9" name="Connector 8"/>
          <p:cNvCxnSpPr/>
          <p:nvPr/>
        </p:nvCxnSpPr>
        <p:spPr>
          <a:xfrm>
            <a:off x="4319293" y="2290560"/>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639330" y="2061056"/>
            <a:ext cx="1863089" cy="491152"/>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a:solidFill>
                  <a:srgbClr val="212121"/>
                </a:solidFill>
                <a:latin typeface="Arial"/>
              </a:rPr>
              <a:t>Jointure sur la date</a:t>
            </a:r>
          </a:p>
          <a:p>
            <a:pPr algn="ctr"/>
            <a:r>
              <a:rPr sz="1000" b="0" i="0">
                <a:solidFill>
                  <a:srgbClr val="595959"/>
                </a:solidFill>
                <a:latin typeface="Arial"/>
              </a:rPr>
              <a:t>agrégation nationale</a:t>
            </a:r>
          </a:p>
        </p:txBody>
      </p:sp>
      <p:cxnSp>
        <p:nvCxnSpPr>
          <p:cNvPr id="12" name="Connector 11"/>
          <p:cNvCxnSpPr/>
          <p:nvPr/>
        </p:nvCxnSpPr>
        <p:spPr>
          <a:xfrm>
            <a:off x="6502419" y="2282586"/>
            <a:ext cx="32004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822456" y="2052638"/>
            <a:ext cx="1590807" cy="491152"/>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200" b="1" i="0" dirty="0" err="1">
                <a:solidFill>
                  <a:srgbClr val="212121"/>
                </a:solidFill>
                <a:latin typeface="Arial"/>
              </a:rPr>
              <a:t>dataset_daily</a:t>
            </a:r>
            <a:endParaRPr sz="1200" b="1" i="0" dirty="0">
              <a:solidFill>
                <a:srgbClr val="212121"/>
              </a:solidFill>
              <a:latin typeface="Arial"/>
            </a:endParaRPr>
          </a:p>
          <a:p>
            <a:pPr algn="ctr"/>
            <a:r>
              <a:rPr sz="1000" b="0" i="0" dirty="0">
                <a:solidFill>
                  <a:srgbClr val="595959"/>
                </a:solidFill>
                <a:latin typeface="Arial"/>
              </a:rPr>
              <a:t>915 </a:t>
            </a:r>
            <a:r>
              <a:rPr sz="1000" b="0" i="0" dirty="0" err="1">
                <a:solidFill>
                  <a:srgbClr val="595959"/>
                </a:solidFill>
                <a:latin typeface="Arial"/>
              </a:rPr>
              <a:t>jours</a:t>
            </a:r>
            <a:endParaRPr sz="1000" b="0" i="0" dirty="0">
              <a:solidFill>
                <a:srgbClr val="595959"/>
              </a:solidFill>
              <a:latin typeface="Arial"/>
            </a:endParaRPr>
          </a:p>
        </p:txBody>
      </p:sp>
      <p:sp>
        <p:nvSpPr>
          <p:cNvPr id="15" name="TextBox 14"/>
          <p:cNvSpPr txBox="1"/>
          <p:nvPr/>
        </p:nvSpPr>
        <p:spPr>
          <a:xfrm>
            <a:off x="365760" y="4197096"/>
            <a:ext cx="4151376" cy="292608"/>
          </a:xfrm>
          <a:prstGeom prst="rect">
            <a:avLst/>
          </a:prstGeom>
          <a:noFill/>
        </p:spPr>
        <p:txBody>
          <a:bodyPr wrap="square" lIns="0" tIns="0" rIns="0" bIns="0" anchor="ctr">
            <a:spAutoFit/>
          </a:bodyPr>
          <a:lstStyle/>
          <a:p>
            <a:pPr algn="l"/>
            <a:r>
              <a:rPr sz="1100" b="0" i="0">
                <a:solidFill>
                  <a:srgbClr val="595959"/>
                </a:solidFill>
                <a:latin typeface="Arial"/>
              </a:rPr>
              <a:t>• Aucune donnée personnelle</a:t>
            </a:r>
          </a:p>
        </p:txBody>
      </p:sp>
      <p:sp>
        <p:nvSpPr>
          <p:cNvPr id="16" name="TextBox 15"/>
          <p:cNvSpPr txBox="1"/>
          <p:nvPr/>
        </p:nvSpPr>
        <p:spPr>
          <a:xfrm>
            <a:off x="4626864" y="4197096"/>
            <a:ext cx="4151376" cy="292608"/>
          </a:xfrm>
          <a:prstGeom prst="rect">
            <a:avLst/>
          </a:prstGeom>
          <a:noFill/>
        </p:spPr>
        <p:txBody>
          <a:bodyPr wrap="square" lIns="0" tIns="0" rIns="0" bIns="0" anchor="ctr">
            <a:spAutoFit/>
          </a:bodyPr>
          <a:lstStyle/>
          <a:p>
            <a:pPr algn="l"/>
            <a:r>
              <a:rPr sz="1100" b="0" i="0">
                <a:solidFill>
                  <a:srgbClr val="595959"/>
                </a:solidFill>
                <a:latin typeface="Arial"/>
              </a:rPr>
              <a:t>• Bornes calendaires, jamais de mélange aléatoire</a:t>
            </a:r>
          </a:p>
        </p:txBody>
      </p:sp>
      <p:sp>
        <p:nvSpPr>
          <p:cNvPr id="17" name="TextBox 16"/>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Découpage chronologique strict : G1 entraînement (~22 mois) · G2 comparaison (3 mois, jamais vus) · G3 simulation (5 mois, rejoués jour par jour)</a:t>
            </a:r>
          </a:p>
        </p:txBody>
      </p:sp>
      <p:sp>
        <p:nvSpPr>
          <p:cNvPr id="19" name="Google Shape;76;p15">
            <a:extLst>
              <a:ext uri="{FF2B5EF4-FFF2-40B4-BE49-F238E27FC236}">
                <a16:creationId xmlns:a16="http://schemas.microsoft.com/office/drawing/2014/main" id="{6E3EADBD-D133-E871-2D33-0736422277DF}"/>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Espace réservé du numéro de diapositive 4">
            <a:extLst>
              <a:ext uri="{FF2B5EF4-FFF2-40B4-BE49-F238E27FC236}">
                <a16:creationId xmlns:a16="http://schemas.microsoft.com/office/drawing/2014/main" id="{FB0167FB-C805-566F-84D1-F7A427240B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51</a:t>
            </a:fld>
            <a:endParaRPr lang="fr-F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Cahier des charges → réalisation</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170432"/>
          <a:ext cx="8412480" cy="3419855"/>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79983">
                <a:tc>
                  <a:txBody>
                    <a:bodyPr/>
                    <a:lstStyle/>
                    <a:p>
                      <a:pPr algn="ctr"/>
                      <a:r>
                        <a:rPr sz="1100" b="1">
                          <a:solidFill>
                            <a:srgbClr val="FFFFFF"/>
                          </a:solidFill>
                          <a:latin typeface="Arial"/>
                        </a:rPr>
                        <a:t>Exigence</a:t>
                      </a:r>
                    </a:p>
                  </a:txBody>
                  <a:tcPr>
                    <a:solidFill>
                      <a:srgbClr val="FFAB40"/>
                    </a:solidFill>
                  </a:tcPr>
                </a:tc>
                <a:tc>
                  <a:txBody>
                    <a:bodyPr/>
                    <a:lstStyle/>
                    <a:p>
                      <a:pPr algn="ctr"/>
                      <a:r>
                        <a:rPr sz="1100" b="1">
                          <a:solidFill>
                            <a:srgbClr val="FFFFFF"/>
                          </a:solidFill>
                          <a:latin typeface="Arial"/>
                        </a:rPr>
                        <a:t>Réalisation</a:t>
                      </a:r>
                    </a:p>
                  </a:txBody>
                  <a:tcPr>
                    <a:solidFill>
                      <a:srgbClr val="FFAB40"/>
                    </a:solidFill>
                  </a:tcPr>
                </a:tc>
                <a:extLst>
                  <a:ext uri="{0D108BD9-81ED-4DB2-BD59-A6C34878D82A}">
                    <a16:rowId xmlns:a16="http://schemas.microsoft.com/office/drawing/2014/main" val="10000"/>
                  </a:ext>
                </a:extLst>
              </a:tr>
              <a:tr h="379983">
                <a:tc>
                  <a:txBody>
                    <a:bodyPr/>
                    <a:lstStyle/>
                    <a:p>
                      <a:pPr algn="l"/>
                      <a:r>
                        <a:rPr sz="1050">
                          <a:solidFill>
                            <a:srgbClr val="212121"/>
                          </a:solidFill>
                          <a:latin typeface="Arial"/>
                        </a:rPr>
                        <a:t>Prédire J+1 à J+5</a:t>
                      </a:r>
                    </a:p>
                  </a:txBody>
                  <a:tcPr>
                    <a:solidFill>
                      <a:srgbClr val="FFFFFF"/>
                    </a:solidFill>
                  </a:tcPr>
                </a:tc>
                <a:tc>
                  <a:txBody>
                    <a:bodyPr/>
                    <a:lstStyle/>
                    <a:p>
                      <a:pPr algn="ctr"/>
                      <a:r>
                        <a:rPr sz="1050">
                          <a:solidFill>
                            <a:srgbClr val="212121"/>
                          </a:solidFill>
                          <a:latin typeface="Arial"/>
                        </a:rPr>
                        <a:t>LightGBM, feature horizon</a:t>
                      </a:r>
                    </a:p>
                  </a:txBody>
                  <a:tcPr>
                    <a:solidFill>
                      <a:srgbClr val="FFFFFF"/>
                    </a:solidFill>
                  </a:tcPr>
                </a:tc>
                <a:extLst>
                  <a:ext uri="{0D108BD9-81ED-4DB2-BD59-A6C34878D82A}">
                    <a16:rowId xmlns:a16="http://schemas.microsoft.com/office/drawing/2014/main" val="10001"/>
                  </a:ext>
                </a:extLst>
              </a:tr>
              <a:tr h="379983">
                <a:tc>
                  <a:txBody>
                    <a:bodyPr/>
                    <a:lstStyle/>
                    <a:p>
                      <a:pPr algn="l"/>
                      <a:r>
                        <a:rPr sz="1050">
                          <a:solidFill>
                            <a:srgbClr val="212121"/>
                          </a:solidFill>
                          <a:latin typeface="Arial"/>
                        </a:rPr>
                        <a:t>Flux « temps réel »</a:t>
                      </a:r>
                    </a:p>
                  </a:txBody>
                  <a:tcPr>
                    <a:solidFill>
                      <a:srgbClr val="EEEEEE"/>
                    </a:solidFill>
                  </a:tcPr>
                </a:tc>
                <a:tc>
                  <a:txBody>
                    <a:bodyPr/>
                    <a:lstStyle/>
                    <a:p>
                      <a:pPr algn="ctr"/>
                      <a:r>
                        <a:rPr sz="1050">
                          <a:solidFill>
                            <a:srgbClr val="212121"/>
                          </a:solidFill>
                          <a:latin typeface="Arial"/>
                        </a:rPr>
                        <a:t>POST /simulation/advance</a:t>
                      </a:r>
                    </a:p>
                  </a:txBody>
                  <a:tcPr>
                    <a:solidFill>
                      <a:srgbClr val="EEEEEE"/>
                    </a:solidFill>
                  </a:tcPr>
                </a:tc>
                <a:extLst>
                  <a:ext uri="{0D108BD9-81ED-4DB2-BD59-A6C34878D82A}">
                    <a16:rowId xmlns:a16="http://schemas.microsoft.com/office/drawing/2014/main" val="10002"/>
                  </a:ext>
                </a:extLst>
              </a:tr>
              <a:tr h="379983">
                <a:tc>
                  <a:txBody>
                    <a:bodyPr/>
                    <a:lstStyle/>
                    <a:p>
                      <a:pPr algn="l"/>
                      <a:r>
                        <a:rPr sz="1050">
                          <a:solidFill>
                            <a:srgbClr val="212121"/>
                          </a:solidFill>
                          <a:latin typeface="Arial"/>
                        </a:rPr>
                        <a:t>Tableau de bord</a:t>
                      </a:r>
                    </a:p>
                  </a:txBody>
                  <a:tcPr>
                    <a:solidFill>
                      <a:srgbClr val="FFFFFF"/>
                    </a:solidFill>
                  </a:tcPr>
                </a:tc>
                <a:tc>
                  <a:txBody>
                    <a:bodyPr/>
                    <a:lstStyle/>
                    <a:p>
                      <a:pPr algn="ctr"/>
                      <a:r>
                        <a:rPr sz="1050">
                          <a:solidFill>
                            <a:srgbClr val="212121"/>
                          </a:solidFill>
                          <a:latin typeface="Arial"/>
                        </a:rPr>
                        <a:t>Grafana, 3 courbes</a:t>
                      </a:r>
                    </a:p>
                  </a:txBody>
                  <a:tcPr>
                    <a:solidFill>
                      <a:srgbClr val="FFFFFF"/>
                    </a:solidFill>
                  </a:tcPr>
                </a:tc>
                <a:extLst>
                  <a:ext uri="{0D108BD9-81ED-4DB2-BD59-A6C34878D82A}">
                    <a16:rowId xmlns:a16="http://schemas.microsoft.com/office/drawing/2014/main" val="10003"/>
                  </a:ext>
                </a:extLst>
              </a:tr>
              <a:tr h="379983">
                <a:tc>
                  <a:txBody>
                    <a:bodyPr/>
                    <a:lstStyle/>
                    <a:p>
                      <a:pPr algn="l"/>
                      <a:r>
                        <a:rPr sz="1050">
                          <a:solidFill>
                            <a:srgbClr val="212121"/>
                          </a:solidFill>
                          <a:latin typeface="Arial"/>
                        </a:rPr>
                        <a:t>Boucle simulation / dérive</a:t>
                      </a:r>
                    </a:p>
                  </a:txBody>
                  <a:tcPr>
                    <a:solidFill>
                      <a:srgbClr val="EEEEEE"/>
                    </a:solidFill>
                  </a:tcPr>
                </a:tc>
                <a:tc>
                  <a:txBody>
                    <a:bodyPr/>
                    <a:lstStyle/>
                    <a:p>
                      <a:pPr algn="ctr"/>
                      <a:r>
                        <a:rPr sz="1050">
                          <a:solidFill>
                            <a:srgbClr val="212121"/>
                          </a:solidFill>
                          <a:latin typeface="Arial"/>
                        </a:rPr>
                        <a:t>run_tick() + Node-RED</a:t>
                      </a:r>
                    </a:p>
                  </a:txBody>
                  <a:tcPr>
                    <a:solidFill>
                      <a:srgbClr val="EEEEEE"/>
                    </a:solidFill>
                  </a:tcPr>
                </a:tc>
                <a:extLst>
                  <a:ext uri="{0D108BD9-81ED-4DB2-BD59-A6C34878D82A}">
                    <a16:rowId xmlns:a16="http://schemas.microsoft.com/office/drawing/2014/main" val="10004"/>
                  </a:ext>
                </a:extLst>
              </a:tr>
              <a:tr h="379983">
                <a:tc>
                  <a:txBody>
                    <a:bodyPr/>
                    <a:lstStyle/>
                    <a:p>
                      <a:pPr algn="l"/>
                      <a:r>
                        <a:rPr sz="1050">
                          <a:solidFill>
                            <a:srgbClr val="212121"/>
                          </a:solidFill>
                          <a:latin typeface="Arial"/>
                        </a:rPr>
                        <a:t>Réentraînement non bloquant</a:t>
                      </a:r>
                    </a:p>
                  </a:txBody>
                  <a:tcPr>
                    <a:solidFill>
                      <a:srgbClr val="FFFFFF"/>
                    </a:solidFill>
                  </a:tcPr>
                </a:tc>
                <a:tc>
                  <a:txBody>
                    <a:bodyPr/>
                    <a:lstStyle/>
                    <a:p>
                      <a:pPr algn="ctr"/>
                      <a:r>
                        <a:rPr sz="1050">
                          <a:solidFill>
                            <a:srgbClr val="212121"/>
                          </a:solidFill>
                          <a:latin typeface="Arial"/>
                        </a:rPr>
                        <a:t>MQTT vers service trainer</a:t>
                      </a:r>
                    </a:p>
                  </a:txBody>
                  <a:tcPr>
                    <a:solidFill>
                      <a:srgbClr val="FFFFFF"/>
                    </a:solidFill>
                  </a:tcPr>
                </a:tc>
                <a:extLst>
                  <a:ext uri="{0D108BD9-81ED-4DB2-BD59-A6C34878D82A}">
                    <a16:rowId xmlns:a16="http://schemas.microsoft.com/office/drawing/2014/main" val="10005"/>
                  </a:ext>
                </a:extLst>
              </a:tr>
              <a:tr h="379983">
                <a:tc>
                  <a:txBody>
                    <a:bodyPr/>
                    <a:lstStyle/>
                    <a:p>
                      <a:pPr algn="l"/>
                      <a:r>
                        <a:rPr sz="1050">
                          <a:solidFill>
                            <a:srgbClr val="212121"/>
                          </a:solidFill>
                          <a:latin typeface="Arial"/>
                        </a:rPr>
                        <a:t>CI/CD</a:t>
                      </a:r>
                    </a:p>
                  </a:txBody>
                  <a:tcPr>
                    <a:solidFill>
                      <a:srgbClr val="EEEEEE"/>
                    </a:solidFill>
                  </a:tcPr>
                </a:tc>
                <a:tc>
                  <a:txBody>
                    <a:bodyPr/>
                    <a:lstStyle/>
                    <a:p>
                      <a:pPr algn="ctr"/>
                      <a:r>
                        <a:rPr sz="1050">
                          <a:solidFill>
                            <a:srgbClr val="212121"/>
                          </a:solidFill>
                          <a:latin typeface="Arial"/>
                        </a:rPr>
                        <a:t>Gitea Actions</a:t>
                      </a:r>
                    </a:p>
                  </a:txBody>
                  <a:tcPr>
                    <a:solidFill>
                      <a:srgbClr val="EEEEEE"/>
                    </a:solidFill>
                  </a:tcPr>
                </a:tc>
                <a:extLst>
                  <a:ext uri="{0D108BD9-81ED-4DB2-BD59-A6C34878D82A}">
                    <a16:rowId xmlns:a16="http://schemas.microsoft.com/office/drawing/2014/main" val="10006"/>
                  </a:ext>
                </a:extLst>
              </a:tr>
              <a:tr h="379983">
                <a:tc>
                  <a:txBody>
                    <a:bodyPr/>
                    <a:lstStyle/>
                    <a:p>
                      <a:pPr algn="l"/>
                      <a:r>
                        <a:rPr sz="1050">
                          <a:solidFill>
                            <a:srgbClr val="212121"/>
                          </a:solidFill>
                          <a:latin typeface="Arial"/>
                        </a:rPr>
                        <a:t>Traçabilité du modèle</a:t>
                      </a:r>
                    </a:p>
                  </a:txBody>
                  <a:tcPr>
                    <a:solidFill>
                      <a:srgbClr val="FFFFFF"/>
                    </a:solidFill>
                  </a:tcPr>
                </a:tc>
                <a:tc>
                  <a:txBody>
                    <a:bodyPr/>
                    <a:lstStyle/>
                    <a:p>
                      <a:pPr algn="ctr"/>
                      <a:r>
                        <a:rPr sz="1050">
                          <a:solidFill>
                            <a:srgbClr val="212121"/>
                          </a:solidFill>
                          <a:latin typeface="Arial"/>
                        </a:rPr>
                        <a:t>MLflow, alias prod</a:t>
                      </a:r>
                    </a:p>
                  </a:txBody>
                  <a:tcPr>
                    <a:solidFill>
                      <a:srgbClr val="FFFFFF"/>
                    </a:solidFill>
                  </a:tcPr>
                </a:tc>
                <a:extLst>
                  <a:ext uri="{0D108BD9-81ED-4DB2-BD59-A6C34878D82A}">
                    <a16:rowId xmlns:a16="http://schemas.microsoft.com/office/drawing/2014/main" val="10007"/>
                  </a:ext>
                </a:extLst>
              </a:tr>
              <a:tr h="379991">
                <a:tc>
                  <a:txBody>
                    <a:bodyPr/>
                    <a:lstStyle/>
                    <a:p>
                      <a:pPr algn="l"/>
                      <a:r>
                        <a:rPr sz="1050">
                          <a:solidFill>
                            <a:srgbClr val="212121"/>
                          </a:solidFill>
                          <a:latin typeface="Arial"/>
                        </a:rPr>
                        <a:t>Autonomie</a:t>
                      </a:r>
                    </a:p>
                  </a:txBody>
                  <a:tcPr>
                    <a:solidFill>
                      <a:srgbClr val="EEEEEE"/>
                    </a:solidFill>
                  </a:tcPr>
                </a:tc>
                <a:tc>
                  <a:txBody>
                    <a:bodyPr/>
                    <a:lstStyle/>
                    <a:p>
                      <a:pPr algn="ctr"/>
                      <a:r>
                        <a:rPr sz="1050">
                          <a:solidFill>
                            <a:srgbClr val="212121"/>
                          </a:solidFill>
                          <a:latin typeface="Arial"/>
                        </a:rPr>
                        <a:t>Docker Compose, 100% local</a:t>
                      </a:r>
                    </a:p>
                  </a:txBody>
                  <a:tcPr>
                    <a:solidFill>
                      <a:srgbClr val="EEEEEE"/>
                    </a:solidFill>
                  </a:tcPr>
                </a:tc>
                <a:extLst>
                  <a:ext uri="{0D108BD9-81ED-4DB2-BD59-A6C34878D82A}">
                    <a16:rowId xmlns:a16="http://schemas.microsoft.com/office/drawing/2014/main" val="10008"/>
                  </a:ext>
                </a:extLst>
              </a:tr>
            </a:tbl>
          </a:graphicData>
        </a:graphic>
      </p:graphicFrame>
      <p:sp>
        <p:nvSpPr>
          <p:cNvPr id="6" name="Google Shape;76;p15">
            <a:extLst>
              <a:ext uri="{FF2B5EF4-FFF2-40B4-BE49-F238E27FC236}">
                <a16:creationId xmlns:a16="http://schemas.microsoft.com/office/drawing/2014/main" id="{56CFEEA7-F235-A52F-5E5B-FB4567ADFCAB}"/>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Espace réservé du numéro de diapositive 4">
            <a:extLst>
              <a:ext uri="{FF2B5EF4-FFF2-40B4-BE49-F238E27FC236}">
                <a16:creationId xmlns:a16="http://schemas.microsoft.com/office/drawing/2014/main" id="{164F8B93-C322-C819-C46A-1055FF36A0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52</a:t>
            </a:fld>
            <a:endParaRPr lang="fr-F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Vue d'ensemble — cinq étapes du pipeline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0_vue_ensemble.png"/>
          <p:cNvPicPr>
            <a:picLocks noChangeAspect="1"/>
          </p:cNvPicPr>
          <p:nvPr/>
        </p:nvPicPr>
        <p:blipFill>
          <a:blip r:embed="rId3"/>
          <a:stretch>
            <a:fillRect/>
          </a:stretch>
        </p:blipFill>
        <p:spPr>
          <a:xfrm>
            <a:off x="349080" y="1347542"/>
            <a:ext cx="8445840" cy="3074941"/>
          </a:xfrm>
          <a:prstGeom prst="rect">
            <a:avLst/>
          </a:prstGeom>
        </p:spPr>
      </p:pic>
      <p:sp>
        <p:nvSpPr>
          <p:cNvPr id="4" name="Espace réservé du numéro de diapositive 3">
            <a:extLst>
              <a:ext uri="{FF2B5EF4-FFF2-40B4-BE49-F238E27FC236}">
                <a16:creationId xmlns:a16="http://schemas.microsoft.com/office/drawing/2014/main" id="{D90DB397-6EAD-4006-60FF-9E54B36126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53</a:t>
            </a:fld>
            <a:endParaRPr lang="fr-F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1 — Collecte &amp; préparation (architecture)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1_etape1_architecture.png"/>
          <p:cNvPicPr>
            <a:picLocks noChangeAspect="1"/>
          </p:cNvPicPr>
          <p:nvPr/>
        </p:nvPicPr>
        <p:blipFill>
          <a:blip r:embed="rId3"/>
          <a:stretch>
            <a:fillRect/>
          </a:stretch>
        </p:blipFill>
        <p:spPr>
          <a:xfrm>
            <a:off x="349080" y="1278355"/>
            <a:ext cx="8445840" cy="3213314"/>
          </a:xfrm>
          <a:prstGeom prst="rect">
            <a:avLst/>
          </a:prstGeom>
        </p:spPr>
      </p:pic>
      <p:sp>
        <p:nvSpPr>
          <p:cNvPr id="4" name="Espace réservé du numéro de diapositive 3">
            <a:extLst>
              <a:ext uri="{FF2B5EF4-FFF2-40B4-BE49-F238E27FC236}">
                <a16:creationId xmlns:a16="http://schemas.microsoft.com/office/drawing/2014/main" id="{6D835AC9-D9F9-2C2F-81A1-0818F0383D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54</a:t>
            </a:fld>
            <a:endParaRPr lang="fr-F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1 — Collecte &amp; préparation (séquence)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2_etape1_sequence.png"/>
          <p:cNvPicPr>
            <a:picLocks noChangeAspect="1"/>
          </p:cNvPicPr>
          <p:nvPr/>
        </p:nvPicPr>
        <p:blipFill>
          <a:blip r:embed="rId3"/>
          <a:stretch>
            <a:fillRect/>
          </a:stretch>
        </p:blipFill>
        <p:spPr>
          <a:xfrm>
            <a:off x="1291461" y="978000"/>
            <a:ext cx="6561078" cy="3814025"/>
          </a:xfrm>
          <a:prstGeom prst="rect">
            <a:avLst/>
          </a:prstGeom>
        </p:spPr>
      </p:pic>
      <p:sp>
        <p:nvSpPr>
          <p:cNvPr id="4" name="Espace réservé du numéro de diapositive 3">
            <a:extLst>
              <a:ext uri="{FF2B5EF4-FFF2-40B4-BE49-F238E27FC236}">
                <a16:creationId xmlns:a16="http://schemas.microsoft.com/office/drawing/2014/main" id="{AD67EB99-6155-6655-8124-C0FE7B3900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55</a:t>
            </a:fld>
            <a:endParaRPr lang="fr-F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2 — Entraînement (architecture)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3_etape2_architecture.png"/>
          <p:cNvPicPr>
            <a:picLocks noChangeAspect="1"/>
          </p:cNvPicPr>
          <p:nvPr/>
        </p:nvPicPr>
        <p:blipFill>
          <a:blip r:embed="rId3"/>
          <a:stretch>
            <a:fillRect/>
          </a:stretch>
        </p:blipFill>
        <p:spPr>
          <a:xfrm>
            <a:off x="349080" y="1701160"/>
            <a:ext cx="8445840" cy="2367705"/>
          </a:xfrm>
          <a:prstGeom prst="rect">
            <a:avLst/>
          </a:prstGeom>
        </p:spPr>
      </p:pic>
      <p:sp>
        <p:nvSpPr>
          <p:cNvPr id="4" name="Espace réservé du numéro de diapositive 3">
            <a:extLst>
              <a:ext uri="{FF2B5EF4-FFF2-40B4-BE49-F238E27FC236}">
                <a16:creationId xmlns:a16="http://schemas.microsoft.com/office/drawing/2014/main" id="{84D1FD6B-1DE6-CFEF-2895-E990973A49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56</a:t>
            </a:fld>
            <a:endParaRPr lang="fr-F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2 — Entraînement (séquence)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4_etape2_sequence.png"/>
          <p:cNvPicPr>
            <a:picLocks noChangeAspect="1"/>
          </p:cNvPicPr>
          <p:nvPr/>
        </p:nvPicPr>
        <p:blipFill>
          <a:blip r:embed="rId3"/>
          <a:stretch>
            <a:fillRect/>
          </a:stretch>
        </p:blipFill>
        <p:spPr>
          <a:xfrm>
            <a:off x="349080" y="1065672"/>
            <a:ext cx="8445840" cy="3638681"/>
          </a:xfrm>
          <a:prstGeom prst="rect">
            <a:avLst/>
          </a:prstGeom>
        </p:spPr>
      </p:pic>
      <p:sp>
        <p:nvSpPr>
          <p:cNvPr id="4" name="Espace réservé du numéro de diapositive 3">
            <a:extLst>
              <a:ext uri="{FF2B5EF4-FFF2-40B4-BE49-F238E27FC236}">
                <a16:creationId xmlns:a16="http://schemas.microsoft.com/office/drawing/2014/main" id="{75AEC806-788D-2C36-1AA5-D35730D019A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57</a:t>
            </a:fld>
            <a:endParaRPr lang="fr-F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3 — Simulateur (architecture)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5_etape3_architecture.png"/>
          <p:cNvPicPr>
            <a:picLocks noChangeAspect="1"/>
          </p:cNvPicPr>
          <p:nvPr/>
        </p:nvPicPr>
        <p:blipFill>
          <a:blip r:embed="rId3"/>
          <a:stretch>
            <a:fillRect/>
          </a:stretch>
        </p:blipFill>
        <p:spPr>
          <a:xfrm>
            <a:off x="349080" y="1631974"/>
            <a:ext cx="8445840" cy="2506077"/>
          </a:xfrm>
          <a:prstGeom prst="rect">
            <a:avLst/>
          </a:prstGeom>
        </p:spPr>
      </p:pic>
      <p:sp>
        <p:nvSpPr>
          <p:cNvPr id="4" name="Espace réservé du numéro de diapositive 3">
            <a:extLst>
              <a:ext uri="{FF2B5EF4-FFF2-40B4-BE49-F238E27FC236}">
                <a16:creationId xmlns:a16="http://schemas.microsoft.com/office/drawing/2014/main" id="{610D016F-4010-022D-3012-B7831A69E6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58</a:t>
            </a:fld>
            <a:endParaRPr lang="fr-F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3 — Simulateur (séquence)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6_etape3_sequence.png"/>
          <p:cNvPicPr>
            <a:picLocks noChangeAspect="1"/>
          </p:cNvPicPr>
          <p:nvPr/>
        </p:nvPicPr>
        <p:blipFill>
          <a:blip r:embed="rId3"/>
          <a:stretch>
            <a:fillRect/>
          </a:stretch>
        </p:blipFill>
        <p:spPr>
          <a:xfrm>
            <a:off x="739370" y="978000"/>
            <a:ext cx="7665260" cy="3814025"/>
          </a:xfrm>
          <a:prstGeom prst="rect">
            <a:avLst/>
          </a:prstGeom>
        </p:spPr>
      </p:pic>
      <p:sp>
        <p:nvSpPr>
          <p:cNvPr id="4" name="Espace réservé du numéro de diapositive 3">
            <a:extLst>
              <a:ext uri="{FF2B5EF4-FFF2-40B4-BE49-F238E27FC236}">
                <a16:creationId xmlns:a16="http://schemas.microsoft.com/office/drawing/2014/main" id="{FCC5B07B-494D-900B-462D-9117B330D0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59</a:t>
            </a:fld>
            <a:endParaRPr lang="fr-F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4 — Détection de dérive (architecture)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7_etape4_architecture.png"/>
          <p:cNvPicPr>
            <a:picLocks noChangeAspect="1"/>
          </p:cNvPicPr>
          <p:nvPr/>
        </p:nvPicPr>
        <p:blipFill>
          <a:blip r:embed="rId3"/>
          <a:stretch>
            <a:fillRect/>
          </a:stretch>
        </p:blipFill>
        <p:spPr>
          <a:xfrm>
            <a:off x="349080" y="1701160"/>
            <a:ext cx="8445840" cy="2367705"/>
          </a:xfrm>
          <a:prstGeom prst="rect">
            <a:avLst/>
          </a:prstGeom>
        </p:spPr>
      </p:pic>
      <p:sp>
        <p:nvSpPr>
          <p:cNvPr id="4" name="Espace réservé du numéro de diapositive 3">
            <a:extLst>
              <a:ext uri="{FF2B5EF4-FFF2-40B4-BE49-F238E27FC236}">
                <a16:creationId xmlns:a16="http://schemas.microsoft.com/office/drawing/2014/main" id="{84FA8BC6-A529-8597-7AAE-19DE0BA81B0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60</a:t>
            </a:fld>
            <a:endParaRPr lang="fr-F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4 — Détection de dérive (séquence)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8_etape4_sequence.png"/>
          <p:cNvPicPr>
            <a:picLocks noChangeAspect="1"/>
          </p:cNvPicPr>
          <p:nvPr/>
        </p:nvPicPr>
        <p:blipFill>
          <a:blip r:embed="rId3"/>
          <a:stretch>
            <a:fillRect/>
          </a:stretch>
        </p:blipFill>
        <p:spPr>
          <a:xfrm>
            <a:off x="349080" y="1137421"/>
            <a:ext cx="8445840" cy="3495183"/>
          </a:xfrm>
          <a:prstGeom prst="rect">
            <a:avLst/>
          </a:prstGeom>
        </p:spPr>
      </p:pic>
      <p:sp>
        <p:nvSpPr>
          <p:cNvPr id="4" name="Espace réservé du numéro de diapositive 3">
            <a:extLst>
              <a:ext uri="{FF2B5EF4-FFF2-40B4-BE49-F238E27FC236}">
                <a16:creationId xmlns:a16="http://schemas.microsoft.com/office/drawing/2014/main" id="{C2816439-562C-3D39-9B15-643676EB3A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61</a:t>
            </a:fld>
            <a:endParaRPr lang="fr-F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5 — CI/CD Gitea (architecture)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09_etape5_architecture.png"/>
          <p:cNvPicPr>
            <a:picLocks noChangeAspect="1"/>
          </p:cNvPicPr>
          <p:nvPr/>
        </p:nvPicPr>
        <p:blipFill>
          <a:blip r:embed="rId3"/>
          <a:stretch>
            <a:fillRect/>
          </a:stretch>
        </p:blipFill>
        <p:spPr>
          <a:xfrm>
            <a:off x="349080" y="1842095"/>
            <a:ext cx="8445840" cy="2085835"/>
          </a:xfrm>
          <a:prstGeom prst="rect">
            <a:avLst/>
          </a:prstGeom>
        </p:spPr>
      </p:pic>
      <p:sp>
        <p:nvSpPr>
          <p:cNvPr id="4" name="Espace réservé du numéro de diapositive 3">
            <a:extLst>
              <a:ext uri="{FF2B5EF4-FFF2-40B4-BE49-F238E27FC236}">
                <a16:creationId xmlns:a16="http://schemas.microsoft.com/office/drawing/2014/main" id="{D4D5E331-DF87-5937-9A46-F52D73C68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62</a:t>
            </a:fld>
            <a:endParaRPr lang="fr-F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Étape 5 — CI/CD Gitea (séquence)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10_etape5_sequence.png"/>
          <p:cNvPicPr>
            <a:picLocks noChangeAspect="1"/>
          </p:cNvPicPr>
          <p:nvPr/>
        </p:nvPicPr>
        <p:blipFill>
          <a:blip r:embed="rId3"/>
          <a:stretch>
            <a:fillRect/>
          </a:stretch>
        </p:blipFill>
        <p:spPr>
          <a:xfrm>
            <a:off x="349080" y="1419290"/>
            <a:ext cx="8445840" cy="2931444"/>
          </a:xfrm>
          <a:prstGeom prst="rect">
            <a:avLst/>
          </a:prstGeom>
        </p:spPr>
      </p:pic>
      <p:sp>
        <p:nvSpPr>
          <p:cNvPr id="4" name="Espace réservé du numéro de diapositive 3">
            <a:extLst>
              <a:ext uri="{FF2B5EF4-FFF2-40B4-BE49-F238E27FC236}">
                <a16:creationId xmlns:a16="http://schemas.microsoft.com/office/drawing/2014/main" id="{93108AEB-BF72-7C06-D878-31F6AD7025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63</a:t>
            </a:fld>
            <a:endParaRPr lang="fr-F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Modèle conceptuel de données (Merise)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descr="11_mcd.png"/>
          <p:cNvPicPr>
            <a:picLocks noChangeAspect="1"/>
          </p:cNvPicPr>
          <p:nvPr/>
        </p:nvPicPr>
        <p:blipFill>
          <a:blip r:embed="rId3"/>
          <a:stretch>
            <a:fillRect/>
          </a:stretch>
        </p:blipFill>
        <p:spPr>
          <a:xfrm>
            <a:off x="739370" y="978000"/>
            <a:ext cx="7665260" cy="3814025"/>
          </a:xfrm>
          <a:prstGeom prst="rect">
            <a:avLst/>
          </a:prstGeom>
        </p:spPr>
      </p:pic>
      <p:sp>
        <p:nvSpPr>
          <p:cNvPr id="4" name="Espace réservé du numéro de diapositive 3">
            <a:extLst>
              <a:ext uri="{FF2B5EF4-FFF2-40B4-BE49-F238E27FC236}">
                <a16:creationId xmlns:a16="http://schemas.microsoft.com/office/drawing/2014/main" id="{00D848A0-03AE-4AF1-9A42-522DAF451C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64</a:t>
            </a:fld>
            <a:endParaRPr lang="fr-F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80" y="255269"/>
            <a:ext cx="8520600" cy="572700"/>
          </a:xfrm>
        </p:spPr>
        <p:txBody>
          <a:bodyPr wrap="square">
            <a:normAutofit fontScale="90000"/>
          </a:bodyPr>
          <a:lstStyle/>
          <a:p>
            <a:r>
              <a:rPr b="1">
                <a:solidFill>
                  <a:srgbClr val="212121"/>
                </a:solidFill>
                <a:latin typeface="Arial"/>
              </a:rPr>
              <a:t>Correspondance panneaux Grafana</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ogle Shape;76;p15">
            <a:extLst>
              <a:ext uri="{FF2B5EF4-FFF2-40B4-BE49-F238E27FC236}">
                <a16:creationId xmlns:a16="http://schemas.microsoft.com/office/drawing/2014/main" id="{1C22BBAC-9CC7-86A3-9FD5-13DD2E65D89E}"/>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1" name="Table 20"/>
          <p:cNvGraphicFramePr>
            <a:graphicFrameLocks noGrp="1"/>
          </p:cNvGraphicFramePr>
          <p:nvPr/>
        </p:nvGraphicFramePr>
        <p:xfrm>
          <a:off x="349080" y="1278000"/>
          <a:ext cx="8445840" cy="3514025"/>
        </p:xfrm>
        <a:graphic>
          <a:graphicData uri="http://schemas.openxmlformats.org/drawingml/2006/table">
            <a:tbl>
              <a:tblPr firstRow="1" bandRow="1">
                <a:tableStyleId>{5C22544A-7EE6-4342-B048-85BDC9FD1C3A}</a:tableStyleId>
              </a:tblPr>
              <a:tblGrid>
                <a:gridCol w="2400000">
                  <a:extLst>
                    <a:ext uri="{9D8B030D-6E8A-4147-A177-3AD203B41FA5}">
                      <a16:colId xmlns:a16="http://schemas.microsoft.com/office/drawing/2014/main" val="20000"/>
                    </a:ext>
                  </a:extLst>
                </a:gridCol>
                <a:gridCol w="950000">
                  <a:extLst>
                    <a:ext uri="{9D8B030D-6E8A-4147-A177-3AD203B41FA5}">
                      <a16:colId xmlns:a16="http://schemas.microsoft.com/office/drawing/2014/main" val="20001"/>
                    </a:ext>
                  </a:extLst>
                </a:gridCol>
                <a:gridCol w="2400000">
                  <a:extLst>
                    <a:ext uri="{9D8B030D-6E8A-4147-A177-3AD203B41FA5}">
                      <a16:colId xmlns:a16="http://schemas.microsoft.com/office/drawing/2014/main" val="20002"/>
                    </a:ext>
                  </a:extLst>
                </a:gridCol>
                <a:gridCol w="2695840">
                  <a:extLst>
                    <a:ext uri="{9D8B030D-6E8A-4147-A177-3AD203B41FA5}">
                      <a16:colId xmlns:a16="http://schemas.microsoft.com/office/drawing/2014/main" val="20003"/>
                    </a:ext>
                  </a:extLst>
                </a:gridCol>
              </a:tblGrid>
              <a:tr h="878506">
                <a:tc>
                  <a:txBody>
                    <a:bodyPr/>
                    <a:lstStyle/>
                    <a:p>
                      <a:r>
                        <a:rPr sz="1100" b="1">
                          <a:latin typeface="Arial"/>
                        </a:rPr>
                        <a:t>Panneau</a:t>
                      </a:r>
                    </a:p>
                  </a:txBody>
                  <a:tcPr/>
                </a:tc>
                <a:tc>
                  <a:txBody>
                    <a:bodyPr/>
                    <a:lstStyle/>
                    <a:p>
                      <a:r>
                        <a:rPr sz="1100" b="1">
                          <a:latin typeface="Arial"/>
                        </a:rPr>
                        <a:t>Type</a:t>
                      </a:r>
                    </a:p>
                  </a:txBody>
                  <a:tcPr/>
                </a:tc>
                <a:tc>
                  <a:txBody>
                    <a:bodyPr/>
                    <a:lstStyle/>
                    <a:p>
                      <a:r>
                        <a:rPr sz="1100" b="1">
                          <a:latin typeface="Arial"/>
                        </a:rPr>
                        <a:t>Table(s) source</a:t>
                      </a:r>
                    </a:p>
                  </a:txBody>
                  <a:tcPr/>
                </a:tc>
                <a:tc>
                  <a:txBody>
                    <a:bodyPr/>
                    <a:lstStyle/>
                    <a:p>
                      <a:r>
                        <a:rPr sz="1100" b="1">
                          <a:latin typeface="Arial"/>
                        </a:rPr>
                        <a:t>Colonnes clés</a:t>
                      </a:r>
                    </a:p>
                  </a:txBody>
                  <a:tcPr/>
                </a:tc>
                <a:extLst>
                  <a:ext uri="{0D108BD9-81ED-4DB2-BD59-A6C34878D82A}">
                    <a16:rowId xmlns:a16="http://schemas.microsoft.com/office/drawing/2014/main" val="10000"/>
                  </a:ext>
                </a:extLst>
              </a:tr>
              <a:tr h="878506">
                <a:tc>
                  <a:txBody>
                    <a:bodyPr/>
                    <a:lstStyle/>
                    <a:p>
                      <a:r>
                        <a:rPr sz="1050" b="0">
                          <a:latin typeface="Arial"/>
                        </a:rPr>
                        <a:t>Réel vs Prédiction J+5 vs MAPE glissant</a:t>
                      </a:r>
                    </a:p>
                  </a:txBody>
                  <a:tcPr/>
                </a:tc>
                <a:tc>
                  <a:txBody>
                    <a:bodyPr/>
                    <a:lstStyle/>
                    <a:p>
                      <a:r>
                        <a:rPr sz="1050" b="0">
                          <a:latin typeface="Arial"/>
                        </a:rPr>
                        <a:t>timeseries</a:t>
                      </a:r>
                    </a:p>
                  </a:txBody>
                  <a:tcPr/>
                </a:tc>
                <a:tc>
                  <a:txBody>
                    <a:bodyPr/>
                    <a:lstStyle/>
                    <a:p>
                      <a:r>
                        <a:rPr sz="1050" b="0">
                          <a:latin typeface="Arial"/>
                        </a:rPr>
                        <a:t>dataset_daily, predictions, drift_events</a:t>
                      </a:r>
                    </a:p>
                  </a:txBody>
                  <a:tcPr/>
                </a:tc>
                <a:tc>
                  <a:txBody>
                    <a:bodyPr/>
                    <a:lstStyle/>
                    <a:p>
                      <a:r>
                        <a:rPr sz="1050" b="0">
                          <a:latin typeface="Arial"/>
                        </a:rPr>
                        <a:t>consumption_gwh · predicted_gwh (horizon=5) · rolling_mape</a:t>
                      </a:r>
                    </a:p>
                  </a:txBody>
                  <a:tcPr/>
                </a:tc>
                <a:extLst>
                  <a:ext uri="{0D108BD9-81ED-4DB2-BD59-A6C34878D82A}">
                    <a16:rowId xmlns:a16="http://schemas.microsoft.com/office/drawing/2014/main" val="10001"/>
                  </a:ext>
                </a:extLst>
              </a:tr>
              <a:tr h="878506">
                <a:tc>
                  <a:txBody>
                    <a:bodyPr/>
                    <a:lstStyle/>
                    <a:p>
                      <a:r>
                        <a:rPr sz="1050" b="0">
                          <a:latin typeface="Arial"/>
                        </a:rPr>
                        <a:t>Facteurs d'entrée du modèle — météo et vacances</a:t>
                      </a:r>
                    </a:p>
                  </a:txBody>
                  <a:tcPr/>
                </a:tc>
                <a:tc>
                  <a:txBody>
                    <a:bodyPr/>
                    <a:lstStyle/>
                    <a:p>
                      <a:r>
                        <a:rPr sz="1050" b="0">
                          <a:latin typeface="Arial"/>
                        </a:rPr>
                        <a:t>timeseries</a:t>
                      </a:r>
                    </a:p>
                  </a:txBody>
                  <a:tcPr/>
                </a:tc>
                <a:tc>
                  <a:txBody>
                    <a:bodyPr/>
                    <a:lstStyle/>
                    <a:p>
                      <a:r>
                        <a:rPr sz="1050" b="0">
                          <a:latin typeface="Arial"/>
                        </a:rPr>
                        <a:t>dataset_daily</a:t>
                      </a:r>
                    </a:p>
                  </a:txBody>
                  <a:tcPr/>
                </a:tc>
                <a:tc>
                  <a:txBody>
                    <a:bodyPr/>
                    <a:lstStyle/>
                    <a:p>
                      <a:r>
                        <a:rPr sz="1050" b="0">
                          <a:latin typeface="Arial"/>
                        </a:rPr>
                        <a:t>temperature_mean · vacances_share</a:t>
                      </a:r>
                    </a:p>
                  </a:txBody>
                  <a:tcPr/>
                </a:tc>
                <a:extLst>
                  <a:ext uri="{0D108BD9-81ED-4DB2-BD59-A6C34878D82A}">
                    <a16:rowId xmlns:a16="http://schemas.microsoft.com/office/drawing/2014/main" val="10002"/>
                  </a:ext>
                </a:extLst>
              </a:tr>
              <a:tr h="878507">
                <a:tc>
                  <a:txBody>
                    <a:bodyPr/>
                    <a:lstStyle/>
                    <a:p>
                      <a:r>
                        <a:rPr sz="1050" b="0">
                          <a:latin typeface="Arial"/>
                        </a:rPr>
                        <a:t>Historique de dérive et réentraînements déclenchés</a:t>
                      </a:r>
                    </a:p>
                  </a:txBody>
                  <a:tcPr/>
                </a:tc>
                <a:tc>
                  <a:txBody>
                    <a:bodyPr/>
                    <a:lstStyle/>
                    <a:p>
                      <a:r>
                        <a:rPr sz="1050" b="0">
                          <a:latin typeface="Arial"/>
                        </a:rPr>
                        <a:t>table</a:t>
                      </a:r>
                    </a:p>
                  </a:txBody>
                  <a:tcPr/>
                </a:tc>
                <a:tc>
                  <a:txBody>
                    <a:bodyPr/>
                    <a:lstStyle/>
                    <a:p>
                      <a:r>
                        <a:rPr sz="1050" b="0">
                          <a:latin typeface="Arial"/>
                        </a:rPr>
                        <a:t>drift_events</a:t>
                      </a:r>
                    </a:p>
                  </a:txBody>
                  <a:tcPr/>
                </a:tc>
                <a:tc>
                  <a:txBody>
                    <a:bodyPr/>
                    <a:lstStyle/>
                    <a:p>
                      <a:r>
                        <a:rPr sz="1050" b="0">
                          <a:latin typeface="Arial"/>
                        </a:rPr>
                        <a:t>evaluated_date, rolling_mape, threshold, n_samples, drift_detected, retrain_triggered</a:t>
                      </a:r>
                    </a:p>
                  </a:txBody>
                  <a:tcPr/>
                </a:tc>
                <a:extLst>
                  <a:ext uri="{0D108BD9-81ED-4DB2-BD59-A6C34878D82A}">
                    <a16:rowId xmlns:a16="http://schemas.microsoft.com/office/drawing/2014/main" val="10003"/>
                  </a:ext>
                </a:extLst>
              </a:tr>
            </a:tbl>
          </a:graphicData>
        </a:graphic>
      </p:graphicFrame>
      <p:sp>
        <p:nvSpPr>
          <p:cNvPr id="4" name="Espace réservé du numéro de diapositive 3">
            <a:extLst>
              <a:ext uri="{FF2B5EF4-FFF2-40B4-BE49-F238E27FC236}">
                <a16:creationId xmlns:a16="http://schemas.microsoft.com/office/drawing/2014/main" id="{E8D75063-D45C-5A55-8C90-961336DB71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65</a:t>
            </a:fld>
            <a:endParaRPr lang="fr-F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Stack technique</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70432"/>
            <a:ext cx="1554480" cy="552297"/>
          </a:xfrm>
          <a:prstGeom prst="rect">
            <a:avLst/>
          </a:prstGeom>
          <a:noFill/>
        </p:spPr>
        <p:txBody>
          <a:bodyPr wrap="square" lIns="0" tIns="0" rIns="0" bIns="0" anchor="ctr">
            <a:spAutoFit/>
          </a:bodyPr>
          <a:lstStyle/>
          <a:p>
            <a:pPr algn="l"/>
            <a:r>
              <a:rPr sz="1100" b="1" i="0">
                <a:solidFill>
                  <a:srgbClr val="212121"/>
                </a:solidFill>
                <a:latin typeface="Arial"/>
              </a:rPr>
              <a:t>Orchestration</a:t>
            </a:r>
          </a:p>
        </p:txBody>
      </p:sp>
      <p:sp>
        <p:nvSpPr>
          <p:cNvPr id="5" name="Rounded Rectangle 4"/>
          <p:cNvSpPr/>
          <p:nvPr/>
        </p:nvSpPr>
        <p:spPr>
          <a:xfrm>
            <a:off x="2011680" y="1170432"/>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Node-RED</a:t>
            </a:r>
          </a:p>
        </p:txBody>
      </p:sp>
      <p:sp>
        <p:nvSpPr>
          <p:cNvPr id="6" name="Rounded Rectangle 5"/>
          <p:cNvSpPr/>
          <p:nvPr/>
        </p:nvSpPr>
        <p:spPr>
          <a:xfrm>
            <a:off x="5449824" y="1170432"/>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Docker Compose</a:t>
            </a:r>
          </a:p>
        </p:txBody>
      </p:sp>
      <p:sp>
        <p:nvSpPr>
          <p:cNvPr id="7" name="TextBox 6"/>
          <p:cNvSpPr txBox="1"/>
          <p:nvPr/>
        </p:nvSpPr>
        <p:spPr>
          <a:xfrm>
            <a:off x="365760" y="1887321"/>
            <a:ext cx="1554480" cy="552297"/>
          </a:xfrm>
          <a:prstGeom prst="rect">
            <a:avLst/>
          </a:prstGeom>
          <a:noFill/>
        </p:spPr>
        <p:txBody>
          <a:bodyPr wrap="square" lIns="0" tIns="0" rIns="0" bIns="0" anchor="ctr">
            <a:spAutoFit/>
          </a:bodyPr>
          <a:lstStyle/>
          <a:p>
            <a:pPr algn="l"/>
            <a:r>
              <a:rPr sz="1100" b="1" i="0">
                <a:solidFill>
                  <a:srgbClr val="212121"/>
                </a:solidFill>
                <a:latin typeface="Arial"/>
              </a:rPr>
              <a:t>Données</a:t>
            </a:r>
          </a:p>
        </p:txBody>
      </p:sp>
      <p:sp>
        <p:nvSpPr>
          <p:cNvPr id="8" name="Rounded Rectangle 7"/>
          <p:cNvSpPr/>
          <p:nvPr/>
        </p:nvSpPr>
        <p:spPr>
          <a:xfrm>
            <a:off x="2011680" y="1887321"/>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PostgreSQL</a:t>
            </a:r>
          </a:p>
        </p:txBody>
      </p:sp>
      <p:sp>
        <p:nvSpPr>
          <p:cNvPr id="9" name="Rounded Rectangle 8"/>
          <p:cNvSpPr/>
          <p:nvPr/>
        </p:nvSpPr>
        <p:spPr>
          <a:xfrm>
            <a:off x="5449824" y="1887321"/>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Mosquitto (MQTT)</a:t>
            </a:r>
          </a:p>
        </p:txBody>
      </p:sp>
      <p:sp>
        <p:nvSpPr>
          <p:cNvPr id="10" name="TextBox 9"/>
          <p:cNvSpPr txBox="1"/>
          <p:nvPr/>
        </p:nvSpPr>
        <p:spPr>
          <a:xfrm>
            <a:off x="365760" y="2604211"/>
            <a:ext cx="1554480" cy="552297"/>
          </a:xfrm>
          <a:prstGeom prst="rect">
            <a:avLst/>
          </a:prstGeom>
          <a:noFill/>
        </p:spPr>
        <p:txBody>
          <a:bodyPr wrap="square" lIns="0" tIns="0" rIns="0" bIns="0" anchor="ctr">
            <a:spAutoFit/>
          </a:bodyPr>
          <a:lstStyle/>
          <a:p>
            <a:pPr algn="l"/>
            <a:r>
              <a:rPr sz="1100" b="1" i="0">
                <a:solidFill>
                  <a:srgbClr val="212121"/>
                </a:solidFill>
                <a:latin typeface="Arial"/>
              </a:rPr>
              <a:t>ML</a:t>
            </a:r>
          </a:p>
        </p:txBody>
      </p:sp>
      <p:sp>
        <p:nvSpPr>
          <p:cNvPr id="11" name="Rounded Rectangle 10"/>
          <p:cNvSpPr/>
          <p:nvPr/>
        </p:nvSpPr>
        <p:spPr>
          <a:xfrm>
            <a:off x="2011680" y="2604211"/>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LightGBM</a:t>
            </a:r>
          </a:p>
        </p:txBody>
      </p:sp>
      <p:sp>
        <p:nvSpPr>
          <p:cNvPr id="12" name="Rounded Rectangle 11"/>
          <p:cNvSpPr/>
          <p:nvPr/>
        </p:nvSpPr>
        <p:spPr>
          <a:xfrm>
            <a:off x="5449824" y="2604211"/>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MLflow (registry)</a:t>
            </a:r>
          </a:p>
        </p:txBody>
      </p:sp>
      <p:sp>
        <p:nvSpPr>
          <p:cNvPr id="13" name="TextBox 12"/>
          <p:cNvSpPr txBox="1"/>
          <p:nvPr/>
        </p:nvSpPr>
        <p:spPr>
          <a:xfrm>
            <a:off x="365760" y="3321100"/>
            <a:ext cx="1554480" cy="552297"/>
          </a:xfrm>
          <a:prstGeom prst="rect">
            <a:avLst/>
          </a:prstGeom>
          <a:noFill/>
        </p:spPr>
        <p:txBody>
          <a:bodyPr wrap="square" lIns="0" tIns="0" rIns="0" bIns="0" anchor="ctr">
            <a:spAutoFit/>
          </a:bodyPr>
          <a:lstStyle/>
          <a:p>
            <a:pPr algn="l"/>
            <a:r>
              <a:rPr sz="1100" b="1" i="0">
                <a:solidFill>
                  <a:srgbClr val="212121"/>
                </a:solidFill>
                <a:latin typeface="Arial"/>
              </a:rPr>
              <a:t>Service &amp; CI/CD</a:t>
            </a:r>
          </a:p>
        </p:txBody>
      </p:sp>
      <p:sp>
        <p:nvSpPr>
          <p:cNvPr id="14" name="Rounded Rectangle 13"/>
          <p:cNvSpPr/>
          <p:nvPr/>
        </p:nvSpPr>
        <p:spPr>
          <a:xfrm>
            <a:off x="2011680" y="3321100"/>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FastAPI</a:t>
            </a:r>
          </a:p>
        </p:txBody>
      </p:sp>
      <p:sp>
        <p:nvSpPr>
          <p:cNvPr id="15" name="Rounded Rectangle 14"/>
          <p:cNvSpPr/>
          <p:nvPr/>
        </p:nvSpPr>
        <p:spPr>
          <a:xfrm>
            <a:off x="5449824" y="3321100"/>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Gitea Actions</a:t>
            </a:r>
          </a:p>
        </p:txBody>
      </p:sp>
      <p:sp>
        <p:nvSpPr>
          <p:cNvPr id="16" name="TextBox 15"/>
          <p:cNvSpPr txBox="1"/>
          <p:nvPr/>
        </p:nvSpPr>
        <p:spPr>
          <a:xfrm>
            <a:off x="365760" y="4037990"/>
            <a:ext cx="1554480" cy="552297"/>
          </a:xfrm>
          <a:prstGeom prst="rect">
            <a:avLst/>
          </a:prstGeom>
          <a:noFill/>
        </p:spPr>
        <p:txBody>
          <a:bodyPr wrap="square" lIns="0" tIns="0" rIns="0" bIns="0" anchor="ctr">
            <a:spAutoFit/>
          </a:bodyPr>
          <a:lstStyle/>
          <a:p>
            <a:pPr algn="l"/>
            <a:r>
              <a:rPr sz="1100" b="1" i="0">
                <a:solidFill>
                  <a:srgbClr val="212121"/>
                </a:solidFill>
                <a:latin typeface="Arial"/>
              </a:rPr>
              <a:t>Observabilité</a:t>
            </a:r>
          </a:p>
        </p:txBody>
      </p:sp>
      <p:sp>
        <p:nvSpPr>
          <p:cNvPr id="17" name="Rounded Rectangle 16"/>
          <p:cNvSpPr/>
          <p:nvPr/>
        </p:nvSpPr>
        <p:spPr>
          <a:xfrm>
            <a:off x="2011680" y="4037990"/>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Grafana</a:t>
            </a:r>
          </a:p>
        </p:txBody>
      </p:sp>
      <p:sp>
        <p:nvSpPr>
          <p:cNvPr id="18" name="Rounded Rectangle 17"/>
          <p:cNvSpPr/>
          <p:nvPr/>
        </p:nvSpPr>
        <p:spPr>
          <a:xfrm>
            <a:off x="5449824" y="4037990"/>
            <a:ext cx="3328415" cy="552297"/>
          </a:xfrm>
          <a:prstGeom prst="roundRect">
            <a:avLst>
              <a:gd name="adj" fmla="val 8000"/>
            </a:avLst>
          </a:prstGeom>
          <a:solidFill>
            <a:srgbClr val="EEEE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normAutofit/>
          </a:bodyPr>
          <a:lstStyle/>
          <a:p>
            <a:pPr algn="ctr"/>
            <a:r>
              <a:rPr sz="1000" b="1" i="0">
                <a:solidFill>
                  <a:srgbClr val="212121"/>
                </a:solidFill>
                <a:latin typeface="Arial"/>
              </a:rPr>
              <a:t>Jupyter</a:t>
            </a:r>
          </a:p>
        </p:txBody>
      </p:sp>
      <p:sp>
        <p:nvSpPr>
          <p:cNvPr id="19" name="TextBox 18"/>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100% local, aucun service tiers payant</a:t>
            </a:r>
          </a:p>
        </p:txBody>
      </p:sp>
      <p:sp>
        <p:nvSpPr>
          <p:cNvPr id="21" name="Google Shape;76;p15">
            <a:extLst>
              <a:ext uri="{FF2B5EF4-FFF2-40B4-BE49-F238E27FC236}">
                <a16:creationId xmlns:a16="http://schemas.microsoft.com/office/drawing/2014/main" id="{67B6E302-FDAF-51D9-E49D-A22B47B8E750}"/>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Espace réservé du numéro de diapositive 19">
            <a:extLst>
              <a:ext uri="{FF2B5EF4-FFF2-40B4-BE49-F238E27FC236}">
                <a16:creationId xmlns:a16="http://schemas.microsoft.com/office/drawing/2014/main" id="{8F0A8658-B3BF-3D98-5ADF-4A1D8D495B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66</a:t>
            </a:fld>
            <a:endParaRPr lang="fr-F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Risques &amp; conformité</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170432"/>
          <a:ext cx="8412480" cy="3419855"/>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683971">
                <a:tc>
                  <a:txBody>
                    <a:bodyPr/>
                    <a:lstStyle/>
                    <a:p>
                      <a:pPr algn="ctr"/>
                      <a:r>
                        <a:rPr sz="1100" b="1">
                          <a:solidFill>
                            <a:srgbClr val="FFFFFF"/>
                          </a:solidFill>
                          <a:latin typeface="Arial"/>
                        </a:rPr>
                        <a:t>Risque</a:t>
                      </a:r>
                    </a:p>
                  </a:txBody>
                  <a:tcPr>
                    <a:solidFill>
                      <a:srgbClr val="FFAB40"/>
                    </a:solidFill>
                  </a:tcPr>
                </a:tc>
                <a:tc>
                  <a:txBody>
                    <a:bodyPr/>
                    <a:lstStyle/>
                    <a:p>
                      <a:pPr algn="ctr"/>
                      <a:r>
                        <a:rPr sz="1100" b="1">
                          <a:solidFill>
                            <a:srgbClr val="FFFFFF"/>
                          </a:solidFill>
                          <a:latin typeface="Arial"/>
                        </a:rPr>
                        <a:t>Traitement</a:t>
                      </a:r>
                    </a:p>
                  </a:txBody>
                  <a:tcPr>
                    <a:solidFill>
                      <a:srgbClr val="FFAB40"/>
                    </a:solidFill>
                  </a:tcPr>
                </a:tc>
                <a:extLst>
                  <a:ext uri="{0D108BD9-81ED-4DB2-BD59-A6C34878D82A}">
                    <a16:rowId xmlns:a16="http://schemas.microsoft.com/office/drawing/2014/main" val="10000"/>
                  </a:ext>
                </a:extLst>
              </a:tr>
              <a:tr h="683971">
                <a:tc>
                  <a:txBody>
                    <a:bodyPr/>
                    <a:lstStyle/>
                    <a:p>
                      <a:pPr algn="l"/>
                      <a:r>
                        <a:rPr sz="1050">
                          <a:solidFill>
                            <a:srgbClr val="212121"/>
                          </a:solidFill>
                          <a:latin typeface="Arial"/>
                        </a:rPr>
                        <a:t>Dérive du modèle</a:t>
                      </a:r>
                    </a:p>
                  </a:txBody>
                  <a:tcPr>
                    <a:solidFill>
                      <a:srgbClr val="FFFFFF"/>
                    </a:solidFill>
                  </a:tcPr>
                </a:tc>
                <a:tc>
                  <a:txBody>
                    <a:bodyPr/>
                    <a:lstStyle/>
                    <a:p>
                      <a:pPr algn="ctr"/>
                      <a:r>
                        <a:rPr sz="1050">
                          <a:solidFill>
                            <a:srgbClr val="212121"/>
                          </a:solidFill>
                          <a:latin typeface="Arial"/>
                        </a:rPr>
                        <a:t>MAPE glissant surveillé, réentraînement automatique</a:t>
                      </a:r>
                    </a:p>
                  </a:txBody>
                  <a:tcPr>
                    <a:solidFill>
                      <a:srgbClr val="FFFFFF"/>
                    </a:solidFill>
                  </a:tcPr>
                </a:tc>
                <a:extLst>
                  <a:ext uri="{0D108BD9-81ED-4DB2-BD59-A6C34878D82A}">
                    <a16:rowId xmlns:a16="http://schemas.microsoft.com/office/drawing/2014/main" val="10001"/>
                  </a:ext>
                </a:extLst>
              </a:tr>
              <a:tr h="683971">
                <a:tc>
                  <a:txBody>
                    <a:bodyPr/>
                    <a:lstStyle/>
                    <a:p>
                      <a:pPr algn="l"/>
                      <a:r>
                        <a:rPr sz="1050">
                          <a:solidFill>
                            <a:srgbClr val="212121"/>
                          </a:solidFill>
                          <a:latin typeface="Arial"/>
                        </a:rPr>
                        <a:t>Contention CPU pendant l'entraînement</a:t>
                      </a:r>
                    </a:p>
                  </a:txBody>
                  <a:tcPr>
                    <a:solidFill>
                      <a:srgbClr val="EEEEEE"/>
                    </a:solidFill>
                  </a:tcPr>
                </a:tc>
                <a:tc>
                  <a:txBody>
                    <a:bodyPr/>
                    <a:lstStyle/>
                    <a:p>
                      <a:pPr algn="ctr"/>
                      <a:r>
                        <a:rPr sz="1050">
                          <a:solidFill>
                            <a:srgbClr val="212121"/>
                          </a:solidFill>
                          <a:latin typeface="Arial"/>
                        </a:rPr>
                        <a:t>Retarde, n'interrompt jamais l'API</a:t>
                      </a:r>
                    </a:p>
                  </a:txBody>
                  <a:tcPr>
                    <a:solidFill>
                      <a:srgbClr val="EEEEEE"/>
                    </a:solidFill>
                  </a:tcPr>
                </a:tc>
                <a:extLst>
                  <a:ext uri="{0D108BD9-81ED-4DB2-BD59-A6C34878D82A}">
                    <a16:rowId xmlns:a16="http://schemas.microsoft.com/office/drawing/2014/main" val="10002"/>
                  </a:ext>
                </a:extLst>
              </a:tr>
              <a:tr h="683971">
                <a:tc>
                  <a:txBody>
                    <a:bodyPr/>
                    <a:lstStyle/>
                    <a:p>
                      <a:pPr algn="l"/>
                      <a:r>
                        <a:rPr sz="1050">
                          <a:solidFill>
                            <a:srgbClr val="212121"/>
                          </a:solidFill>
                          <a:latin typeface="Arial"/>
                        </a:rPr>
                        <a:t>Limite Gitea 1.22</a:t>
                      </a:r>
                    </a:p>
                  </a:txBody>
                  <a:tcPr>
                    <a:solidFill>
                      <a:srgbClr val="FFFFFF"/>
                    </a:solidFill>
                  </a:tcPr>
                </a:tc>
                <a:tc>
                  <a:txBody>
                    <a:bodyPr/>
                    <a:lstStyle/>
                    <a:p>
                      <a:pPr algn="ctr"/>
                      <a:r>
                        <a:rPr sz="1050">
                          <a:solidFill>
                            <a:srgbClr val="212121"/>
                          </a:solidFill>
                          <a:latin typeface="Arial"/>
                        </a:rPr>
                        <a:t>Contournée par le service trainer dédié</a:t>
                      </a:r>
                    </a:p>
                  </a:txBody>
                  <a:tcPr>
                    <a:solidFill>
                      <a:srgbClr val="FFFFFF"/>
                    </a:solidFill>
                  </a:tcPr>
                </a:tc>
                <a:extLst>
                  <a:ext uri="{0D108BD9-81ED-4DB2-BD59-A6C34878D82A}">
                    <a16:rowId xmlns:a16="http://schemas.microsoft.com/office/drawing/2014/main" val="10003"/>
                  </a:ext>
                </a:extLst>
              </a:tr>
              <a:tr h="683971">
                <a:tc>
                  <a:txBody>
                    <a:bodyPr/>
                    <a:lstStyle/>
                    <a:p>
                      <a:pPr algn="l"/>
                      <a:r>
                        <a:rPr sz="1050">
                          <a:solidFill>
                            <a:srgbClr val="212121"/>
                          </a:solidFill>
                          <a:latin typeface="Arial"/>
                        </a:rPr>
                        <a:t>Météo cible inconnue à J+5</a:t>
                      </a:r>
                    </a:p>
                  </a:txBody>
                  <a:tcPr>
                    <a:solidFill>
                      <a:srgbClr val="EEEEEE"/>
                    </a:solidFill>
                  </a:tcPr>
                </a:tc>
                <a:tc>
                  <a:txBody>
                    <a:bodyPr/>
                    <a:lstStyle/>
                    <a:p>
                      <a:pPr algn="ctr"/>
                      <a:r>
                        <a:rPr sz="1050">
                          <a:solidFill>
                            <a:srgbClr val="212121"/>
                          </a:solidFill>
                          <a:latin typeface="Arial"/>
                        </a:rPr>
                        <a:t>Proxy = météo du jour J, documenté</a:t>
                      </a:r>
                    </a:p>
                  </a:txBody>
                  <a:tcPr>
                    <a:solidFill>
                      <a:srgbClr val="EEEEEE"/>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Données agrégées nationales/régionales — aucune donnée personnelle</a:t>
            </a:r>
          </a:p>
        </p:txBody>
      </p:sp>
      <p:sp>
        <p:nvSpPr>
          <p:cNvPr id="6" name="Espace réservé du numéro de diapositive 5">
            <a:extLst>
              <a:ext uri="{FF2B5EF4-FFF2-40B4-BE49-F238E27FC236}">
                <a16:creationId xmlns:a16="http://schemas.microsoft.com/office/drawing/2014/main" id="{6783E74B-8404-1D92-37F2-51E317C773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67</a:t>
            </a:fld>
            <a:endParaRPr lang="fr-F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212121"/>
                </a:solidFill>
                <a:latin typeface="Arial"/>
              </a:rPr>
              <a:t>Bilan</a:t>
            </a:r>
          </a:p>
        </p:txBody>
      </p:sp>
      <p:sp>
        <p:nvSpPr>
          <p:cNvPr id="3" name="Rectangle 2"/>
          <p:cNvSpPr/>
          <p:nvPr/>
        </p:nvSpPr>
        <p:spPr>
          <a:xfrm>
            <a:off x="274320" y="274320"/>
            <a:ext cx="54864"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915</a:t>
            </a:r>
          </a:p>
          <a:p>
            <a:pPr algn="ctr"/>
            <a:r>
              <a:rPr sz="1100" b="0" i="0">
                <a:solidFill>
                  <a:srgbClr val="595959"/>
                </a:solidFill>
                <a:latin typeface="Arial"/>
              </a:rPr>
              <a:t>Jours réels en base</a:t>
            </a:r>
          </a:p>
        </p:txBody>
      </p:sp>
      <p:sp>
        <p:nvSpPr>
          <p:cNvPr id="5" name="Rounded Rectangle 4"/>
          <p:cNvSpPr/>
          <p:nvPr/>
        </p:nvSpPr>
        <p:spPr>
          <a:xfrm>
            <a:off x="2526029"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8</a:t>
            </a:r>
          </a:p>
          <a:p>
            <a:pPr algn="ctr"/>
            <a:r>
              <a:rPr sz="1100" b="0" i="0">
                <a:solidFill>
                  <a:srgbClr val="595959"/>
                </a:solidFill>
                <a:latin typeface="Arial"/>
              </a:rPr>
              <a:t>Jours de simulation rejoués</a:t>
            </a:r>
          </a:p>
        </p:txBody>
      </p:sp>
      <p:sp>
        <p:nvSpPr>
          <p:cNvPr id="6" name="Rounded Rectangle 5"/>
          <p:cNvSpPr/>
          <p:nvPr/>
        </p:nvSpPr>
        <p:spPr>
          <a:xfrm>
            <a:off x="468630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3</a:t>
            </a:r>
          </a:p>
          <a:p>
            <a:pPr algn="ctr"/>
            <a:r>
              <a:rPr sz="1100" b="0" i="0">
                <a:solidFill>
                  <a:srgbClr val="595959"/>
                </a:solidFill>
                <a:latin typeface="Arial"/>
              </a:rPr>
              <a:t>Exécutions CI/CD réussies</a:t>
            </a:r>
          </a:p>
        </p:txBody>
      </p:sp>
      <p:sp>
        <p:nvSpPr>
          <p:cNvPr id="7" name="Rounded Rectangle 6"/>
          <p:cNvSpPr/>
          <p:nvPr/>
        </p:nvSpPr>
        <p:spPr>
          <a:xfrm>
            <a:off x="6846570" y="1170432"/>
            <a:ext cx="1931669" cy="2916935"/>
          </a:xfrm>
          <a:prstGeom prst="roundRect">
            <a:avLst>
              <a:gd name="adj" fmla="val 8000"/>
            </a:avLst>
          </a:prstGeom>
          <a:solidFill>
            <a:srgbClr val="EEEEE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3000" b="1" i="0">
                <a:solidFill>
                  <a:srgbClr val="212121"/>
                </a:solidFill>
                <a:latin typeface="Arial"/>
              </a:rPr>
              <a:t>1</a:t>
            </a:r>
          </a:p>
          <a:p>
            <a:pPr algn="ctr"/>
            <a:r>
              <a:rPr sz="1100" b="0" i="0">
                <a:solidFill>
                  <a:srgbClr val="595959"/>
                </a:solidFill>
                <a:latin typeface="Arial"/>
              </a:rPr>
              <a:t>Réentraînement MQTT observé</a:t>
            </a:r>
          </a:p>
        </p:txBody>
      </p:sp>
      <p:sp>
        <p:nvSpPr>
          <p:cNvPr id="8" name="TextBox 7"/>
          <p:cNvSpPr txBox="1"/>
          <p:nvPr/>
        </p:nvSpPr>
        <p:spPr>
          <a:xfrm>
            <a:off x="365760"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Pipeline exécuté de bout en bout sur données réelles</a:t>
            </a:r>
          </a:p>
        </p:txBody>
      </p:sp>
      <p:sp>
        <p:nvSpPr>
          <p:cNvPr id="9" name="TextBox 8"/>
          <p:cNvSpPr txBox="1"/>
          <p:nvPr/>
        </p:nvSpPr>
        <p:spPr>
          <a:xfrm>
            <a:off x="3206495"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CI/CD Gitea en Success</a:t>
            </a:r>
          </a:p>
        </p:txBody>
      </p:sp>
      <p:sp>
        <p:nvSpPr>
          <p:cNvPr id="10" name="TextBox 9"/>
          <p:cNvSpPr txBox="1"/>
          <p:nvPr/>
        </p:nvSpPr>
        <p:spPr>
          <a:xfrm>
            <a:off x="6047232" y="4197096"/>
            <a:ext cx="2731007" cy="292608"/>
          </a:xfrm>
          <a:prstGeom prst="rect">
            <a:avLst/>
          </a:prstGeom>
          <a:noFill/>
        </p:spPr>
        <p:txBody>
          <a:bodyPr wrap="square" lIns="0" tIns="0" rIns="0" bIns="0" anchor="ctr">
            <a:spAutoFit/>
          </a:bodyPr>
          <a:lstStyle/>
          <a:p>
            <a:pPr algn="l"/>
            <a:r>
              <a:rPr sz="1100" b="0" i="0">
                <a:solidFill>
                  <a:srgbClr val="595959"/>
                </a:solidFill>
                <a:latin typeface="Arial"/>
              </a:rPr>
              <a:t>• Non-interruption de /predict vérifiée pendant un entraînement</a:t>
            </a:r>
          </a:p>
        </p:txBody>
      </p:sp>
      <p:sp>
        <p:nvSpPr>
          <p:cNvPr id="11" name="TextBox 10"/>
          <p:cNvSpPr txBox="1"/>
          <p:nvPr/>
        </p:nvSpPr>
        <p:spPr>
          <a:xfrm>
            <a:off x="365760" y="4608575"/>
            <a:ext cx="8412480" cy="256032"/>
          </a:xfrm>
          <a:prstGeom prst="rect">
            <a:avLst/>
          </a:prstGeom>
          <a:noFill/>
        </p:spPr>
        <p:txBody>
          <a:bodyPr wrap="square" lIns="0" tIns="0" rIns="0" bIns="0" anchor="t">
            <a:spAutoFit/>
          </a:bodyPr>
          <a:lstStyle/>
          <a:p>
            <a:pPr algn="ctr"/>
            <a:r>
              <a:rPr sz="1000" b="0" i="1">
                <a:solidFill>
                  <a:srgbClr val="595959"/>
                </a:solidFill>
                <a:latin typeface="Arial"/>
              </a:rPr>
              <a:t>Limite assumée : hyperparamètres LightGBM fixés à dire d'expert, cadence 100% automatique non testée en continu longue durée</a:t>
            </a:r>
          </a:p>
        </p:txBody>
      </p:sp>
      <p:sp>
        <p:nvSpPr>
          <p:cNvPr id="12" name="Espace réservé du numéro de diapositive 11">
            <a:extLst>
              <a:ext uri="{FF2B5EF4-FFF2-40B4-BE49-F238E27FC236}">
                <a16:creationId xmlns:a16="http://schemas.microsoft.com/office/drawing/2014/main" id="{F74A50B3-BC62-AEF5-DFF0-27A1A3EBBE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68</a:t>
            </a:fld>
            <a:endParaRPr lang="fr-F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2E22D-F4F4-483A-FD4F-BEB5B0B4D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C5760-FADF-9CA7-F1DD-C6D120FA33F4}"/>
              </a:ext>
            </a:extLst>
          </p:cNvPr>
          <p:cNvSpPr>
            <a:spLocks noGrp="1"/>
          </p:cNvSpPr>
          <p:nvPr>
            <p:ph type="title"/>
          </p:nvPr>
        </p:nvSpPr>
        <p:spPr>
          <a:xfrm>
            <a:off x="1008742" y="1894114"/>
            <a:ext cx="6625773" cy="895822"/>
          </a:xfrm>
        </p:spPr>
        <p:txBody>
          <a:bodyPr/>
          <a:lstStyle/>
          <a:p>
            <a:pPr algn="ctr"/>
            <a:r>
              <a:rPr lang="fr-FR" sz="4000" b="1" dirty="0">
                <a:solidFill>
                  <a:srgbClr val="212121"/>
                </a:solidFill>
                <a:latin typeface="Arial"/>
              </a:rPr>
              <a:t>Conclusion</a:t>
            </a:r>
            <a:r>
              <a:rPr sz="4000" b="1" dirty="0">
                <a:solidFill>
                  <a:srgbClr val="212121"/>
                </a:solidFill>
                <a:latin typeface="Arial"/>
              </a:rPr>
              <a:t> — Bloc 4 </a:t>
            </a:r>
          </a:p>
        </p:txBody>
      </p:sp>
      <p:sp>
        <p:nvSpPr>
          <p:cNvPr id="3" name="Rectangle 2">
            <a:extLst>
              <a:ext uri="{FF2B5EF4-FFF2-40B4-BE49-F238E27FC236}">
                <a16:creationId xmlns:a16="http://schemas.microsoft.com/office/drawing/2014/main" id="{05E720DC-02BA-EB2F-495C-40723BAEC525}"/>
              </a:ext>
            </a:extLst>
          </p:cNvPr>
          <p:cNvSpPr/>
          <p:nvPr/>
        </p:nvSpPr>
        <p:spPr>
          <a:xfrm>
            <a:off x="4114800" y="1417320"/>
            <a:ext cx="9144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Google Shape;76;p15">
            <a:extLst>
              <a:ext uri="{FF2B5EF4-FFF2-40B4-BE49-F238E27FC236}">
                <a16:creationId xmlns:a16="http://schemas.microsoft.com/office/drawing/2014/main" id="{A786A27C-9E3C-4A80-65C5-E29FCA41A132}"/>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6B741097-D0FA-CA02-5C57-1DDC6B72FB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69</a:t>
            </a:fld>
            <a:endParaRPr lang="fr-FR"/>
          </a:p>
        </p:txBody>
      </p:sp>
    </p:spTree>
    <p:extLst>
      <p:ext uri="{BB962C8B-B14F-4D97-AF65-F5344CB8AC3E}">
        <p14:creationId xmlns:p14="http://schemas.microsoft.com/office/powerpoint/2010/main" val="2805912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742" y="1894114"/>
            <a:ext cx="6625773" cy="895822"/>
          </a:xfrm>
        </p:spPr>
        <p:txBody>
          <a:bodyPr/>
          <a:lstStyle/>
          <a:p>
            <a:pPr algn="ctr"/>
            <a:r>
              <a:rPr sz="4000" b="1" dirty="0">
                <a:solidFill>
                  <a:srgbClr val="212121"/>
                </a:solidFill>
                <a:latin typeface="Arial"/>
              </a:rPr>
              <a:t>Questions — Bloc 4 ?</a:t>
            </a:r>
          </a:p>
        </p:txBody>
      </p:sp>
      <p:sp>
        <p:nvSpPr>
          <p:cNvPr id="3" name="Rectangle 2"/>
          <p:cNvSpPr/>
          <p:nvPr/>
        </p:nvSpPr>
        <p:spPr>
          <a:xfrm>
            <a:off x="4114800" y="1417320"/>
            <a:ext cx="9144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Google Shape;76;p15">
            <a:extLst>
              <a:ext uri="{FF2B5EF4-FFF2-40B4-BE49-F238E27FC236}">
                <a16:creationId xmlns:a16="http://schemas.microsoft.com/office/drawing/2014/main" id="{D1DCE2E1-7774-4D0B-2F38-A65DEBD15761}"/>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Espace réservé du numéro de diapositive 3">
            <a:extLst>
              <a:ext uri="{FF2B5EF4-FFF2-40B4-BE49-F238E27FC236}">
                <a16:creationId xmlns:a16="http://schemas.microsoft.com/office/drawing/2014/main" id="{82897EDC-6C13-AB84-D45C-2435B07B6C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70</a:t>
            </a:fld>
            <a:endParaRPr lang="fr-F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2762</TotalTime>
  <Words>8253</Words>
  <Application>Microsoft Office PowerPoint</Application>
  <PresentationFormat>Affichage à l'écran (16:9)</PresentationFormat>
  <Paragraphs>760</Paragraphs>
  <Slides>70</Slides>
  <Notes>54</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70</vt:i4>
      </vt:variant>
    </vt:vector>
  </HeadingPairs>
  <TitlesOfParts>
    <vt:vector size="72" baseType="lpstr">
      <vt:lpstr>Arial</vt:lpstr>
      <vt:lpstr>Simple Light</vt:lpstr>
      <vt:lpstr>AIA – RNCP38777</vt:lpstr>
      <vt:lpstr>Agenda</vt:lpstr>
      <vt:lpstr>Gouvernance des données Spotify</vt:lpstr>
      <vt:lpstr>Sommaire</vt:lpstr>
      <vt:lpstr>Spotify en chiffres : l'échelle qui impose la gouvernance</vt:lpstr>
      <vt:lpstr>Trois enjeux critiques</vt:lpstr>
      <vt:lpstr>Maturité data : niveau 3 sur l'échelle CMMI</vt:lpstr>
      <vt:lpstr>Un Centre d'Excellence hybride</vt:lpstr>
      <vt:lpstr>Qui fait quoi sur les données  RACI — Responsable, Approbateur, Consulté, Informé</vt:lpstr>
      <vt:lpstr>Triple conformité : RGPD, CCPA, PCI-DSS</vt:lpstr>
      <vt:lpstr>Stack technologique de gouvernance</vt:lpstr>
      <vt:lpstr>Roadmap : 18 mois, 4 phases</vt:lpstr>
      <vt:lpstr>Risques et mitigations</vt:lpstr>
      <vt:lpstr>ROI : un investissement qui s'impose</vt:lpstr>
      <vt:lpstr>Conclusion</vt:lpstr>
      <vt:lpstr>Questions — Bloc 1 ?</vt:lpstr>
      <vt:lpstr>Architecture de données — Affaire Stripe</vt:lpstr>
      <vt:lpstr>Sommaire</vt:lpstr>
      <vt:lpstr>Contexte — Stripe, une infrastructure de paiement critique</vt:lpstr>
      <vt:lpstr>Architecture globale — 3 couches complémentaires</vt:lpstr>
      <vt:lpstr>Modèle OLTP — 8 entités en 3NF (notation Merise)</vt:lpstr>
      <vt:lpstr>Modèle OLAP — schéma en étoile</vt:lpstr>
      <vt:lpstr>Modèle NoSQL — DynamoDB Single Table Design</vt:lpstr>
      <vt:lpstr>Pipeline</vt:lpstr>
      <vt:lpstr>Sécurité et conformité par construction</vt:lpstr>
      <vt:lpstr>Intégration ML — cycle de vie de la détection de fraude</vt:lpstr>
      <vt:lpstr>Intégration ML — inférence temps réel </vt:lpstr>
      <vt:lpstr>Bilan en production — SLA atteints</vt:lpstr>
      <vt:lpstr>Conclusion — fiabilité, performance, conformité</vt:lpstr>
      <vt:lpstr>Conclusion — Bloc 2 </vt:lpstr>
      <vt:lpstr>Questions — Bloc 2 ?</vt:lpstr>
      <vt:lpstr>Détection automatique de fraude</vt:lpstr>
      <vt:lpstr>Sommaire</vt:lpstr>
      <vt:lpstr>1 milliard d'euros de fraude par an — un besoin double</vt:lpstr>
      <vt:lpstr>Besoin et Architecture retenue : simple et assumée</vt:lpstr>
      <vt:lpstr>Flux temps réel — de la transaction à l'alerte</vt:lpstr>
      <vt:lpstr>Architecture globale — deux boucles, un point de croisement</vt:lpstr>
      <vt:lpstr>Pipeline — CI/CD</vt:lpstr>
      <vt:lpstr>Réentraînement — un push de code, pas de DAG</vt:lpstr>
      <vt:lpstr>Sécurité &amp; conformité — ce qui reste à corriger</vt:lpstr>
      <vt:lpstr>Qualité des données &amp; monitoring — honnêtes sur les limites</vt:lpstr>
      <vt:lpstr>Trois itérations : de jefraudai à FraudHunter</vt:lpstr>
      <vt:lpstr>Stack technique réellement utilisée</vt:lpstr>
      <vt:lpstr>Bilan et ce qui reste à faire</vt:lpstr>
      <vt:lpstr>Conclusion — Bloc 3 </vt:lpstr>
      <vt:lpstr>Questions — Bloc 3 ?</vt:lpstr>
      <vt:lpstr>Projet final — Plateforme MLOps watt_on_the_weather</vt:lpstr>
      <vt:lpstr>Sommaire</vt:lpstr>
      <vt:lpstr>Démarche &amp; enjeu métier</vt:lpstr>
      <vt:lpstr>Objectifs mesurables</vt:lpstr>
      <vt:lpstr>Données</vt:lpstr>
      <vt:lpstr>Cahier des charges → réalisation</vt:lpstr>
      <vt:lpstr>Vue d'ensemble — cinq étapes du pipeline</vt:lpstr>
      <vt:lpstr>Étape 1 — Collecte &amp; préparation (architecture)</vt:lpstr>
      <vt:lpstr>Étape 1 — Collecte &amp; préparation (séquence)</vt:lpstr>
      <vt:lpstr>Étape 2 — Entraînement (architecture)</vt:lpstr>
      <vt:lpstr>Étape 2 — Entraînement (séquence)</vt:lpstr>
      <vt:lpstr>Étape 3 — Simulateur (architecture)</vt:lpstr>
      <vt:lpstr>Étape 3 — Simulateur (séquence)</vt:lpstr>
      <vt:lpstr>Étape 4 — Détection de dérive (architecture)</vt:lpstr>
      <vt:lpstr>Étape 4 — Détection de dérive (séquence)</vt:lpstr>
      <vt:lpstr>Étape 5 — CI/CD Gitea (architecture)</vt:lpstr>
      <vt:lpstr>Étape 5 — CI/CD Gitea (séquence)</vt:lpstr>
      <vt:lpstr>Modèle conceptuel de données (Merise)</vt:lpstr>
      <vt:lpstr>Correspondance panneaux Grafana</vt:lpstr>
      <vt:lpstr>Stack technique</vt:lpstr>
      <vt:lpstr>Risques &amp; conformité</vt:lpstr>
      <vt:lpstr>Bilan</vt:lpstr>
      <vt:lpstr>Conclusion — Bloc 4 </vt:lpstr>
      <vt:lpstr>Questions — Bloc 4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Joel GLOAGUEN</dc:creator>
  <cp:lastModifiedBy>Joel GLOAGUEN</cp:lastModifiedBy>
  <cp:revision>18</cp:revision>
  <dcterms:modified xsi:type="dcterms:W3CDTF">2026-09-22T14:53:28Z</dcterms:modified>
</cp:coreProperties>
</file>